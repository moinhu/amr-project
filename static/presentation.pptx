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notesSlides/notesSlide17.xml" ContentType="application/vnd.openxmlformats-officedocument.presentationml.notesSlide+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Default Extension="xlsx" ContentType="application/vnd.openxmlformats-officedocument.spreadsheetml.sheet"/>
  <Override PartName="/ppt/notesSlides/notesSlide10.xml" ContentType="application/vnd.openxmlformats-officedocument.presentationml.notesSlide+xml"/>
  <Override PartName="/ppt/charts/chart3.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5" autoAdjust="0"/>
    <p:restoredTop sz="94610" autoAdjust="0"/>
  </p:normalViewPr>
  <p:slideViewPr>
    <p:cSldViewPr snapToGrid="0" snapToObjects="1">
      <p:cViewPr varScale="1">
        <p:scale>
          <a:sx n="93" d="100"/>
          <a:sy n="93" d="100"/>
        </p:scale>
        <p:origin x="-102" y="-17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barChart>
        <c:barDir val="col"/>
        <c:grouping val="clustered"/>
        <c:ser>
          <c:idx val="0"/>
          <c:order val="0"/>
          <c:tx>
            <c:strRef>
              <c:f>Sheet1!$B$1</c:f>
              <c:strCache>
                <c:ptCount val="1"/>
                <c:pt idx="0">
                  <c:v>Train Accuracy</c:v>
                </c:pt>
              </c:strCache>
            </c:strRef>
          </c:tx>
          <c:spPr>
            <a:solidFill>
              <a:srgbClr val="0D9488"/>
            </a:solidFill>
            <a:effectLst/>
          </c:spPr>
          <c:dLbls>
            <c:numFmt formatCode="#,##0" sourceLinked="0"/>
            <c:txPr>
              <a:bodyPr/>
              <a:lstStyle/>
              <a:p>
                <a:pPr>
                  <a:defRPr sz="1000" b="0" i="0" u="none" strike="noStrike">
                    <a:solidFill>
                      <a:srgbClr val="1E293B"/>
                    </a:solidFill>
                    <a:latin typeface="Arial"/>
                  </a:defRPr>
                </a:pPr>
                <a:endParaRPr lang="en-US"/>
              </a:p>
            </c:txPr>
            <c:showVal val="1"/>
          </c:dLbls>
          <c:cat>
            <c:strRef>
              <c:f>Sheet1!$A$2:$A$5</c:f>
              <c:strCache>
                <c:ptCount val="4"/>
                <c:pt idx="0">
                  <c:v>Random Forest</c:v>
                </c:pt>
                <c:pt idx="1">
                  <c:v>Gradient Boosting</c:v>
                </c:pt>
                <c:pt idx="2">
                  <c:v>SVM (RBF)</c:v>
                </c:pt>
                <c:pt idx="3">
                  <c:v>Logistic Regression</c:v>
                </c:pt>
              </c:strCache>
            </c:strRef>
          </c:cat>
          <c:val>
            <c:numRef>
              <c:f>Sheet1!$B$2:$B$5</c:f>
              <c:numCache>
                <c:formatCode>General</c:formatCode>
                <c:ptCount val="4"/>
                <c:pt idx="0">
                  <c:v>0.97749999999999992</c:v>
                </c:pt>
                <c:pt idx="1">
                  <c:v>0.995</c:v>
                </c:pt>
                <c:pt idx="2">
                  <c:v>0.57750000000000001</c:v>
                </c:pt>
                <c:pt idx="3">
                  <c:v>0.57750000000000001</c:v>
                </c:pt>
              </c:numCache>
            </c:numRef>
          </c:val>
        </c:ser>
        <c:ser>
          <c:idx val="1"/>
          <c:order val="1"/>
          <c:tx>
            <c:strRef>
              <c:f>Sheet1!$C$1</c:f>
              <c:strCache>
                <c:ptCount val="1"/>
                <c:pt idx="0">
                  <c:v>Test Accuracy</c:v>
                </c:pt>
              </c:strCache>
            </c:strRef>
          </c:tx>
          <c:spPr>
            <a:solidFill>
              <a:srgbClr val="0A1628"/>
            </a:solidFill>
            <a:effectLst/>
          </c:spPr>
          <c:dLbls>
            <c:numFmt formatCode="#,##0" sourceLinked="0"/>
            <c:txPr>
              <a:bodyPr/>
              <a:lstStyle/>
              <a:p>
                <a:pPr>
                  <a:defRPr sz="1000" b="0" i="0" u="none" strike="noStrike">
                    <a:solidFill>
                      <a:srgbClr val="1E293B"/>
                    </a:solidFill>
                    <a:latin typeface="Arial"/>
                  </a:defRPr>
                </a:pPr>
                <a:endParaRPr lang="en-US"/>
              </a:p>
            </c:txPr>
            <c:showVal val="1"/>
          </c:dLbls>
          <c:cat>
            <c:strRef>
              <c:f>Sheet1!$A$2:$A$5</c:f>
              <c:strCache>
                <c:ptCount val="4"/>
                <c:pt idx="0">
                  <c:v>Random Forest</c:v>
                </c:pt>
                <c:pt idx="1">
                  <c:v>Gradient Boosting</c:v>
                </c:pt>
                <c:pt idx="2">
                  <c:v>SVM (RBF)</c:v>
                </c:pt>
                <c:pt idx="3">
                  <c:v>Logistic Regression</c:v>
                </c:pt>
              </c:strCache>
            </c:strRef>
          </c:cat>
          <c:val>
            <c:numRef>
              <c:f>Sheet1!$C$2:$C$5</c:f>
              <c:numCache>
                <c:formatCode>General</c:formatCode>
                <c:ptCount val="4"/>
                <c:pt idx="0">
                  <c:v>0.92</c:v>
                </c:pt>
                <c:pt idx="1">
                  <c:v>0.91</c:v>
                </c:pt>
                <c:pt idx="2">
                  <c:v>0.85000000000000009</c:v>
                </c:pt>
                <c:pt idx="3">
                  <c:v>0.95000000000000007</c:v>
                </c:pt>
              </c:numCache>
            </c:numRef>
          </c:val>
        </c:ser>
        <c:dLbls>
          <c:showVal val="1"/>
        </c:dLbls>
        <c:axId val="125070720"/>
        <c:axId val="125076608"/>
      </c:barChart>
      <c:catAx>
        <c:axId val="125070720"/>
        <c:scaling>
          <c:orientation val="minMax"/>
        </c:scaling>
        <c:axPos val="b"/>
        <c:numFmt formatCode="General" sourceLinked="1"/>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125076608"/>
        <c:crosses val="autoZero"/>
        <c:auto val="1"/>
        <c:lblAlgn val="ctr"/>
        <c:lblOffset val="100"/>
        <c:noMultiLvlLbl val="1"/>
      </c:catAx>
      <c:valAx>
        <c:axId val="125076608"/>
        <c:scaling>
          <c:orientation val="minMax"/>
          <c:max val="1.1000000000000001"/>
          <c:min val="0"/>
        </c:scaling>
        <c:axPos val="l"/>
        <c:majorGridlines>
          <c:spPr>
            <a:ln w="6350" cap="flat">
              <a:solidFill>
                <a:srgbClr val="E2E8F0"/>
              </a:solidFill>
              <a:prstDash val="solid"/>
              <a:round/>
            </a:ln>
          </c:spPr>
        </c:majorGridlines>
        <c:numFmt formatCode="General" sourceLinked="0"/>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125070720"/>
        <c:crosses val="autoZero"/>
        <c:crossBetween val="between"/>
      </c:valAx>
      <c:spPr>
        <a:noFill/>
        <a:ln>
          <a:noFill/>
        </a:ln>
        <a:effectLst/>
      </c:spPr>
    </c:plotArea>
    <c:legend>
      <c:legendPos val="b"/>
      <c:layout/>
    </c:legend>
    <c:plotVisOnly val="1"/>
    <c:dispBlanksAs val="span"/>
  </c:chart>
  <c:spPr>
    <a:solidFill>
      <a:srgbClr val="F8FAFC"/>
    </a:solidFill>
    <a:ln>
      <a:noFill/>
    </a:ln>
    <a:effectLst/>
  </c:sp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barChart>
        <c:barDir val="col"/>
        <c:grouping val="clustered"/>
        <c:ser>
          <c:idx val="0"/>
          <c:order val="0"/>
          <c:tx>
            <c:strRef>
              <c:f>Sheet1!$B$1</c:f>
              <c:strCache>
                <c:ptCount val="1"/>
                <c:pt idx="0">
                  <c:v>AUC-ROC</c:v>
                </c:pt>
              </c:strCache>
            </c:strRef>
          </c:tx>
          <c:spPr>
            <a:solidFill>
              <a:srgbClr val="F59E0B"/>
            </a:solidFill>
            <a:effectLst/>
          </c:spPr>
          <c:dLbls>
            <c:numFmt formatCode="#,##0" sourceLinked="0"/>
            <c:txPr>
              <a:bodyPr/>
              <a:lstStyle/>
              <a:p>
                <a:pPr>
                  <a:defRPr sz="1000" b="0" i="0" u="none" strike="noStrike">
                    <a:solidFill>
                      <a:srgbClr val="1E293B"/>
                    </a:solidFill>
                    <a:latin typeface="Arial"/>
                  </a:defRPr>
                </a:pPr>
                <a:endParaRPr lang="en-US"/>
              </a:p>
            </c:txPr>
            <c:showVal val="1"/>
          </c:dLbls>
          <c:cat>
            <c:strRef>
              <c:f>Sheet1!$A$2:$A$5</c:f>
              <c:strCache>
                <c:ptCount val="4"/>
                <c:pt idx="0">
                  <c:v>Random Forest</c:v>
                </c:pt>
                <c:pt idx="1">
                  <c:v>Gradient Boosting</c:v>
                </c:pt>
                <c:pt idx="2">
                  <c:v>SVM (RBF)</c:v>
                </c:pt>
                <c:pt idx="3">
                  <c:v>Logistic Regression</c:v>
                </c:pt>
              </c:strCache>
            </c:strRef>
          </c:cat>
          <c:val>
            <c:numRef>
              <c:f>Sheet1!$B$2:$B$5</c:f>
              <c:numCache>
                <c:formatCode>General</c:formatCode>
                <c:ptCount val="4"/>
                <c:pt idx="0">
                  <c:v>0.97740000000000005</c:v>
                </c:pt>
                <c:pt idx="1">
                  <c:v>0.94790000000000008</c:v>
                </c:pt>
                <c:pt idx="2">
                  <c:v>0.94130000000000003</c:v>
                </c:pt>
                <c:pt idx="3">
                  <c:v>0.97370000000000012</c:v>
                </c:pt>
              </c:numCache>
            </c:numRef>
          </c:val>
        </c:ser>
        <c:dLbls>
          <c:showVal val="1"/>
        </c:dLbls>
        <c:axId val="125637376"/>
        <c:axId val="125638912"/>
      </c:barChart>
      <c:catAx>
        <c:axId val="125637376"/>
        <c:scaling>
          <c:orientation val="minMax"/>
        </c:scaling>
        <c:axPos val="b"/>
        <c:numFmt formatCode="General" sourceLinked="1"/>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125638912"/>
        <c:crosses val="autoZero"/>
        <c:auto val="1"/>
        <c:lblAlgn val="ctr"/>
        <c:lblOffset val="100"/>
        <c:noMultiLvlLbl val="1"/>
      </c:catAx>
      <c:valAx>
        <c:axId val="125638912"/>
        <c:scaling>
          <c:orientation val="minMax"/>
          <c:max val="1"/>
          <c:min val="0.9"/>
        </c:scaling>
        <c:axPos val="l"/>
        <c:majorGridlines>
          <c:spPr>
            <a:ln w="6350" cap="flat">
              <a:solidFill>
                <a:srgbClr val="E2E8F0"/>
              </a:solidFill>
              <a:prstDash val="solid"/>
              <a:round/>
            </a:ln>
          </c:spPr>
        </c:majorGridlines>
        <c:numFmt formatCode="General" sourceLinked="0"/>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125637376"/>
        <c:crosses val="autoZero"/>
        <c:crossBetween val="between"/>
      </c:valAx>
      <c:spPr>
        <a:noFill/>
        <a:ln>
          <a:noFill/>
        </a:ln>
        <a:effectLst/>
      </c:spPr>
    </c:plotArea>
    <c:plotVisOnly val="1"/>
    <c:dispBlanksAs val="span"/>
  </c:chart>
  <c:spPr>
    <a:solidFill>
      <a:srgbClr val="F8FAFC"/>
    </a:solidFill>
    <a:ln>
      <a:noFill/>
    </a:ln>
    <a:effectLst/>
  </c:sp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radarChart>
        <c:radarStyle val="marker"/>
        <c:ser>
          <c:idx val="0"/>
          <c:order val="0"/>
          <c:tx>
            <c:strRef>
              <c:f>Sheet1!$B$1</c:f>
              <c:strCache>
                <c:ptCount val="1"/>
                <c:pt idx="0">
                  <c:v>Random Forest</c:v>
                </c:pt>
              </c:strCache>
            </c:strRef>
          </c:tx>
          <c:spPr>
            <a:ln w="25400" cap="flat">
              <a:solidFill>
                <a:srgbClr val="0D9488"/>
              </a:solidFill>
              <a:prstDash val="solid"/>
              <a:round/>
            </a:ln>
            <a:effectLst/>
          </c:spPr>
          <c:marker>
            <c:symbol val="circle"/>
            <c:size val="6"/>
            <c:spPr>
              <a:solidFill>
                <a:srgbClr val="0D9488"/>
              </a:solidFill>
              <a:ln w="9525" cap="flat">
                <a:solidFill>
                  <a:srgbClr val="0D9488"/>
                </a:solidFill>
                <a:prstDash val="solid"/>
                <a:round/>
              </a:ln>
              <a:effectLst/>
            </c:spPr>
          </c:marker>
          <c:cat>
            <c:strRef>
              <c:f>Sheet1!$A$2:$A$6</c:f>
              <c:strCache>
                <c:ptCount val="5"/>
                <c:pt idx="0">
                  <c:v>Fold 1</c:v>
                </c:pt>
                <c:pt idx="1">
                  <c:v>Fold 2</c:v>
                </c:pt>
                <c:pt idx="2">
                  <c:v>Fold 3</c:v>
                </c:pt>
                <c:pt idx="3">
                  <c:v>Fold 4</c:v>
                </c:pt>
                <c:pt idx="4">
                  <c:v>Fold 5</c:v>
                </c:pt>
              </c:strCache>
            </c:strRef>
          </c:cat>
          <c:val>
            <c:numRef>
              <c:f>Sheet1!$B$2:$B$6</c:f>
              <c:numCache>
                <c:formatCode>General</c:formatCode>
                <c:ptCount val="5"/>
                <c:pt idx="0">
                  <c:v>0.88</c:v>
                </c:pt>
                <c:pt idx="1">
                  <c:v>0.8600000000000001</c:v>
                </c:pt>
                <c:pt idx="2">
                  <c:v>0.87000000000000011</c:v>
                </c:pt>
                <c:pt idx="3">
                  <c:v>0.88</c:v>
                </c:pt>
                <c:pt idx="4">
                  <c:v>0.87000000000000011</c:v>
                </c:pt>
              </c:numCache>
            </c:numRef>
          </c:val>
        </c:ser>
        <c:ser>
          <c:idx val="1"/>
          <c:order val="1"/>
          <c:tx>
            <c:strRef>
              <c:f>Sheet1!$C$1</c:f>
              <c:strCache>
                <c:ptCount val="1"/>
                <c:pt idx="0">
                  <c:v>Gradient Boosting</c:v>
                </c:pt>
              </c:strCache>
            </c:strRef>
          </c:tx>
          <c:spPr>
            <a:ln w="2540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cat>
            <c:strRef>
              <c:f>Sheet1!$A$2:$A$6</c:f>
              <c:strCache>
                <c:ptCount val="5"/>
                <c:pt idx="0">
                  <c:v>Fold 1</c:v>
                </c:pt>
                <c:pt idx="1">
                  <c:v>Fold 2</c:v>
                </c:pt>
                <c:pt idx="2">
                  <c:v>Fold 3</c:v>
                </c:pt>
                <c:pt idx="3">
                  <c:v>Fold 4</c:v>
                </c:pt>
                <c:pt idx="4">
                  <c:v>Fold 5</c:v>
                </c:pt>
              </c:strCache>
            </c:strRef>
          </c:cat>
          <c:val>
            <c:numRef>
              <c:f>Sheet1!$C$2:$C$6</c:f>
              <c:numCache>
                <c:formatCode>General</c:formatCode>
                <c:ptCount val="5"/>
                <c:pt idx="0">
                  <c:v>0.83000000000000007</c:v>
                </c:pt>
                <c:pt idx="1">
                  <c:v>0.84000000000000008</c:v>
                </c:pt>
                <c:pt idx="2">
                  <c:v>0.83500000000000008</c:v>
                </c:pt>
                <c:pt idx="3">
                  <c:v>0.83600000000000008</c:v>
                </c:pt>
                <c:pt idx="4">
                  <c:v>0.83400000000000007</c:v>
                </c:pt>
              </c:numCache>
            </c:numRef>
          </c:val>
        </c:ser>
        <c:ser>
          <c:idx val="2"/>
          <c:order val="2"/>
          <c:tx>
            <c:strRef>
              <c:f>Sheet1!$D$1</c:f>
              <c:strCache>
                <c:ptCount val="1"/>
                <c:pt idx="0">
                  <c:v>Logistic Regression</c:v>
                </c:pt>
              </c:strCache>
            </c:strRef>
          </c:tx>
          <c:spPr>
            <a:ln w="25400" cap="flat">
              <a:solidFill>
                <a:srgbClr val="7C3AED"/>
              </a:solidFill>
              <a:prstDash val="solid"/>
              <a:round/>
            </a:ln>
            <a:effectLst/>
          </c:spPr>
          <c:marker>
            <c:symbol val="circle"/>
            <c:size val="6"/>
            <c:spPr>
              <a:solidFill>
                <a:srgbClr val="7C3AED"/>
              </a:solidFill>
              <a:ln w="9525" cap="flat">
                <a:solidFill>
                  <a:srgbClr val="7C3AED"/>
                </a:solidFill>
                <a:prstDash val="solid"/>
                <a:round/>
              </a:ln>
              <a:effectLst/>
            </c:spPr>
          </c:marker>
          <c:cat>
            <c:strRef>
              <c:f>Sheet1!$A$2:$A$6</c:f>
              <c:strCache>
                <c:ptCount val="5"/>
                <c:pt idx="0">
                  <c:v>Fold 1</c:v>
                </c:pt>
                <c:pt idx="1">
                  <c:v>Fold 2</c:v>
                </c:pt>
                <c:pt idx="2">
                  <c:v>Fold 3</c:v>
                </c:pt>
                <c:pt idx="3">
                  <c:v>Fold 4</c:v>
                </c:pt>
                <c:pt idx="4">
                  <c:v>Fold 5</c:v>
                </c:pt>
              </c:strCache>
            </c:strRef>
          </c:cat>
          <c:val>
            <c:numRef>
              <c:f>Sheet1!$D$2:$D$6</c:f>
              <c:numCache>
                <c:formatCode>General</c:formatCode>
                <c:ptCount val="5"/>
                <c:pt idx="0">
                  <c:v>0.8600000000000001</c:v>
                </c:pt>
                <c:pt idx="1">
                  <c:v>0.8600000000000001</c:v>
                </c:pt>
                <c:pt idx="2">
                  <c:v>0.8600000000000001</c:v>
                </c:pt>
                <c:pt idx="3">
                  <c:v>0.8600000000000001</c:v>
                </c:pt>
                <c:pt idx="4">
                  <c:v>0.8600000000000001</c:v>
                </c:pt>
              </c:numCache>
            </c:numRef>
          </c:val>
        </c:ser>
        <c:dLbls/>
        <c:axId val="125838080"/>
        <c:axId val="125839616"/>
      </c:radarChart>
      <c:catAx>
        <c:axId val="125838080"/>
        <c:scaling>
          <c:orientation val="minMax"/>
        </c:scaling>
        <c:axPos val="b"/>
        <c:numFmt formatCode="General" sourceLinked="1"/>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125839616"/>
        <c:crosses val="autoZero"/>
        <c:auto val="1"/>
        <c:lblAlgn val="ctr"/>
        <c:lblOffset val="100"/>
        <c:noMultiLvlLbl val="1"/>
      </c:catAx>
      <c:valAx>
        <c:axId val="125839616"/>
        <c:scaling>
          <c:orientation val="minMax"/>
        </c:scaling>
        <c:axPos val="l"/>
        <c:majorGridlines>
          <c:spPr>
            <a:ln w="12700" cap="flat">
              <a:solidFill>
                <a:srgbClr val="888888"/>
              </a:solidFill>
              <a:prstDash val="solid"/>
              <a:round/>
            </a:ln>
          </c:spPr>
        </c:majorGridlines>
        <c:numFmt formatCode="General" sourceLinked="0"/>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125838080"/>
        <c:crosses val="autoZero"/>
        <c:crossBetween val="between"/>
      </c:valAx>
      <c:spPr>
        <a:noFill/>
        <a:ln>
          <a:noFill/>
        </a:ln>
        <a:effectLst/>
      </c:spPr>
    </c:plotArea>
    <c:legend>
      <c:legendPos val="b"/>
      <c:layout/>
    </c:legend>
    <c:plotVisOnly val="1"/>
    <c:dispBlanksAs val="span"/>
  </c:chart>
  <c:spPr>
    <a:solidFill>
      <a:srgbClr val="F8FAFC"/>
    </a:solidFill>
    <a:ln>
      <a:noFill/>
    </a:ln>
    <a:effectLst/>
  </c:sp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mr-project-54n5.onrender.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6858000" y="731520"/>
            <a:ext cx="548640" cy="548640"/>
          </a:xfrm>
          <a:prstGeom prst="ellipse">
            <a:avLst/>
          </a:prstGeom>
          <a:solidFill>
            <a:srgbClr val="0D9488">
              <a:alpha val="30000"/>
            </a:srgbClr>
          </a:solidFill>
          <a:ln w="12700">
            <a:solidFill>
              <a:srgbClr val="0D9488">
                <a:alpha val="50000"/>
              </a:srgbClr>
            </a:solidFill>
            <a:prstDash val="solid"/>
          </a:ln>
        </p:spPr>
      </p:sp>
      <p:sp>
        <p:nvSpPr>
          <p:cNvPr id="4" name="Shape 2"/>
          <p:cNvSpPr/>
          <p:nvPr/>
        </p:nvSpPr>
        <p:spPr>
          <a:xfrm>
            <a:off x="7680960" y="731520"/>
            <a:ext cx="548640" cy="548640"/>
          </a:xfrm>
          <a:prstGeom prst="ellipse">
            <a:avLst/>
          </a:prstGeom>
          <a:solidFill>
            <a:srgbClr val="0D9488">
              <a:alpha val="25000"/>
            </a:srgbClr>
          </a:solidFill>
          <a:ln w="12700">
            <a:solidFill>
              <a:srgbClr val="0D9488">
                <a:alpha val="50000"/>
              </a:srgbClr>
            </a:solidFill>
            <a:prstDash val="solid"/>
          </a:ln>
        </p:spPr>
      </p:sp>
      <p:sp>
        <p:nvSpPr>
          <p:cNvPr id="5" name="Shape 3"/>
          <p:cNvSpPr/>
          <p:nvPr/>
        </p:nvSpPr>
        <p:spPr>
          <a:xfrm>
            <a:off x="8503920" y="731520"/>
            <a:ext cx="548640" cy="548640"/>
          </a:xfrm>
          <a:prstGeom prst="ellipse">
            <a:avLst/>
          </a:prstGeom>
          <a:solidFill>
            <a:srgbClr val="0D9488">
              <a:alpha val="20000"/>
            </a:srgbClr>
          </a:solidFill>
          <a:ln w="12700">
            <a:solidFill>
              <a:srgbClr val="0D9488">
                <a:alpha val="50000"/>
              </a:srgbClr>
            </a:solidFill>
            <a:prstDash val="solid"/>
          </a:ln>
        </p:spPr>
      </p:sp>
      <p:sp>
        <p:nvSpPr>
          <p:cNvPr id="6" name="Shape 4"/>
          <p:cNvSpPr/>
          <p:nvPr/>
        </p:nvSpPr>
        <p:spPr>
          <a:xfrm>
            <a:off x="6858000" y="1554480"/>
            <a:ext cx="548640" cy="548640"/>
          </a:xfrm>
          <a:prstGeom prst="ellipse">
            <a:avLst/>
          </a:prstGeom>
          <a:solidFill>
            <a:srgbClr val="0D9488">
              <a:alpha val="15000"/>
            </a:srgbClr>
          </a:solidFill>
          <a:ln w="12700">
            <a:solidFill>
              <a:srgbClr val="0D9488">
                <a:alpha val="50000"/>
              </a:srgbClr>
            </a:solidFill>
            <a:prstDash val="solid"/>
          </a:ln>
        </p:spPr>
      </p:sp>
      <p:sp>
        <p:nvSpPr>
          <p:cNvPr id="7" name="Shape 5"/>
          <p:cNvSpPr/>
          <p:nvPr/>
        </p:nvSpPr>
        <p:spPr>
          <a:xfrm>
            <a:off x="7680960" y="1554480"/>
            <a:ext cx="548640" cy="548640"/>
          </a:xfrm>
          <a:prstGeom prst="ellipse">
            <a:avLst/>
          </a:prstGeom>
          <a:solidFill>
            <a:srgbClr val="0D9488">
              <a:alpha val="10000"/>
            </a:srgbClr>
          </a:solidFill>
          <a:ln w="12700">
            <a:solidFill>
              <a:srgbClr val="0D9488">
                <a:alpha val="50000"/>
              </a:srgbClr>
            </a:solidFill>
            <a:prstDash val="solid"/>
          </a:ln>
        </p:spPr>
      </p:sp>
      <p:sp>
        <p:nvSpPr>
          <p:cNvPr id="8" name="Shape 6"/>
          <p:cNvSpPr/>
          <p:nvPr/>
        </p:nvSpPr>
        <p:spPr>
          <a:xfrm>
            <a:off x="8503920" y="1554480"/>
            <a:ext cx="548640" cy="548640"/>
          </a:xfrm>
          <a:prstGeom prst="ellipse">
            <a:avLst/>
          </a:prstGeom>
          <a:solidFill>
            <a:srgbClr val="0D9488">
              <a:alpha val="5000"/>
            </a:srgbClr>
          </a:solidFill>
          <a:ln w="12700">
            <a:solidFill>
              <a:srgbClr val="0D9488">
                <a:alpha val="50000"/>
              </a:srgbClr>
            </a:solidFill>
            <a:prstDash val="solid"/>
          </a:ln>
        </p:spPr>
      </p:sp>
      <p:sp>
        <p:nvSpPr>
          <p:cNvPr id="9" name="Text 7"/>
          <p:cNvSpPr/>
          <p:nvPr/>
        </p:nvSpPr>
        <p:spPr>
          <a:xfrm>
            <a:off x="640080" y="822960"/>
            <a:ext cx="7315200" cy="365760"/>
          </a:xfrm>
          <a:prstGeom prst="rect">
            <a:avLst/>
          </a:prstGeom>
          <a:noFill/>
          <a:ln/>
        </p:spPr>
        <p:txBody>
          <a:bodyPr wrap="square" rtlCol="0" anchor="ctr"/>
          <a:lstStyle/>
          <a:p>
            <a:pPr marL="0" indent="0" algn="l">
              <a:buNone/>
            </a:pPr>
            <a:r>
              <a:rPr lang="en-US" sz="1100" b="1" kern="0" spc="400" dirty="0">
                <a:solidFill>
                  <a:srgbClr val="5EEAD4"/>
                </a:solidFill>
              </a:rPr>
              <a:t>FINAL YEAR PROJECT</a:t>
            </a:r>
            <a:endParaRPr lang="en-US" sz="1100" dirty="0"/>
          </a:p>
        </p:txBody>
      </p:sp>
      <p:sp>
        <p:nvSpPr>
          <p:cNvPr id="10" name="Text 8"/>
          <p:cNvSpPr/>
          <p:nvPr/>
        </p:nvSpPr>
        <p:spPr>
          <a:xfrm>
            <a:off x="640080" y="1280160"/>
            <a:ext cx="7772400" cy="1463040"/>
          </a:xfrm>
          <a:prstGeom prst="rect">
            <a:avLst/>
          </a:prstGeom>
          <a:noFill/>
          <a:ln/>
        </p:spPr>
        <p:txBody>
          <a:bodyPr wrap="square" rtlCol="0" anchor="ctr"/>
          <a:lstStyle/>
          <a:p>
            <a:pPr marL="0" indent="0" algn="l">
              <a:buNone/>
            </a:pPr>
            <a:r>
              <a:rPr lang="en-US" sz="3800" b="1" dirty="0">
                <a:solidFill>
                  <a:srgbClr val="FFFFFF"/>
                </a:solidFill>
              </a:rPr>
              <a:t>Prediction of</a:t>
            </a:r>
            <a:endParaRPr lang="en-US" sz="3800" dirty="0"/>
          </a:p>
          <a:p>
            <a:pPr marL="0" indent="0" algn="l">
              <a:buNone/>
            </a:pPr>
            <a:r>
              <a:rPr lang="en-US" sz="3800" b="1" dirty="0">
                <a:solidFill>
                  <a:srgbClr val="FFFFFF"/>
                </a:solidFill>
              </a:rPr>
              <a:t>Antimicrobial Resistance</a:t>
            </a:r>
            <a:endParaRPr lang="en-US" sz="3800" dirty="0"/>
          </a:p>
        </p:txBody>
      </p:sp>
      <p:sp>
        <p:nvSpPr>
          <p:cNvPr id="11" name="Text 9">
            <a:hlinkClick r:id="rId3"/>
          </p:cNvPr>
          <p:cNvSpPr/>
          <p:nvPr/>
        </p:nvSpPr>
        <p:spPr>
          <a:xfrm>
            <a:off x="640080" y="2743200"/>
            <a:ext cx="7772400" cy="914400"/>
          </a:xfrm>
          <a:prstGeom prst="rect">
            <a:avLst/>
          </a:prstGeom>
          <a:noFill/>
          <a:ln/>
        </p:spPr>
        <p:txBody>
          <a:bodyPr wrap="square" rtlCol="0" anchor="ctr"/>
          <a:lstStyle/>
          <a:p>
            <a:pPr marL="0" indent="0" algn="l">
              <a:buNone/>
            </a:pPr>
            <a:r>
              <a:rPr lang="en-US" sz="2000" dirty="0">
                <a:solidFill>
                  <a:srgbClr val="5EEAD4"/>
                </a:solidFill>
              </a:rPr>
              <a:t>(AMR) in Bacterial Pathogens Using</a:t>
            </a:r>
            <a:endParaRPr lang="en-US" sz="2000" dirty="0"/>
          </a:p>
          <a:p>
            <a:pPr marL="0" indent="0" algn="l">
              <a:buNone/>
            </a:pPr>
            <a:r>
              <a:rPr lang="en-US" sz="2000" dirty="0">
                <a:solidFill>
                  <a:srgbClr val="5EEAD4"/>
                </a:solidFill>
              </a:rPr>
              <a:t>Machine Learning on Genomic </a:t>
            </a:r>
            <a:r>
              <a:rPr lang="en-US" sz="2000" dirty="0" smtClean="0">
                <a:solidFill>
                  <a:srgbClr val="5EEAD4"/>
                </a:solidFill>
              </a:rPr>
              <a:t>Features</a:t>
            </a:r>
            <a:br>
              <a:rPr lang="en-US" sz="2000" dirty="0" smtClean="0">
                <a:solidFill>
                  <a:srgbClr val="5EEAD4"/>
                </a:solidFill>
              </a:rPr>
            </a:br>
            <a:endParaRPr lang="en-US" sz="2000" dirty="0"/>
          </a:p>
        </p:txBody>
      </p:sp>
      <p:sp>
        <p:nvSpPr>
          <p:cNvPr id="12" name="Shape 10"/>
          <p:cNvSpPr/>
          <p:nvPr/>
        </p:nvSpPr>
        <p:spPr>
          <a:xfrm>
            <a:off x="640080" y="3749040"/>
            <a:ext cx="2743200" cy="36576"/>
          </a:xfrm>
          <a:prstGeom prst="rect">
            <a:avLst/>
          </a:prstGeom>
          <a:solidFill>
            <a:srgbClr val="0D9488"/>
          </a:solidFill>
          <a:ln w="12700">
            <a:solidFill>
              <a:srgbClr val="0D9488"/>
            </a:solidFill>
            <a:prstDash val="solid"/>
          </a:ln>
        </p:spPr>
      </p:sp>
      <p:sp>
        <p:nvSpPr>
          <p:cNvPr id="13" name="Text 11"/>
          <p:cNvSpPr/>
          <p:nvPr/>
        </p:nvSpPr>
        <p:spPr>
          <a:xfrm>
            <a:off x="640080" y="3931920"/>
            <a:ext cx="7772400" cy="365760"/>
          </a:xfrm>
          <a:prstGeom prst="rect">
            <a:avLst/>
          </a:prstGeom>
          <a:noFill/>
          <a:ln/>
        </p:spPr>
        <p:txBody>
          <a:bodyPr wrap="square" rtlCol="0" anchor="ctr"/>
          <a:lstStyle/>
          <a:p>
            <a:pPr marL="0" indent="0" algn="l">
              <a:buNone/>
            </a:pPr>
            <a:r>
              <a:rPr lang="en-US" sz="1200" dirty="0" smtClean="0">
                <a:solidFill>
                  <a:srgbClr val="94A3B8"/>
                </a:solidFill>
              </a:rPr>
              <a:t> Mo </a:t>
            </a:r>
            <a:r>
              <a:rPr lang="en-US" sz="1200" dirty="0" err="1" smtClean="0">
                <a:solidFill>
                  <a:srgbClr val="94A3B8"/>
                </a:solidFill>
              </a:rPr>
              <a:t>Moin</a:t>
            </a:r>
            <a:r>
              <a:rPr lang="en-US" sz="1200" dirty="0" smtClean="0">
                <a:solidFill>
                  <a:srgbClr val="94A3B8"/>
                </a:solidFill>
              </a:rPr>
              <a:t> (22BTB0A45) , </a:t>
            </a:r>
            <a:r>
              <a:rPr lang="en-US" sz="1200" dirty="0" err="1" smtClean="0">
                <a:solidFill>
                  <a:srgbClr val="94A3B8"/>
                </a:solidFill>
              </a:rPr>
              <a:t>Vaishnavi</a:t>
            </a:r>
            <a:r>
              <a:rPr lang="en-US" sz="1200" dirty="0" smtClean="0">
                <a:solidFill>
                  <a:srgbClr val="94A3B8"/>
                </a:solidFill>
              </a:rPr>
              <a:t> B </a:t>
            </a:r>
            <a:r>
              <a:rPr lang="en-US" sz="1200" dirty="0" err="1" smtClean="0">
                <a:solidFill>
                  <a:srgbClr val="94A3B8"/>
                </a:solidFill>
              </a:rPr>
              <a:t>Devkar</a:t>
            </a:r>
            <a:r>
              <a:rPr lang="en-US" sz="1200" dirty="0" smtClean="0">
                <a:solidFill>
                  <a:srgbClr val="94A3B8"/>
                </a:solidFill>
              </a:rPr>
              <a:t> (22BTB0A24)  </a:t>
            </a:r>
            <a:r>
              <a:rPr lang="en-US" sz="1200" dirty="0">
                <a:solidFill>
                  <a:srgbClr val="94A3B8"/>
                </a:solidFill>
              </a:rPr>
              <a:t>|  4th Year  |  Academic Year: </a:t>
            </a:r>
            <a:r>
              <a:rPr lang="en-US" sz="1200" dirty="0" smtClean="0">
                <a:solidFill>
                  <a:srgbClr val="94A3B8"/>
                </a:solidFill>
              </a:rPr>
              <a:t>2025–2026</a:t>
            </a:r>
          </a:p>
        </p:txBody>
      </p:sp>
      <p:sp>
        <p:nvSpPr>
          <p:cNvPr id="14" name="Text 12"/>
          <p:cNvSpPr/>
          <p:nvPr/>
        </p:nvSpPr>
        <p:spPr>
          <a:xfrm>
            <a:off x="640080" y="4572000"/>
            <a:ext cx="7772400" cy="365760"/>
          </a:xfrm>
          <a:prstGeom prst="rect">
            <a:avLst/>
          </a:prstGeom>
          <a:noFill/>
          <a:ln/>
        </p:spPr>
        <p:txBody>
          <a:bodyPr wrap="square" rtlCol="0" anchor="ctr"/>
          <a:lstStyle/>
          <a:p>
            <a:pPr marL="0" indent="0" algn="l">
              <a:buNone/>
            </a:pPr>
            <a:r>
              <a:rPr lang="en-US" sz="1200" dirty="0">
                <a:solidFill>
                  <a:srgbClr val="94A3B8"/>
                </a:solidFill>
              </a:rPr>
              <a:t>Department of </a:t>
            </a:r>
            <a:r>
              <a:rPr lang="en-US" sz="1200" dirty="0" smtClean="0">
                <a:solidFill>
                  <a:srgbClr val="94A3B8"/>
                </a:solidFill>
              </a:rPr>
              <a:t>Biotechnology , NIT Warangal</a:t>
            </a:r>
            <a:endParaRPr lang="en-US" sz="1200" dirty="0"/>
          </a:p>
        </p:txBody>
      </p:sp>
      <p:sp>
        <p:nvSpPr>
          <p:cNvPr id="17" name="Rectangle 16"/>
          <p:cNvSpPr/>
          <p:nvPr/>
        </p:nvSpPr>
        <p:spPr>
          <a:xfrm>
            <a:off x="7941923" y="4732534"/>
            <a:ext cx="1202077" cy="410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Click </a:t>
            </a:r>
            <a:r>
              <a:rPr lang="en-US" dirty="0" smtClean="0">
                <a:solidFill>
                  <a:schemeClr val="tx1"/>
                </a:solidFill>
                <a:hlinkClick r:id="rId3"/>
              </a:rPr>
              <a:t>here</a:t>
            </a:r>
            <a:endParaRPr lang="en-US" dirty="0">
              <a:solidFill>
                <a:schemeClr val="tx1"/>
              </a:solidFill>
            </a:endParaRPr>
          </a:p>
        </p:txBody>
      </p:sp>
      <p:sp>
        <p:nvSpPr>
          <p:cNvPr id="19" name="Text 12"/>
          <p:cNvSpPr/>
          <p:nvPr/>
        </p:nvSpPr>
        <p:spPr>
          <a:xfrm>
            <a:off x="640080" y="4297680"/>
            <a:ext cx="7772400" cy="365760"/>
          </a:xfrm>
          <a:prstGeom prst="rect">
            <a:avLst/>
          </a:prstGeom>
          <a:noFill/>
          <a:ln/>
        </p:spPr>
        <p:txBody>
          <a:bodyPr wrap="square" rtlCol="0" anchor="ctr"/>
          <a:lstStyle/>
          <a:p>
            <a:pPr marL="0" indent="0" algn="l">
              <a:buNone/>
            </a:pPr>
            <a:r>
              <a:rPr lang="en-US" sz="1200" dirty="0" smtClean="0">
                <a:solidFill>
                  <a:schemeClr val="accent2">
                    <a:lumMod val="20000"/>
                    <a:lumOff val="80000"/>
                  </a:schemeClr>
                </a:solidFill>
              </a:rPr>
              <a:t>Project Mentor  Dr R </a:t>
            </a:r>
            <a:r>
              <a:rPr lang="en-US" sz="1200" dirty="0" err="1" smtClean="0">
                <a:solidFill>
                  <a:schemeClr val="accent2">
                    <a:lumMod val="20000"/>
                    <a:lumOff val="80000"/>
                  </a:schemeClr>
                </a:solidFill>
              </a:rPr>
              <a:t>Satish</a:t>
            </a:r>
            <a:r>
              <a:rPr lang="en-US" sz="1200" dirty="0" smtClean="0">
                <a:solidFill>
                  <a:schemeClr val="accent2">
                    <a:lumMod val="20000"/>
                    <a:lumOff val="80000"/>
                  </a:schemeClr>
                </a:solidFill>
              </a:rPr>
              <a:t> </a:t>
            </a:r>
            <a:r>
              <a:rPr lang="en-US" sz="1200" dirty="0" err="1" smtClean="0">
                <a:solidFill>
                  <a:schemeClr val="accent2">
                    <a:lumMod val="20000"/>
                    <a:lumOff val="80000"/>
                  </a:schemeClr>
                </a:solidFill>
              </a:rPr>
              <a:t>Babu</a:t>
            </a:r>
            <a:endParaRPr lang="en-US" sz="1200" dirty="0">
              <a:solidFill>
                <a:schemeClr val="accent2">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Text 1"/>
          <p:cNvSpPr/>
          <p:nvPr/>
        </p:nvSpPr>
        <p:spPr>
          <a:xfrm>
            <a:off x="365760" y="320040"/>
            <a:ext cx="8229600" cy="502920"/>
          </a:xfrm>
          <a:prstGeom prst="rect">
            <a:avLst/>
          </a:prstGeom>
          <a:noFill/>
          <a:ln/>
        </p:spPr>
        <p:txBody>
          <a:bodyPr wrap="square" rtlCol="0" anchor="ctr"/>
          <a:lstStyle/>
          <a:p>
            <a:pPr marL="0" indent="0" algn="l">
              <a:buNone/>
            </a:pPr>
            <a:r>
              <a:rPr lang="en-US" sz="2800" b="1" dirty="0">
                <a:solidFill>
                  <a:srgbClr val="0A1628"/>
                </a:solidFill>
              </a:rPr>
              <a:t>Table of Contents</a:t>
            </a:r>
            <a:endParaRPr lang="en-US" sz="2800" dirty="0"/>
          </a:p>
        </p:txBody>
      </p:sp>
      <p:sp>
        <p:nvSpPr>
          <p:cNvPr id="4" name="Shape 2"/>
          <p:cNvSpPr/>
          <p:nvPr/>
        </p:nvSpPr>
        <p:spPr>
          <a:xfrm>
            <a:off x="457200" y="100584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457200" y="1005840"/>
            <a:ext cx="64008" cy="1005840"/>
          </a:xfrm>
          <a:prstGeom prst="rect">
            <a:avLst/>
          </a:prstGeom>
          <a:solidFill>
            <a:srgbClr val="0D9488"/>
          </a:solidFill>
          <a:ln w="12700">
            <a:solidFill>
              <a:srgbClr val="0D9488"/>
            </a:solidFill>
            <a:prstDash val="solid"/>
          </a:ln>
        </p:spPr>
      </p:sp>
      <p:sp>
        <p:nvSpPr>
          <p:cNvPr id="6" name="Text 4"/>
          <p:cNvSpPr/>
          <p:nvPr/>
        </p:nvSpPr>
        <p:spPr>
          <a:xfrm>
            <a:off x="621792" y="109728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01</a:t>
            </a:r>
            <a:endParaRPr lang="en-US" sz="2200" dirty="0"/>
          </a:p>
        </p:txBody>
      </p:sp>
      <p:sp>
        <p:nvSpPr>
          <p:cNvPr id="7" name="Text 5"/>
          <p:cNvSpPr/>
          <p:nvPr/>
        </p:nvSpPr>
        <p:spPr>
          <a:xfrm>
            <a:off x="621792" y="1463040"/>
            <a:ext cx="3566160" cy="457200"/>
          </a:xfrm>
          <a:prstGeom prst="rect">
            <a:avLst/>
          </a:prstGeom>
          <a:noFill/>
          <a:ln/>
        </p:spPr>
        <p:txBody>
          <a:bodyPr wrap="square" lIns="0" tIns="0" rIns="0" bIns="0" rtlCol="0" anchor="ctr"/>
          <a:lstStyle/>
          <a:p>
            <a:pPr marL="0" indent="0">
              <a:buNone/>
            </a:pPr>
            <a:r>
              <a:rPr lang="en-US" sz="1300" dirty="0">
                <a:solidFill>
                  <a:srgbClr val="1E293B"/>
                </a:solidFill>
              </a:rPr>
              <a:t>Introduction &amp; Background</a:t>
            </a:r>
            <a:endParaRPr lang="en-US" sz="1300" dirty="0"/>
          </a:p>
        </p:txBody>
      </p:sp>
      <p:sp>
        <p:nvSpPr>
          <p:cNvPr id="8" name="Shape 6"/>
          <p:cNvSpPr/>
          <p:nvPr/>
        </p:nvSpPr>
        <p:spPr>
          <a:xfrm>
            <a:off x="457200" y="219456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457200" y="2194560"/>
            <a:ext cx="64008" cy="1005840"/>
          </a:xfrm>
          <a:prstGeom prst="rect">
            <a:avLst/>
          </a:prstGeom>
          <a:solidFill>
            <a:srgbClr val="0D9488"/>
          </a:solidFill>
          <a:ln w="12700">
            <a:solidFill>
              <a:srgbClr val="0D9488"/>
            </a:solidFill>
            <a:prstDash val="solid"/>
          </a:ln>
        </p:spPr>
      </p:sp>
      <p:sp>
        <p:nvSpPr>
          <p:cNvPr id="10" name="Text 8"/>
          <p:cNvSpPr/>
          <p:nvPr/>
        </p:nvSpPr>
        <p:spPr>
          <a:xfrm>
            <a:off x="621792" y="228600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02</a:t>
            </a:r>
            <a:endParaRPr lang="en-US" sz="2200" dirty="0"/>
          </a:p>
        </p:txBody>
      </p:sp>
      <p:sp>
        <p:nvSpPr>
          <p:cNvPr id="11" name="Text 9"/>
          <p:cNvSpPr/>
          <p:nvPr/>
        </p:nvSpPr>
        <p:spPr>
          <a:xfrm>
            <a:off x="621792" y="2651760"/>
            <a:ext cx="3566160" cy="457200"/>
          </a:xfrm>
          <a:prstGeom prst="rect">
            <a:avLst/>
          </a:prstGeom>
          <a:noFill/>
          <a:ln/>
        </p:spPr>
        <p:txBody>
          <a:bodyPr wrap="square" lIns="0" tIns="0" rIns="0" bIns="0" rtlCol="0" anchor="ctr"/>
          <a:lstStyle/>
          <a:p>
            <a:pPr marL="0" indent="0">
              <a:buNone/>
            </a:pPr>
            <a:r>
              <a:rPr lang="en-US" sz="1300" dirty="0">
                <a:solidFill>
                  <a:srgbClr val="1E293B"/>
                </a:solidFill>
              </a:rPr>
              <a:t>Literature Review</a:t>
            </a:r>
            <a:endParaRPr lang="en-US" sz="1300" dirty="0"/>
          </a:p>
        </p:txBody>
      </p:sp>
      <p:sp>
        <p:nvSpPr>
          <p:cNvPr id="12" name="Shape 10"/>
          <p:cNvSpPr/>
          <p:nvPr/>
        </p:nvSpPr>
        <p:spPr>
          <a:xfrm>
            <a:off x="457200" y="338328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457200" y="3383280"/>
            <a:ext cx="64008" cy="1005840"/>
          </a:xfrm>
          <a:prstGeom prst="rect">
            <a:avLst/>
          </a:prstGeom>
          <a:solidFill>
            <a:srgbClr val="0D9488"/>
          </a:solidFill>
          <a:ln w="12700">
            <a:solidFill>
              <a:srgbClr val="0D9488"/>
            </a:solidFill>
            <a:prstDash val="solid"/>
          </a:ln>
        </p:spPr>
      </p:sp>
      <p:sp>
        <p:nvSpPr>
          <p:cNvPr id="14" name="Text 12"/>
          <p:cNvSpPr/>
          <p:nvPr/>
        </p:nvSpPr>
        <p:spPr>
          <a:xfrm>
            <a:off x="621792" y="347472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03</a:t>
            </a:r>
            <a:endParaRPr lang="en-US" sz="2200" dirty="0"/>
          </a:p>
        </p:txBody>
      </p:sp>
      <p:sp>
        <p:nvSpPr>
          <p:cNvPr id="15" name="Text 13"/>
          <p:cNvSpPr/>
          <p:nvPr/>
        </p:nvSpPr>
        <p:spPr>
          <a:xfrm>
            <a:off x="621792" y="3840480"/>
            <a:ext cx="3566160" cy="457200"/>
          </a:xfrm>
          <a:prstGeom prst="rect">
            <a:avLst/>
          </a:prstGeom>
          <a:noFill/>
          <a:ln/>
        </p:spPr>
        <p:txBody>
          <a:bodyPr wrap="square" lIns="0" tIns="0" rIns="0" bIns="0" rtlCol="0" anchor="ctr"/>
          <a:lstStyle/>
          <a:p>
            <a:pPr marL="0" indent="0">
              <a:buNone/>
            </a:pPr>
            <a:r>
              <a:rPr lang="en-US" sz="1300" dirty="0">
                <a:solidFill>
                  <a:srgbClr val="1E293B"/>
                </a:solidFill>
              </a:rPr>
              <a:t>Materials &amp; Methods</a:t>
            </a:r>
            <a:endParaRPr lang="en-US" sz="1300" dirty="0"/>
          </a:p>
        </p:txBody>
      </p:sp>
      <p:sp>
        <p:nvSpPr>
          <p:cNvPr id="16" name="Shape 14"/>
          <p:cNvSpPr/>
          <p:nvPr/>
        </p:nvSpPr>
        <p:spPr>
          <a:xfrm>
            <a:off x="4846320" y="100584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5"/>
          <p:cNvSpPr/>
          <p:nvPr/>
        </p:nvSpPr>
        <p:spPr>
          <a:xfrm>
            <a:off x="4846320" y="1005840"/>
            <a:ext cx="64008" cy="1005840"/>
          </a:xfrm>
          <a:prstGeom prst="rect">
            <a:avLst/>
          </a:prstGeom>
          <a:solidFill>
            <a:srgbClr val="0D9488"/>
          </a:solidFill>
          <a:ln w="12700">
            <a:solidFill>
              <a:srgbClr val="0D9488"/>
            </a:solidFill>
            <a:prstDash val="solid"/>
          </a:ln>
        </p:spPr>
      </p:sp>
      <p:sp>
        <p:nvSpPr>
          <p:cNvPr id="18" name="Text 16"/>
          <p:cNvSpPr/>
          <p:nvPr/>
        </p:nvSpPr>
        <p:spPr>
          <a:xfrm>
            <a:off x="5010912" y="109728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04</a:t>
            </a:r>
            <a:endParaRPr lang="en-US" sz="2200" dirty="0"/>
          </a:p>
        </p:txBody>
      </p:sp>
      <p:sp>
        <p:nvSpPr>
          <p:cNvPr id="19" name="Text 17"/>
          <p:cNvSpPr/>
          <p:nvPr/>
        </p:nvSpPr>
        <p:spPr>
          <a:xfrm>
            <a:off x="5010912" y="1463040"/>
            <a:ext cx="3566160" cy="457200"/>
          </a:xfrm>
          <a:prstGeom prst="rect">
            <a:avLst/>
          </a:prstGeom>
          <a:noFill/>
          <a:ln/>
        </p:spPr>
        <p:txBody>
          <a:bodyPr wrap="square" lIns="0" tIns="0" rIns="0" bIns="0" rtlCol="0" anchor="ctr"/>
          <a:lstStyle/>
          <a:p>
            <a:pPr marL="0" indent="0">
              <a:buNone/>
            </a:pPr>
            <a:r>
              <a:rPr lang="en-US" sz="1300" dirty="0">
                <a:solidFill>
                  <a:srgbClr val="1E293B"/>
                </a:solidFill>
              </a:rPr>
              <a:t>Results &amp; Discussion</a:t>
            </a:r>
            <a:endParaRPr lang="en-US" sz="1300" dirty="0"/>
          </a:p>
        </p:txBody>
      </p:sp>
      <p:sp>
        <p:nvSpPr>
          <p:cNvPr id="20" name="Shape 18"/>
          <p:cNvSpPr/>
          <p:nvPr/>
        </p:nvSpPr>
        <p:spPr>
          <a:xfrm>
            <a:off x="4846320" y="219456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846320" y="2194560"/>
            <a:ext cx="64008" cy="1005840"/>
          </a:xfrm>
          <a:prstGeom prst="rect">
            <a:avLst/>
          </a:prstGeom>
          <a:solidFill>
            <a:srgbClr val="0D9488"/>
          </a:solidFill>
          <a:ln w="12700">
            <a:solidFill>
              <a:srgbClr val="0D9488"/>
            </a:solidFill>
            <a:prstDash val="solid"/>
          </a:ln>
        </p:spPr>
      </p:sp>
      <p:sp>
        <p:nvSpPr>
          <p:cNvPr id="22" name="Text 20"/>
          <p:cNvSpPr/>
          <p:nvPr/>
        </p:nvSpPr>
        <p:spPr>
          <a:xfrm>
            <a:off x="5010912" y="228600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05</a:t>
            </a:r>
            <a:endParaRPr lang="en-US" sz="2200" dirty="0"/>
          </a:p>
        </p:txBody>
      </p:sp>
      <p:sp>
        <p:nvSpPr>
          <p:cNvPr id="23" name="Text 21"/>
          <p:cNvSpPr/>
          <p:nvPr/>
        </p:nvSpPr>
        <p:spPr>
          <a:xfrm>
            <a:off x="5010912" y="2651760"/>
            <a:ext cx="3566160" cy="457200"/>
          </a:xfrm>
          <a:prstGeom prst="rect">
            <a:avLst/>
          </a:prstGeom>
          <a:noFill/>
          <a:ln/>
        </p:spPr>
        <p:txBody>
          <a:bodyPr wrap="square" lIns="0" tIns="0" rIns="0" bIns="0" rtlCol="0" anchor="ctr"/>
          <a:lstStyle/>
          <a:p>
            <a:pPr marL="0" indent="0">
              <a:buNone/>
            </a:pPr>
            <a:r>
              <a:rPr lang="en-US" sz="1300" dirty="0">
                <a:solidFill>
                  <a:srgbClr val="1E293B"/>
                </a:solidFill>
              </a:rPr>
              <a:t>Applications &amp; Future Scope</a:t>
            </a:r>
            <a:endParaRPr lang="en-US" sz="1300" dirty="0"/>
          </a:p>
        </p:txBody>
      </p:sp>
      <p:sp>
        <p:nvSpPr>
          <p:cNvPr id="24" name="Shape 22"/>
          <p:cNvSpPr/>
          <p:nvPr/>
        </p:nvSpPr>
        <p:spPr>
          <a:xfrm>
            <a:off x="4846320" y="3383280"/>
            <a:ext cx="39319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5" name="Shape 23"/>
          <p:cNvSpPr/>
          <p:nvPr/>
        </p:nvSpPr>
        <p:spPr>
          <a:xfrm>
            <a:off x="4846320" y="3383280"/>
            <a:ext cx="64008" cy="1005840"/>
          </a:xfrm>
          <a:prstGeom prst="rect">
            <a:avLst/>
          </a:prstGeom>
          <a:solidFill>
            <a:srgbClr val="0D9488"/>
          </a:solidFill>
          <a:ln w="12700">
            <a:solidFill>
              <a:srgbClr val="0D9488"/>
            </a:solidFill>
            <a:prstDash val="solid"/>
          </a:ln>
        </p:spPr>
      </p:sp>
      <p:sp>
        <p:nvSpPr>
          <p:cNvPr id="26" name="Text 24"/>
          <p:cNvSpPr/>
          <p:nvPr/>
        </p:nvSpPr>
        <p:spPr>
          <a:xfrm>
            <a:off x="5010912" y="3474720"/>
            <a:ext cx="548640" cy="365760"/>
          </a:xfrm>
          <a:prstGeom prst="rect">
            <a:avLst/>
          </a:prstGeom>
          <a:noFill/>
          <a:ln/>
        </p:spPr>
        <p:txBody>
          <a:bodyPr wrap="square" lIns="0" tIns="0" rIns="0" bIns="0" rtlCol="0" anchor="ctr"/>
          <a:lstStyle/>
          <a:p>
            <a:pPr marL="0" indent="0">
              <a:buNone/>
            </a:pPr>
            <a:r>
              <a:rPr lang="en-US" sz="2200" b="1" dirty="0">
                <a:solidFill>
                  <a:srgbClr val="0D9488"/>
                </a:solidFill>
              </a:rPr>
              <a:t>06</a:t>
            </a:r>
            <a:endParaRPr lang="en-US" sz="2200" dirty="0"/>
          </a:p>
        </p:txBody>
      </p:sp>
      <p:sp>
        <p:nvSpPr>
          <p:cNvPr id="27" name="Text 25"/>
          <p:cNvSpPr/>
          <p:nvPr/>
        </p:nvSpPr>
        <p:spPr>
          <a:xfrm>
            <a:off x="5010912" y="3840480"/>
            <a:ext cx="3566160" cy="457200"/>
          </a:xfrm>
          <a:prstGeom prst="rect">
            <a:avLst/>
          </a:prstGeom>
          <a:noFill/>
          <a:ln/>
        </p:spPr>
        <p:txBody>
          <a:bodyPr wrap="square" lIns="0" tIns="0" rIns="0" bIns="0" rtlCol="0" anchor="ctr"/>
          <a:lstStyle/>
          <a:p>
            <a:pPr marL="0" indent="0">
              <a:buNone/>
            </a:pPr>
            <a:r>
              <a:rPr lang="en-US" sz="1300" dirty="0">
                <a:solidFill>
                  <a:srgbClr val="1E293B"/>
                </a:solidFill>
              </a:rPr>
              <a:t>Conclusion &amp; References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1  |  Introduction</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600" b="1" dirty="0">
                <a:solidFill>
                  <a:srgbClr val="FFFFFF"/>
                </a:solidFill>
              </a:rPr>
              <a:t>The Global AMR Crisis</a:t>
            </a:r>
            <a:endParaRPr lang="en-US" sz="2600" dirty="0"/>
          </a:p>
        </p:txBody>
      </p:sp>
      <p:sp>
        <p:nvSpPr>
          <p:cNvPr id="5" name="Shape 3"/>
          <p:cNvSpPr/>
          <p:nvPr/>
        </p:nvSpPr>
        <p:spPr>
          <a:xfrm>
            <a:off x="320040" y="1143000"/>
            <a:ext cx="1920240" cy="164592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43000"/>
            <a:ext cx="1920240" cy="91440"/>
          </a:xfrm>
          <a:prstGeom prst="rect">
            <a:avLst/>
          </a:prstGeom>
          <a:solidFill>
            <a:srgbClr val="EF4444"/>
          </a:solidFill>
          <a:ln w="12700">
            <a:solidFill>
              <a:srgbClr val="EF4444"/>
            </a:solidFill>
            <a:prstDash val="solid"/>
          </a:ln>
        </p:spPr>
      </p:sp>
      <p:sp>
        <p:nvSpPr>
          <p:cNvPr id="7" name="Text 5"/>
          <p:cNvSpPr/>
          <p:nvPr/>
        </p:nvSpPr>
        <p:spPr>
          <a:xfrm>
            <a:off x="320040" y="1325880"/>
            <a:ext cx="1920240" cy="594360"/>
          </a:xfrm>
          <a:prstGeom prst="rect">
            <a:avLst/>
          </a:prstGeom>
          <a:noFill/>
          <a:ln/>
        </p:spPr>
        <p:txBody>
          <a:bodyPr wrap="square" lIns="0" tIns="0" rIns="0" bIns="0" rtlCol="0" anchor="ctr"/>
          <a:lstStyle/>
          <a:p>
            <a:pPr marL="0" indent="0" algn="ctr">
              <a:buNone/>
            </a:pPr>
            <a:r>
              <a:rPr lang="en-US" sz="2800" b="1" dirty="0">
                <a:solidFill>
                  <a:srgbClr val="EF4444"/>
                </a:solidFill>
              </a:rPr>
              <a:t>10M</a:t>
            </a:r>
            <a:endParaRPr lang="en-US" sz="2800" dirty="0"/>
          </a:p>
        </p:txBody>
      </p:sp>
      <p:sp>
        <p:nvSpPr>
          <p:cNvPr id="8" name="Text 6"/>
          <p:cNvSpPr/>
          <p:nvPr/>
        </p:nvSpPr>
        <p:spPr>
          <a:xfrm>
            <a:off x="411480" y="1920240"/>
            <a:ext cx="1737360" cy="731520"/>
          </a:xfrm>
          <a:prstGeom prst="rect">
            <a:avLst/>
          </a:prstGeom>
          <a:noFill/>
          <a:ln/>
        </p:spPr>
        <p:txBody>
          <a:bodyPr wrap="square" lIns="0" tIns="0" rIns="0" bIns="0" rtlCol="0" anchor="ctr"/>
          <a:lstStyle/>
          <a:p>
            <a:pPr marL="0" indent="0" algn="ctr">
              <a:buNone/>
            </a:pPr>
            <a:r>
              <a:rPr lang="en-US" sz="1000" dirty="0">
                <a:solidFill>
                  <a:srgbClr val="475569"/>
                </a:solidFill>
              </a:rPr>
              <a:t>Deaths projected annually by 2050</a:t>
            </a:r>
            <a:endParaRPr lang="en-US" sz="1000" dirty="0"/>
          </a:p>
        </p:txBody>
      </p:sp>
      <p:sp>
        <p:nvSpPr>
          <p:cNvPr id="9" name="Shape 7"/>
          <p:cNvSpPr/>
          <p:nvPr/>
        </p:nvSpPr>
        <p:spPr>
          <a:xfrm>
            <a:off x="2468880" y="1143000"/>
            <a:ext cx="1920240" cy="164592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2468880" y="1143000"/>
            <a:ext cx="1920240" cy="91440"/>
          </a:xfrm>
          <a:prstGeom prst="rect">
            <a:avLst/>
          </a:prstGeom>
          <a:solidFill>
            <a:srgbClr val="F59E0B"/>
          </a:solidFill>
          <a:ln w="12700">
            <a:solidFill>
              <a:srgbClr val="F59E0B"/>
            </a:solidFill>
            <a:prstDash val="solid"/>
          </a:ln>
        </p:spPr>
      </p:sp>
      <p:sp>
        <p:nvSpPr>
          <p:cNvPr id="11" name="Text 9"/>
          <p:cNvSpPr/>
          <p:nvPr/>
        </p:nvSpPr>
        <p:spPr>
          <a:xfrm>
            <a:off x="2468880" y="1325880"/>
            <a:ext cx="1920240" cy="594360"/>
          </a:xfrm>
          <a:prstGeom prst="rect">
            <a:avLst/>
          </a:prstGeom>
          <a:noFill/>
          <a:ln/>
        </p:spPr>
        <p:txBody>
          <a:bodyPr wrap="square" lIns="0" tIns="0" rIns="0" bIns="0" rtlCol="0" anchor="ctr"/>
          <a:lstStyle/>
          <a:p>
            <a:pPr marL="0" indent="0" algn="ctr">
              <a:buNone/>
            </a:pPr>
            <a:r>
              <a:rPr lang="en-US" sz="2800" b="1" dirty="0">
                <a:solidFill>
                  <a:srgbClr val="F59E0B"/>
                </a:solidFill>
              </a:rPr>
              <a:t>700K+</a:t>
            </a:r>
            <a:endParaRPr lang="en-US" sz="2800" dirty="0"/>
          </a:p>
        </p:txBody>
      </p:sp>
      <p:sp>
        <p:nvSpPr>
          <p:cNvPr id="12" name="Text 10"/>
          <p:cNvSpPr/>
          <p:nvPr/>
        </p:nvSpPr>
        <p:spPr>
          <a:xfrm>
            <a:off x="2560320" y="1920240"/>
            <a:ext cx="1737360" cy="731520"/>
          </a:xfrm>
          <a:prstGeom prst="rect">
            <a:avLst/>
          </a:prstGeom>
          <a:noFill/>
          <a:ln/>
        </p:spPr>
        <p:txBody>
          <a:bodyPr wrap="square" lIns="0" tIns="0" rIns="0" bIns="0" rtlCol="0" anchor="ctr"/>
          <a:lstStyle/>
          <a:p>
            <a:pPr marL="0" indent="0" algn="ctr">
              <a:buNone/>
            </a:pPr>
            <a:r>
              <a:rPr lang="en-US" sz="1000" dirty="0">
                <a:solidFill>
                  <a:srgbClr val="475569"/>
                </a:solidFill>
              </a:rPr>
              <a:t>Lives lost per year currently</a:t>
            </a:r>
            <a:endParaRPr lang="en-US" sz="1000" dirty="0"/>
          </a:p>
        </p:txBody>
      </p:sp>
      <p:sp>
        <p:nvSpPr>
          <p:cNvPr id="13" name="Shape 11"/>
          <p:cNvSpPr/>
          <p:nvPr/>
        </p:nvSpPr>
        <p:spPr>
          <a:xfrm>
            <a:off x="4617720" y="1143000"/>
            <a:ext cx="1920240" cy="164592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617720" y="1143000"/>
            <a:ext cx="1920240" cy="91440"/>
          </a:xfrm>
          <a:prstGeom prst="rect">
            <a:avLst/>
          </a:prstGeom>
          <a:solidFill>
            <a:srgbClr val="0D9488"/>
          </a:solidFill>
          <a:ln w="12700">
            <a:solidFill>
              <a:srgbClr val="0D9488"/>
            </a:solidFill>
            <a:prstDash val="solid"/>
          </a:ln>
        </p:spPr>
      </p:sp>
      <p:sp>
        <p:nvSpPr>
          <p:cNvPr id="15" name="Text 13"/>
          <p:cNvSpPr/>
          <p:nvPr/>
        </p:nvSpPr>
        <p:spPr>
          <a:xfrm>
            <a:off x="4617720" y="1325880"/>
            <a:ext cx="1920240" cy="594360"/>
          </a:xfrm>
          <a:prstGeom prst="rect">
            <a:avLst/>
          </a:prstGeom>
          <a:noFill/>
          <a:ln/>
        </p:spPr>
        <p:txBody>
          <a:bodyPr wrap="square" lIns="0" tIns="0" rIns="0" bIns="0" rtlCol="0" anchor="ctr"/>
          <a:lstStyle/>
          <a:p>
            <a:pPr marL="0" indent="0" algn="ctr">
              <a:buNone/>
            </a:pPr>
            <a:r>
              <a:rPr lang="en-US" sz="2800" b="1" dirty="0">
                <a:solidFill>
                  <a:srgbClr val="0D9488"/>
                </a:solidFill>
              </a:rPr>
              <a:t>$100T</a:t>
            </a:r>
            <a:endParaRPr lang="en-US" sz="2800" dirty="0"/>
          </a:p>
        </p:txBody>
      </p:sp>
      <p:sp>
        <p:nvSpPr>
          <p:cNvPr id="16" name="Text 14"/>
          <p:cNvSpPr/>
          <p:nvPr/>
        </p:nvSpPr>
        <p:spPr>
          <a:xfrm>
            <a:off x="4709160" y="1920240"/>
            <a:ext cx="1737360" cy="731520"/>
          </a:xfrm>
          <a:prstGeom prst="rect">
            <a:avLst/>
          </a:prstGeom>
          <a:noFill/>
          <a:ln/>
        </p:spPr>
        <p:txBody>
          <a:bodyPr wrap="square" lIns="0" tIns="0" rIns="0" bIns="0" rtlCol="0" anchor="ctr"/>
          <a:lstStyle/>
          <a:p>
            <a:pPr marL="0" indent="0" algn="ctr">
              <a:buNone/>
            </a:pPr>
            <a:r>
              <a:rPr lang="en-US" sz="1000" dirty="0">
                <a:solidFill>
                  <a:srgbClr val="475569"/>
                </a:solidFill>
              </a:rPr>
              <a:t>Economic damage forecast (O'Neill, 2016)</a:t>
            </a:r>
            <a:endParaRPr lang="en-US" sz="1000" dirty="0"/>
          </a:p>
        </p:txBody>
      </p:sp>
      <p:sp>
        <p:nvSpPr>
          <p:cNvPr id="17" name="Shape 15"/>
          <p:cNvSpPr/>
          <p:nvPr/>
        </p:nvSpPr>
        <p:spPr>
          <a:xfrm>
            <a:off x="6766560" y="1143000"/>
            <a:ext cx="1920240" cy="164592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6766560" y="1143000"/>
            <a:ext cx="1920240" cy="91440"/>
          </a:xfrm>
          <a:prstGeom prst="rect">
            <a:avLst/>
          </a:prstGeom>
          <a:solidFill>
            <a:srgbClr val="8B5CF6"/>
          </a:solidFill>
          <a:ln w="12700">
            <a:solidFill>
              <a:srgbClr val="8B5CF6"/>
            </a:solidFill>
            <a:prstDash val="solid"/>
          </a:ln>
        </p:spPr>
      </p:sp>
      <p:sp>
        <p:nvSpPr>
          <p:cNvPr id="19" name="Text 17"/>
          <p:cNvSpPr/>
          <p:nvPr/>
        </p:nvSpPr>
        <p:spPr>
          <a:xfrm>
            <a:off x="6766560" y="1325880"/>
            <a:ext cx="1920240" cy="594360"/>
          </a:xfrm>
          <a:prstGeom prst="rect">
            <a:avLst/>
          </a:prstGeom>
          <a:noFill/>
          <a:ln/>
        </p:spPr>
        <p:txBody>
          <a:bodyPr wrap="square" lIns="0" tIns="0" rIns="0" bIns="0" rtlCol="0" anchor="ctr"/>
          <a:lstStyle/>
          <a:p>
            <a:pPr marL="0" indent="0" algn="ctr">
              <a:buNone/>
            </a:pPr>
            <a:r>
              <a:rPr lang="en-US" sz="2800" b="1" dirty="0">
                <a:solidFill>
                  <a:srgbClr val="8B5CF6"/>
                </a:solidFill>
              </a:rPr>
              <a:t>24–72h</a:t>
            </a:r>
            <a:endParaRPr lang="en-US" sz="2800" dirty="0"/>
          </a:p>
        </p:txBody>
      </p:sp>
      <p:sp>
        <p:nvSpPr>
          <p:cNvPr id="20" name="Text 18"/>
          <p:cNvSpPr/>
          <p:nvPr/>
        </p:nvSpPr>
        <p:spPr>
          <a:xfrm>
            <a:off x="6858000" y="1920240"/>
            <a:ext cx="1737360" cy="731520"/>
          </a:xfrm>
          <a:prstGeom prst="rect">
            <a:avLst/>
          </a:prstGeom>
          <a:noFill/>
          <a:ln/>
        </p:spPr>
        <p:txBody>
          <a:bodyPr wrap="square" lIns="0" tIns="0" rIns="0" bIns="0" rtlCol="0" anchor="ctr"/>
          <a:lstStyle/>
          <a:p>
            <a:pPr marL="0" indent="0" algn="ctr">
              <a:buNone/>
            </a:pPr>
            <a:r>
              <a:rPr lang="en-US" sz="1000" dirty="0">
                <a:solidFill>
                  <a:srgbClr val="475569"/>
                </a:solidFill>
              </a:rPr>
              <a:t>Time required for conventional testing</a:t>
            </a:r>
            <a:endParaRPr lang="en-US" sz="1000" dirty="0"/>
          </a:p>
        </p:txBody>
      </p:sp>
      <p:sp>
        <p:nvSpPr>
          <p:cNvPr id="21" name="Text 19"/>
          <p:cNvSpPr/>
          <p:nvPr/>
        </p:nvSpPr>
        <p:spPr>
          <a:xfrm>
            <a:off x="457200" y="2926080"/>
            <a:ext cx="8229600" cy="548640"/>
          </a:xfrm>
          <a:prstGeom prst="rect">
            <a:avLst/>
          </a:prstGeom>
          <a:noFill/>
          <a:ln/>
        </p:spPr>
        <p:txBody>
          <a:bodyPr wrap="square" rtlCol="0" anchor="ctr"/>
          <a:lstStyle/>
          <a:p>
            <a:pPr marL="0" indent="0">
              <a:buNone/>
            </a:pPr>
            <a:r>
              <a:rPr lang="en-US" sz="1300" b="1" dirty="0">
                <a:solidFill>
                  <a:srgbClr val="0D9488"/>
                </a:solidFill>
              </a:rPr>
              <a:t>What is AMR?  </a:t>
            </a:r>
            <a:r>
              <a:rPr lang="en-US" sz="1300" dirty="0">
                <a:solidFill>
                  <a:srgbClr val="1E293B"/>
                </a:solidFill>
              </a:rPr>
              <a:t>Antimicrobial Resistance (AMR) occurs when bacteria evolve mechanisms to survive exposure to antibiotics, rendering treatments ineffective. It is recognized as one of the most critical public health threats by the WHO.</a:t>
            </a:r>
            <a:endParaRPr lang="en-US" sz="1300" dirty="0"/>
          </a:p>
        </p:txBody>
      </p:sp>
      <p:sp>
        <p:nvSpPr>
          <p:cNvPr id="22" name="Shape 20"/>
          <p:cNvSpPr/>
          <p:nvPr/>
        </p:nvSpPr>
        <p:spPr>
          <a:xfrm>
            <a:off x="457200" y="3611880"/>
            <a:ext cx="164592" cy="164592"/>
          </a:xfrm>
          <a:prstGeom prst="ellipse">
            <a:avLst/>
          </a:prstGeom>
          <a:solidFill>
            <a:srgbClr val="0D9488"/>
          </a:solidFill>
          <a:ln w="12700">
            <a:solidFill>
              <a:srgbClr val="0D9488"/>
            </a:solidFill>
            <a:prstDash val="solid"/>
          </a:ln>
        </p:spPr>
      </p:sp>
      <p:sp>
        <p:nvSpPr>
          <p:cNvPr id="23" name="Text 21"/>
          <p:cNvSpPr/>
          <p:nvPr/>
        </p:nvSpPr>
        <p:spPr>
          <a:xfrm>
            <a:off x="731520" y="3566160"/>
            <a:ext cx="8046720" cy="320040"/>
          </a:xfrm>
          <a:prstGeom prst="rect">
            <a:avLst/>
          </a:prstGeom>
          <a:noFill/>
          <a:ln/>
        </p:spPr>
        <p:txBody>
          <a:bodyPr wrap="square" lIns="0" tIns="0" rIns="0" bIns="0" rtlCol="0" anchor="ctr"/>
          <a:lstStyle/>
          <a:p>
            <a:pPr marL="0" indent="0">
              <a:buNone/>
            </a:pPr>
            <a:r>
              <a:rPr lang="en-US" sz="1200" dirty="0">
                <a:solidFill>
                  <a:srgbClr val="1E293B"/>
                </a:solidFill>
              </a:rPr>
              <a:t>ESKAPE pathogens represent the most clinically significant resistant bacterial species</a:t>
            </a:r>
            <a:endParaRPr lang="en-US" sz="1200" dirty="0"/>
          </a:p>
        </p:txBody>
      </p:sp>
      <p:sp>
        <p:nvSpPr>
          <p:cNvPr id="24" name="Shape 22"/>
          <p:cNvSpPr/>
          <p:nvPr/>
        </p:nvSpPr>
        <p:spPr>
          <a:xfrm>
            <a:off x="457200" y="3977640"/>
            <a:ext cx="164592" cy="164592"/>
          </a:xfrm>
          <a:prstGeom prst="ellipse">
            <a:avLst/>
          </a:prstGeom>
          <a:solidFill>
            <a:srgbClr val="0D9488"/>
          </a:solidFill>
          <a:ln w="12700">
            <a:solidFill>
              <a:srgbClr val="0D9488"/>
            </a:solidFill>
            <a:prstDash val="solid"/>
          </a:ln>
        </p:spPr>
      </p:sp>
      <p:sp>
        <p:nvSpPr>
          <p:cNvPr id="25" name="Text 23"/>
          <p:cNvSpPr/>
          <p:nvPr/>
        </p:nvSpPr>
        <p:spPr>
          <a:xfrm>
            <a:off x="731520" y="3931920"/>
            <a:ext cx="8046720" cy="320040"/>
          </a:xfrm>
          <a:prstGeom prst="rect">
            <a:avLst/>
          </a:prstGeom>
          <a:noFill/>
          <a:ln/>
        </p:spPr>
        <p:txBody>
          <a:bodyPr wrap="square" lIns="0" tIns="0" rIns="0" bIns="0" rtlCol="0" anchor="ctr"/>
          <a:lstStyle/>
          <a:p>
            <a:pPr marL="0" indent="0">
              <a:buNone/>
            </a:pPr>
            <a:r>
              <a:rPr lang="en-US" sz="1200" dirty="0">
                <a:solidFill>
                  <a:srgbClr val="1E293B"/>
                </a:solidFill>
              </a:rPr>
              <a:t>Traditional phenotypic testing takes 24-72 hours — unacceptable in critical care settings</a:t>
            </a:r>
            <a:endParaRPr lang="en-US" sz="1200" dirty="0"/>
          </a:p>
        </p:txBody>
      </p:sp>
      <p:sp>
        <p:nvSpPr>
          <p:cNvPr id="26" name="Shape 24"/>
          <p:cNvSpPr/>
          <p:nvPr/>
        </p:nvSpPr>
        <p:spPr>
          <a:xfrm>
            <a:off x="457200" y="4343400"/>
            <a:ext cx="164592" cy="164592"/>
          </a:xfrm>
          <a:prstGeom prst="ellipse">
            <a:avLst/>
          </a:prstGeom>
          <a:solidFill>
            <a:srgbClr val="0D9488"/>
          </a:solidFill>
          <a:ln w="12700">
            <a:solidFill>
              <a:srgbClr val="0D9488"/>
            </a:solidFill>
            <a:prstDash val="solid"/>
          </a:ln>
        </p:spPr>
      </p:sp>
      <p:sp>
        <p:nvSpPr>
          <p:cNvPr id="27" name="Text 25"/>
          <p:cNvSpPr/>
          <p:nvPr/>
        </p:nvSpPr>
        <p:spPr>
          <a:xfrm>
            <a:off x="731520" y="4297680"/>
            <a:ext cx="8046720" cy="320040"/>
          </a:xfrm>
          <a:prstGeom prst="rect">
            <a:avLst/>
          </a:prstGeom>
          <a:noFill/>
          <a:ln/>
        </p:spPr>
        <p:txBody>
          <a:bodyPr wrap="square" lIns="0" tIns="0" rIns="0" bIns="0" rtlCol="0" anchor="ctr"/>
          <a:lstStyle/>
          <a:p>
            <a:pPr marL="0" indent="0">
              <a:buNone/>
            </a:pPr>
            <a:r>
              <a:rPr lang="en-US" sz="1200" dirty="0">
                <a:solidFill>
                  <a:srgbClr val="1E293B"/>
                </a:solidFill>
              </a:rPr>
              <a:t>Machine Learning on genomic data offers rapid, accurate resistance prediction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FFFFFF"/>
                </a:solidFill>
              </a:rPr>
              <a:t>Objectives of the Study</a:t>
            </a:r>
            <a:endParaRPr lang="en-US" sz="2800" dirty="0"/>
          </a:p>
        </p:txBody>
      </p:sp>
      <p:sp>
        <p:nvSpPr>
          <p:cNvPr id="4" name="Shape 2"/>
          <p:cNvSpPr/>
          <p:nvPr/>
        </p:nvSpPr>
        <p:spPr>
          <a:xfrm>
            <a:off x="457200" y="1005840"/>
            <a:ext cx="8229600" cy="685800"/>
          </a:xfrm>
          <a:prstGeom prst="rect">
            <a:avLst/>
          </a:prstGeom>
          <a:solidFill>
            <a:srgbClr val="132038"/>
          </a:solidFill>
          <a:ln w="12700">
            <a:solidFill>
              <a:srgbClr val="1E3A5F"/>
            </a:solidFill>
            <a:prstDash val="solid"/>
          </a:ln>
        </p:spPr>
      </p:sp>
      <p:sp>
        <p:nvSpPr>
          <p:cNvPr id="5" name="Shape 3"/>
          <p:cNvSpPr/>
          <p:nvPr/>
        </p:nvSpPr>
        <p:spPr>
          <a:xfrm>
            <a:off x="457200" y="1005840"/>
            <a:ext cx="640080" cy="685800"/>
          </a:xfrm>
          <a:prstGeom prst="rect">
            <a:avLst/>
          </a:prstGeom>
          <a:solidFill>
            <a:srgbClr val="0D9488"/>
          </a:solidFill>
          <a:ln w="12700">
            <a:solidFill>
              <a:srgbClr val="0D9488"/>
            </a:solidFill>
            <a:prstDash val="solid"/>
          </a:ln>
        </p:spPr>
      </p:sp>
      <p:sp>
        <p:nvSpPr>
          <p:cNvPr id="6" name="Text 4"/>
          <p:cNvSpPr/>
          <p:nvPr/>
        </p:nvSpPr>
        <p:spPr>
          <a:xfrm>
            <a:off x="457200" y="1051560"/>
            <a:ext cx="640080" cy="59436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7" name="Text 5"/>
          <p:cNvSpPr/>
          <p:nvPr/>
        </p:nvSpPr>
        <p:spPr>
          <a:xfrm>
            <a:off x="1234440" y="1097280"/>
            <a:ext cx="7315200" cy="548640"/>
          </a:xfrm>
          <a:prstGeom prst="rect">
            <a:avLst/>
          </a:prstGeom>
          <a:noFill/>
          <a:ln/>
        </p:spPr>
        <p:txBody>
          <a:bodyPr wrap="square" lIns="0" tIns="0" rIns="0" bIns="0" rtlCol="0" anchor="ctr"/>
          <a:lstStyle/>
          <a:p>
            <a:pPr marL="0" indent="0">
              <a:buNone/>
            </a:pPr>
            <a:r>
              <a:rPr lang="en-US" sz="1250" dirty="0">
                <a:solidFill>
                  <a:srgbClr val="CBD5E1"/>
                </a:solidFill>
              </a:rPr>
              <a:t>Curate and preprocess a genomic feature dataset representing AMR profiles of 1,200 bacterial isolates</a:t>
            </a:r>
            <a:endParaRPr lang="en-US" sz="1250" dirty="0"/>
          </a:p>
        </p:txBody>
      </p:sp>
      <p:sp>
        <p:nvSpPr>
          <p:cNvPr id="8" name="Shape 6"/>
          <p:cNvSpPr/>
          <p:nvPr/>
        </p:nvSpPr>
        <p:spPr>
          <a:xfrm>
            <a:off x="457200" y="1810512"/>
            <a:ext cx="8229600" cy="685800"/>
          </a:xfrm>
          <a:prstGeom prst="rect">
            <a:avLst/>
          </a:prstGeom>
          <a:solidFill>
            <a:srgbClr val="132038"/>
          </a:solidFill>
          <a:ln w="12700">
            <a:solidFill>
              <a:srgbClr val="1E3A5F"/>
            </a:solidFill>
            <a:prstDash val="solid"/>
          </a:ln>
        </p:spPr>
      </p:sp>
      <p:sp>
        <p:nvSpPr>
          <p:cNvPr id="9" name="Shape 7"/>
          <p:cNvSpPr/>
          <p:nvPr/>
        </p:nvSpPr>
        <p:spPr>
          <a:xfrm>
            <a:off x="457200" y="1810512"/>
            <a:ext cx="640080" cy="685800"/>
          </a:xfrm>
          <a:prstGeom prst="rect">
            <a:avLst/>
          </a:prstGeom>
          <a:solidFill>
            <a:srgbClr val="0D9488"/>
          </a:solidFill>
          <a:ln w="12700">
            <a:solidFill>
              <a:srgbClr val="0D9488"/>
            </a:solidFill>
            <a:prstDash val="solid"/>
          </a:ln>
        </p:spPr>
      </p:sp>
      <p:sp>
        <p:nvSpPr>
          <p:cNvPr id="10" name="Text 8"/>
          <p:cNvSpPr/>
          <p:nvPr/>
        </p:nvSpPr>
        <p:spPr>
          <a:xfrm>
            <a:off x="457200" y="1856232"/>
            <a:ext cx="640080" cy="59436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1" name="Text 9"/>
          <p:cNvSpPr/>
          <p:nvPr/>
        </p:nvSpPr>
        <p:spPr>
          <a:xfrm>
            <a:off x="1234440" y="1901952"/>
            <a:ext cx="7315200" cy="548640"/>
          </a:xfrm>
          <a:prstGeom prst="rect">
            <a:avLst/>
          </a:prstGeom>
          <a:noFill/>
          <a:ln/>
        </p:spPr>
        <p:txBody>
          <a:bodyPr wrap="square" lIns="0" tIns="0" rIns="0" bIns="0" rtlCol="0" anchor="ctr"/>
          <a:lstStyle/>
          <a:p>
            <a:pPr marL="0" indent="0">
              <a:buNone/>
            </a:pPr>
            <a:r>
              <a:rPr lang="en-US" sz="1250" dirty="0">
                <a:solidFill>
                  <a:srgbClr val="CBD5E1"/>
                </a:solidFill>
              </a:rPr>
              <a:t>Implement and train four ML classification algorithms: RF, Gradient Boosting, SVM-RBF, and Logistic Regression</a:t>
            </a:r>
            <a:endParaRPr lang="en-US" sz="1250" dirty="0"/>
          </a:p>
        </p:txBody>
      </p:sp>
      <p:sp>
        <p:nvSpPr>
          <p:cNvPr id="12" name="Shape 10"/>
          <p:cNvSpPr/>
          <p:nvPr/>
        </p:nvSpPr>
        <p:spPr>
          <a:xfrm>
            <a:off x="457200" y="2615184"/>
            <a:ext cx="8229600" cy="685800"/>
          </a:xfrm>
          <a:prstGeom prst="rect">
            <a:avLst/>
          </a:prstGeom>
          <a:solidFill>
            <a:srgbClr val="132038"/>
          </a:solidFill>
          <a:ln w="12700">
            <a:solidFill>
              <a:srgbClr val="1E3A5F"/>
            </a:solidFill>
            <a:prstDash val="solid"/>
          </a:ln>
        </p:spPr>
      </p:sp>
      <p:sp>
        <p:nvSpPr>
          <p:cNvPr id="13" name="Shape 11"/>
          <p:cNvSpPr/>
          <p:nvPr/>
        </p:nvSpPr>
        <p:spPr>
          <a:xfrm>
            <a:off x="457200" y="2615184"/>
            <a:ext cx="640080" cy="685800"/>
          </a:xfrm>
          <a:prstGeom prst="rect">
            <a:avLst/>
          </a:prstGeom>
          <a:solidFill>
            <a:srgbClr val="0D9488"/>
          </a:solidFill>
          <a:ln w="12700">
            <a:solidFill>
              <a:srgbClr val="0D9488"/>
            </a:solidFill>
            <a:prstDash val="solid"/>
          </a:ln>
        </p:spPr>
      </p:sp>
      <p:sp>
        <p:nvSpPr>
          <p:cNvPr id="14" name="Text 12"/>
          <p:cNvSpPr/>
          <p:nvPr/>
        </p:nvSpPr>
        <p:spPr>
          <a:xfrm>
            <a:off x="457200" y="2660904"/>
            <a:ext cx="640080" cy="59436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5" name="Text 13"/>
          <p:cNvSpPr/>
          <p:nvPr/>
        </p:nvSpPr>
        <p:spPr>
          <a:xfrm>
            <a:off x="1234440" y="2706624"/>
            <a:ext cx="7315200" cy="548640"/>
          </a:xfrm>
          <a:prstGeom prst="rect">
            <a:avLst/>
          </a:prstGeom>
          <a:noFill/>
          <a:ln/>
        </p:spPr>
        <p:txBody>
          <a:bodyPr wrap="square" lIns="0" tIns="0" rIns="0" bIns="0" rtlCol="0" anchor="ctr"/>
          <a:lstStyle/>
          <a:p>
            <a:pPr marL="0" indent="0">
              <a:buNone/>
            </a:pPr>
            <a:r>
              <a:rPr lang="en-US" sz="1250" dirty="0">
                <a:solidFill>
                  <a:srgbClr val="CBD5E1"/>
                </a:solidFill>
              </a:rPr>
              <a:t>Evaluate and compare models using accuracy, precision, recall, F1-score, cross-validation, and AUC-ROC metrics</a:t>
            </a:r>
            <a:endParaRPr lang="en-US" sz="1250" dirty="0"/>
          </a:p>
        </p:txBody>
      </p:sp>
      <p:sp>
        <p:nvSpPr>
          <p:cNvPr id="16" name="Shape 14"/>
          <p:cNvSpPr/>
          <p:nvPr/>
        </p:nvSpPr>
        <p:spPr>
          <a:xfrm>
            <a:off x="457200" y="3419856"/>
            <a:ext cx="8229600" cy="685800"/>
          </a:xfrm>
          <a:prstGeom prst="rect">
            <a:avLst/>
          </a:prstGeom>
          <a:solidFill>
            <a:srgbClr val="132038"/>
          </a:solidFill>
          <a:ln w="12700">
            <a:solidFill>
              <a:srgbClr val="1E3A5F"/>
            </a:solidFill>
            <a:prstDash val="solid"/>
          </a:ln>
        </p:spPr>
      </p:sp>
      <p:sp>
        <p:nvSpPr>
          <p:cNvPr id="17" name="Shape 15"/>
          <p:cNvSpPr/>
          <p:nvPr/>
        </p:nvSpPr>
        <p:spPr>
          <a:xfrm>
            <a:off x="457200" y="3419856"/>
            <a:ext cx="640080" cy="685800"/>
          </a:xfrm>
          <a:prstGeom prst="rect">
            <a:avLst/>
          </a:prstGeom>
          <a:solidFill>
            <a:srgbClr val="0D9488"/>
          </a:solidFill>
          <a:ln w="12700">
            <a:solidFill>
              <a:srgbClr val="0D9488"/>
            </a:solidFill>
            <a:prstDash val="solid"/>
          </a:ln>
        </p:spPr>
      </p:sp>
      <p:sp>
        <p:nvSpPr>
          <p:cNvPr id="18" name="Text 16"/>
          <p:cNvSpPr/>
          <p:nvPr/>
        </p:nvSpPr>
        <p:spPr>
          <a:xfrm>
            <a:off x="457200" y="3465576"/>
            <a:ext cx="640080" cy="59436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19" name="Text 17"/>
          <p:cNvSpPr/>
          <p:nvPr/>
        </p:nvSpPr>
        <p:spPr>
          <a:xfrm>
            <a:off x="1234440" y="3511296"/>
            <a:ext cx="7315200" cy="548640"/>
          </a:xfrm>
          <a:prstGeom prst="rect">
            <a:avLst/>
          </a:prstGeom>
          <a:noFill/>
          <a:ln/>
        </p:spPr>
        <p:txBody>
          <a:bodyPr wrap="square" lIns="0" tIns="0" rIns="0" bIns="0" rtlCol="0" anchor="ctr"/>
          <a:lstStyle/>
          <a:p>
            <a:pPr marL="0" indent="0">
              <a:buNone/>
            </a:pPr>
            <a:r>
              <a:rPr lang="en-US" sz="1250" dirty="0">
                <a:solidFill>
                  <a:srgbClr val="CBD5E1"/>
                </a:solidFill>
              </a:rPr>
              <a:t>Identify key genomic features contributing to antibiotic resistance using feature importance analysis</a:t>
            </a:r>
            <a:endParaRPr lang="en-US" sz="1250" dirty="0"/>
          </a:p>
        </p:txBody>
      </p:sp>
      <p:sp>
        <p:nvSpPr>
          <p:cNvPr id="20" name="Shape 18"/>
          <p:cNvSpPr/>
          <p:nvPr/>
        </p:nvSpPr>
        <p:spPr>
          <a:xfrm>
            <a:off x="457200" y="4224528"/>
            <a:ext cx="8229600" cy="685800"/>
          </a:xfrm>
          <a:prstGeom prst="rect">
            <a:avLst/>
          </a:prstGeom>
          <a:solidFill>
            <a:srgbClr val="132038"/>
          </a:solidFill>
          <a:ln w="12700">
            <a:solidFill>
              <a:srgbClr val="1E3A5F"/>
            </a:solidFill>
            <a:prstDash val="solid"/>
          </a:ln>
        </p:spPr>
      </p:sp>
      <p:sp>
        <p:nvSpPr>
          <p:cNvPr id="21" name="Shape 19"/>
          <p:cNvSpPr/>
          <p:nvPr/>
        </p:nvSpPr>
        <p:spPr>
          <a:xfrm>
            <a:off x="457200" y="4224528"/>
            <a:ext cx="640080" cy="685800"/>
          </a:xfrm>
          <a:prstGeom prst="rect">
            <a:avLst/>
          </a:prstGeom>
          <a:solidFill>
            <a:srgbClr val="0D9488"/>
          </a:solidFill>
          <a:ln w="12700">
            <a:solidFill>
              <a:srgbClr val="0D9488"/>
            </a:solidFill>
            <a:prstDash val="solid"/>
          </a:ln>
        </p:spPr>
      </p:sp>
      <p:sp>
        <p:nvSpPr>
          <p:cNvPr id="22" name="Text 20"/>
          <p:cNvSpPr/>
          <p:nvPr/>
        </p:nvSpPr>
        <p:spPr>
          <a:xfrm>
            <a:off x="457200" y="4270248"/>
            <a:ext cx="640080" cy="59436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3" name="Text 21"/>
          <p:cNvSpPr/>
          <p:nvPr/>
        </p:nvSpPr>
        <p:spPr>
          <a:xfrm>
            <a:off x="1234440" y="4315968"/>
            <a:ext cx="7315200" cy="548640"/>
          </a:xfrm>
          <a:prstGeom prst="rect">
            <a:avLst/>
          </a:prstGeom>
          <a:noFill/>
          <a:ln/>
        </p:spPr>
        <p:txBody>
          <a:bodyPr wrap="square" lIns="0" tIns="0" rIns="0" bIns="0" rtlCol="0" anchor="ctr"/>
          <a:lstStyle/>
          <a:p>
            <a:pPr marL="0" indent="0">
              <a:buNone/>
            </a:pPr>
            <a:r>
              <a:rPr lang="en-US" sz="1250" dirty="0">
                <a:solidFill>
                  <a:srgbClr val="CBD5E1"/>
                </a:solidFill>
              </a:rPr>
              <a:t>Discuss translational relevance and future applications of ML-based AMR prediction in clinical settings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3  |  Materials &amp; Methods</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400" b="1" dirty="0">
                <a:solidFill>
                  <a:srgbClr val="FFFFFF"/>
                </a:solidFill>
              </a:rPr>
              <a:t>Dataset Description &amp; Feature Engineering</a:t>
            </a:r>
            <a:endParaRPr lang="en-US" sz="2400" dirty="0"/>
          </a:p>
        </p:txBody>
      </p:sp>
      <p:sp>
        <p:nvSpPr>
          <p:cNvPr id="5" name="Shape 3"/>
          <p:cNvSpPr/>
          <p:nvPr/>
        </p:nvSpPr>
        <p:spPr>
          <a:xfrm>
            <a:off x="274320" y="1097280"/>
            <a:ext cx="1920240" cy="9144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6" name="Text 4"/>
          <p:cNvSpPr/>
          <p:nvPr/>
        </p:nvSpPr>
        <p:spPr>
          <a:xfrm>
            <a:off x="274320" y="1188720"/>
            <a:ext cx="1920240" cy="457200"/>
          </a:xfrm>
          <a:prstGeom prst="rect">
            <a:avLst/>
          </a:prstGeom>
          <a:noFill/>
          <a:ln/>
        </p:spPr>
        <p:txBody>
          <a:bodyPr wrap="square" lIns="0" tIns="0" rIns="0" bIns="0" rtlCol="0" anchor="ctr"/>
          <a:lstStyle/>
          <a:p>
            <a:pPr marL="0" indent="0" algn="ctr">
              <a:buNone/>
            </a:pPr>
            <a:r>
              <a:rPr lang="en-US" sz="2400" b="1" dirty="0">
                <a:solidFill>
                  <a:srgbClr val="FFFFFF"/>
                </a:solidFill>
              </a:rPr>
              <a:t>1,200</a:t>
            </a:r>
            <a:endParaRPr lang="en-US" sz="2400" dirty="0"/>
          </a:p>
        </p:txBody>
      </p:sp>
      <p:sp>
        <p:nvSpPr>
          <p:cNvPr id="7" name="Text 5"/>
          <p:cNvSpPr/>
          <p:nvPr/>
        </p:nvSpPr>
        <p:spPr>
          <a:xfrm>
            <a:off x="274320" y="1645920"/>
            <a:ext cx="1920240" cy="274320"/>
          </a:xfrm>
          <a:prstGeom prst="rect">
            <a:avLst/>
          </a:prstGeom>
          <a:noFill/>
          <a:ln/>
        </p:spPr>
        <p:txBody>
          <a:bodyPr wrap="square" lIns="0" tIns="0" rIns="0" bIns="0" rtlCol="0" anchor="ctr"/>
          <a:lstStyle/>
          <a:p>
            <a:pPr marL="0" indent="0" algn="ctr">
              <a:buNone/>
            </a:pPr>
            <a:r>
              <a:rPr lang="en-US" sz="1100" dirty="0">
                <a:solidFill>
                  <a:srgbClr val="CCFBF1"/>
                </a:solidFill>
              </a:rPr>
              <a:t>Bacterial Isolates</a:t>
            </a:r>
            <a:endParaRPr lang="en-US" sz="1100" dirty="0"/>
          </a:p>
        </p:txBody>
      </p:sp>
      <p:sp>
        <p:nvSpPr>
          <p:cNvPr id="8" name="Shape 6"/>
          <p:cNvSpPr/>
          <p:nvPr/>
        </p:nvSpPr>
        <p:spPr>
          <a:xfrm>
            <a:off x="2423160" y="1097280"/>
            <a:ext cx="1920240" cy="9144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9" name="Text 7"/>
          <p:cNvSpPr/>
          <p:nvPr/>
        </p:nvSpPr>
        <p:spPr>
          <a:xfrm>
            <a:off x="2423160" y="1188720"/>
            <a:ext cx="1920240" cy="457200"/>
          </a:xfrm>
          <a:prstGeom prst="rect">
            <a:avLst/>
          </a:prstGeom>
          <a:noFill/>
          <a:ln/>
        </p:spPr>
        <p:txBody>
          <a:bodyPr wrap="square" lIns="0" tIns="0" rIns="0" bIns="0" rtlCol="0" anchor="ctr"/>
          <a:lstStyle/>
          <a:p>
            <a:pPr marL="0" indent="0" algn="ctr">
              <a:buNone/>
            </a:pPr>
            <a:r>
              <a:rPr lang="en-US" sz="2400" b="1" dirty="0">
                <a:solidFill>
                  <a:srgbClr val="FFFFFF"/>
                </a:solidFill>
              </a:rPr>
              <a:t>20</a:t>
            </a:r>
            <a:endParaRPr lang="en-US" sz="2400" dirty="0"/>
          </a:p>
        </p:txBody>
      </p:sp>
      <p:sp>
        <p:nvSpPr>
          <p:cNvPr id="10" name="Text 8"/>
          <p:cNvSpPr/>
          <p:nvPr/>
        </p:nvSpPr>
        <p:spPr>
          <a:xfrm>
            <a:off x="2423160" y="1645920"/>
            <a:ext cx="1920240" cy="274320"/>
          </a:xfrm>
          <a:prstGeom prst="rect">
            <a:avLst/>
          </a:prstGeom>
          <a:noFill/>
          <a:ln/>
        </p:spPr>
        <p:txBody>
          <a:bodyPr wrap="square" lIns="0" tIns="0" rIns="0" bIns="0" rtlCol="0" anchor="ctr"/>
          <a:lstStyle/>
          <a:p>
            <a:pPr marL="0" indent="0" algn="ctr">
              <a:buNone/>
            </a:pPr>
            <a:r>
              <a:rPr lang="en-US" sz="1100" dirty="0">
                <a:solidFill>
                  <a:srgbClr val="CCFBF1"/>
                </a:solidFill>
              </a:rPr>
              <a:t>Genomic Features</a:t>
            </a:r>
            <a:endParaRPr lang="en-US" sz="1100" dirty="0"/>
          </a:p>
        </p:txBody>
      </p:sp>
      <p:sp>
        <p:nvSpPr>
          <p:cNvPr id="11" name="Shape 9"/>
          <p:cNvSpPr/>
          <p:nvPr/>
        </p:nvSpPr>
        <p:spPr>
          <a:xfrm>
            <a:off x="4572000" y="1097280"/>
            <a:ext cx="1920240" cy="9144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2" name="Text 10"/>
          <p:cNvSpPr/>
          <p:nvPr/>
        </p:nvSpPr>
        <p:spPr>
          <a:xfrm>
            <a:off x="4572000" y="1188720"/>
            <a:ext cx="1920240" cy="457200"/>
          </a:xfrm>
          <a:prstGeom prst="rect">
            <a:avLst/>
          </a:prstGeom>
          <a:noFill/>
          <a:ln/>
        </p:spPr>
        <p:txBody>
          <a:bodyPr wrap="square" lIns="0" tIns="0" rIns="0" bIns="0" rtlCol="0" anchor="ctr"/>
          <a:lstStyle/>
          <a:p>
            <a:pPr marL="0" indent="0" algn="ctr">
              <a:buNone/>
            </a:pPr>
            <a:r>
              <a:rPr lang="en-US" sz="2400" b="1" dirty="0">
                <a:solidFill>
                  <a:srgbClr val="FFFFFF"/>
                </a:solidFill>
              </a:rPr>
              <a:t>80:20</a:t>
            </a:r>
            <a:endParaRPr lang="en-US" sz="2400" dirty="0"/>
          </a:p>
        </p:txBody>
      </p:sp>
      <p:sp>
        <p:nvSpPr>
          <p:cNvPr id="13" name="Text 11"/>
          <p:cNvSpPr/>
          <p:nvPr/>
        </p:nvSpPr>
        <p:spPr>
          <a:xfrm>
            <a:off x="4572000" y="1645920"/>
            <a:ext cx="1920240" cy="274320"/>
          </a:xfrm>
          <a:prstGeom prst="rect">
            <a:avLst/>
          </a:prstGeom>
          <a:noFill/>
          <a:ln/>
        </p:spPr>
        <p:txBody>
          <a:bodyPr wrap="square" lIns="0" tIns="0" rIns="0" bIns="0" rtlCol="0" anchor="ctr"/>
          <a:lstStyle/>
          <a:p>
            <a:pPr marL="0" indent="0" algn="ctr">
              <a:buNone/>
            </a:pPr>
            <a:r>
              <a:rPr lang="en-US" sz="1100" dirty="0">
                <a:solidFill>
                  <a:srgbClr val="CCFBF1"/>
                </a:solidFill>
              </a:rPr>
              <a:t>Train:Test Split</a:t>
            </a:r>
            <a:endParaRPr lang="en-US" sz="1100" dirty="0"/>
          </a:p>
        </p:txBody>
      </p:sp>
      <p:sp>
        <p:nvSpPr>
          <p:cNvPr id="14" name="Shape 12"/>
          <p:cNvSpPr/>
          <p:nvPr/>
        </p:nvSpPr>
        <p:spPr>
          <a:xfrm>
            <a:off x="6720840" y="1097280"/>
            <a:ext cx="1920240" cy="9144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5" name="Text 13"/>
          <p:cNvSpPr/>
          <p:nvPr/>
        </p:nvSpPr>
        <p:spPr>
          <a:xfrm>
            <a:off x="6720840" y="1188720"/>
            <a:ext cx="1920240" cy="457200"/>
          </a:xfrm>
          <a:prstGeom prst="rect">
            <a:avLst/>
          </a:prstGeom>
          <a:noFill/>
          <a:ln/>
        </p:spPr>
        <p:txBody>
          <a:bodyPr wrap="square" lIns="0" tIns="0" rIns="0" bIns="0" rtlCol="0" anchor="ctr"/>
          <a:lstStyle/>
          <a:p>
            <a:pPr marL="0" indent="0" algn="ctr">
              <a:buNone/>
            </a:pPr>
            <a:r>
              <a:rPr lang="en-US" sz="2400" b="1" dirty="0">
                <a:solidFill>
                  <a:srgbClr val="FFFFFF"/>
                </a:solidFill>
              </a:rPr>
              <a:t>700/500</a:t>
            </a:r>
            <a:endParaRPr lang="en-US" sz="2400" dirty="0"/>
          </a:p>
        </p:txBody>
      </p:sp>
      <p:sp>
        <p:nvSpPr>
          <p:cNvPr id="16" name="Text 14"/>
          <p:cNvSpPr/>
          <p:nvPr/>
        </p:nvSpPr>
        <p:spPr>
          <a:xfrm>
            <a:off x="6720840" y="1645920"/>
            <a:ext cx="1920240" cy="274320"/>
          </a:xfrm>
          <a:prstGeom prst="rect">
            <a:avLst/>
          </a:prstGeom>
          <a:noFill/>
          <a:ln/>
        </p:spPr>
        <p:txBody>
          <a:bodyPr wrap="square" lIns="0" tIns="0" rIns="0" bIns="0" rtlCol="0" anchor="ctr"/>
          <a:lstStyle/>
          <a:p>
            <a:pPr marL="0" indent="0" algn="ctr">
              <a:buNone/>
            </a:pPr>
            <a:r>
              <a:rPr lang="en-US" sz="1100" dirty="0">
                <a:solidFill>
                  <a:srgbClr val="CCFBF1"/>
                </a:solidFill>
              </a:rPr>
              <a:t>Resistant/Susceptible</a:t>
            </a:r>
            <a:endParaRPr lang="en-US" sz="1100" dirty="0"/>
          </a:p>
        </p:txBody>
      </p:sp>
      <p:sp>
        <p:nvSpPr>
          <p:cNvPr id="17" name="Shape 15"/>
          <p:cNvSpPr/>
          <p:nvPr/>
        </p:nvSpPr>
        <p:spPr>
          <a:xfrm>
            <a:off x="274320" y="2194560"/>
            <a:ext cx="4114800" cy="1097280"/>
          </a:xfrm>
          <a:prstGeom prst="rect">
            <a:avLst/>
          </a:prstGeom>
          <a:solidFill>
            <a:srgbClr val="F0F9FF"/>
          </a:solidFill>
          <a:ln w="12700">
            <a:solidFill>
              <a:srgbClr val="CBD5E1"/>
            </a:solidFill>
            <a:prstDash val="solid"/>
          </a:ln>
        </p:spPr>
      </p:sp>
      <p:sp>
        <p:nvSpPr>
          <p:cNvPr id="18" name="Text 16"/>
          <p:cNvSpPr/>
          <p:nvPr/>
        </p:nvSpPr>
        <p:spPr>
          <a:xfrm>
            <a:off x="384048" y="2267712"/>
            <a:ext cx="3840480" cy="274320"/>
          </a:xfrm>
          <a:prstGeom prst="rect">
            <a:avLst/>
          </a:prstGeom>
          <a:noFill/>
          <a:ln/>
        </p:spPr>
        <p:txBody>
          <a:bodyPr wrap="square" lIns="0" tIns="0" rIns="0" bIns="0" rtlCol="0" anchor="ctr"/>
          <a:lstStyle/>
          <a:p>
            <a:pPr marL="0" indent="0">
              <a:buNone/>
            </a:pPr>
            <a:r>
              <a:rPr lang="en-US" sz="1100" b="1" dirty="0">
                <a:solidFill>
                  <a:srgbClr val="0A1628"/>
                </a:solidFill>
              </a:rPr>
              <a:t>Resistance Gene Features (Binary)</a:t>
            </a:r>
            <a:endParaRPr lang="en-US" sz="1100" dirty="0"/>
          </a:p>
        </p:txBody>
      </p:sp>
      <p:sp>
        <p:nvSpPr>
          <p:cNvPr id="19" name="Text 17"/>
          <p:cNvSpPr/>
          <p:nvPr/>
        </p:nvSpPr>
        <p:spPr>
          <a:xfrm>
            <a:off x="384048" y="2542032"/>
            <a:ext cx="3840480" cy="246888"/>
          </a:xfrm>
          <a:prstGeom prst="rect">
            <a:avLst/>
          </a:prstGeom>
          <a:noFill/>
          <a:ln/>
        </p:spPr>
        <p:txBody>
          <a:bodyPr wrap="square" lIns="0" tIns="0" rIns="0" bIns="0" rtlCol="0" anchor="ctr"/>
          <a:lstStyle/>
          <a:p>
            <a:pPr marL="0" indent="0">
              <a:buNone/>
            </a:pPr>
            <a:r>
              <a:rPr lang="en-US" sz="1050" dirty="0">
                <a:solidFill>
                  <a:srgbClr val="475569"/>
                </a:solidFill>
              </a:rPr>
              <a:t>• blaTEM, blaKPC, blaOXA</a:t>
            </a:r>
            <a:endParaRPr lang="en-US" sz="1050" dirty="0"/>
          </a:p>
        </p:txBody>
      </p:sp>
      <p:sp>
        <p:nvSpPr>
          <p:cNvPr id="20" name="Text 18"/>
          <p:cNvSpPr/>
          <p:nvPr/>
        </p:nvSpPr>
        <p:spPr>
          <a:xfrm>
            <a:off x="384048" y="2788920"/>
            <a:ext cx="3840480" cy="246888"/>
          </a:xfrm>
          <a:prstGeom prst="rect">
            <a:avLst/>
          </a:prstGeom>
          <a:noFill/>
          <a:ln/>
        </p:spPr>
        <p:txBody>
          <a:bodyPr wrap="square" lIns="0" tIns="0" rIns="0" bIns="0" rtlCol="0" anchor="ctr"/>
          <a:lstStyle/>
          <a:p>
            <a:pPr marL="0" indent="0">
              <a:buNone/>
            </a:pPr>
            <a:r>
              <a:rPr lang="en-US" sz="1050" dirty="0">
                <a:solidFill>
                  <a:srgbClr val="475569"/>
                </a:solidFill>
              </a:rPr>
              <a:t>• mcr1 (colistin), vanA, tetM</a:t>
            </a:r>
            <a:endParaRPr lang="en-US" sz="1050" dirty="0"/>
          </a:p>
        </p:txBody>
      </p:sp>
      <p:sp>
        <p:nvSpPr>
          <p:cNvPr id="21" name="Text 19"/>
          <p:cNvSpPr/>
          <p:nvPr/>
        </p:nvSpPr>
        <p:spPr>
          <a:xfrm>
            <a:off x="384048" y="3035808"/>
            <a:ext cx="3840480" cy="246888"/>
          </a:xfrm>
          <a:prstGeom prst="rect">
            <a:avLst/>
          </a:prstGeom>
          <a:noFill/>
          <a:ln/>
        </p:spPr>
        <p:txBody>
          <a:bodyPr wrap="square" lIns="0" tIns="0" rIns="0" bIns="0" rtlCol="0" anchor="ctr"/>
          <a:lstStyle/>
          <a:p>
            <a:pPr marL="0" indent="0">
              <a:buNone/>
            </a:pPr>
            <a:r>
              <a:rPr lang="en-US" sz="1050" dirty="0">
                <a:solidFill>
                  <a:srgbClr val="475569"/>
                </a:solidFill>
              </a:rPr>
              <a:t>• aac-6-aph-2 (aminoglycosides)</a:t>
            </a:r>
            <a:endParaRPr lang="en-US" sz="1050" dirty="0"/>
          </a:p>
        </p:txBody>
      </p:sp>
      <p:sp>
        <p:nvSpPr>
          <p:cNvPr id="22" name="Shape 20"/>
          <p:cNvSpPr/>
          <p:nvPr/>
        </p:nvSpPr>
        <p:spPr>
          <a:xfrm>
            <a:off x="4709160" y="2194560"/>
            <a:ext cx="4114800" cy="1097280"/>
          </a:xfrm>
          <a:prstGeom prst="rect">
            <a:avLst/>
          </a:prstGeom>
          <a:solidFill>
            <a:srgbClr val="F0F9FF"/>
          </a:solidFill>
          <a:ln w="12700">
            <a:solidFill>
              <a:srgbClr val="CBD5E1"/>
            </a:solidFill>
            <a:prstDash val="solid"/>
          </a:ln>
        </p:spPr>
      </p:sp>
      <p:sp>
        <p:nvSpPr>
          <p:cNvPr id="23" name="Text 21"/>
          <p:cNvSpPr/>
          <p:nvPr/>
        </p:nvSpPr>
        <p:spPr>
          <a:xfrm>
            <a:off x="4818888" y="2267712"/>
            <a:ext cx="3840480" cy="274320"/>
          </a:xfrm>
          <a:prstGeom prst="rect">
            <a:avLst/>
          </a:prstGeom>
          <a:noFill/>
          <a:ln/>
        </p:spPr>
        <p:txBody>
          <a:bodyPr wrap="square" lIns="0" tIns="0" rIns="0" bIns="0" rtlCol="0" anchor="ctr"/>
          <a:lstStyle/>
          <a:p>
            <a:pPr marL="0" indent="0">
              <a:buNone/>
            </a:pPr>
            <a:r>
              <a:rPr lang="en-US" sz="1100" b="1" dirty="0">
                <a:solidFill>
                  <a:srgbClr val="0A1628"/>
                </a:solidFill>
              </a:rPr>
              <a:t>Mobile Genetic Elements</a:t>
            </a:r>
            <a:endParaRPr lang="en-US" sz="1100" dirty="0"/>
          </a:p>
        </p:txBody>
      </p:sp>
      <p:sp>
        <p:nvSpPr>
          <p:cNvPr id="24" name="Text 22"/>
          <p:cNvSpPr/>
          <p:nvPr/>
        </p:nvSpPr>
        <p:spPr>
          <a:xfrm>
            <a:off x="4818888" y="2542032"/>
            <a:ext cx="3840480" cy="246888"/>
          </a:xfrm>
          <a:prstGeom prst="rect">
            <a:avLst/>
          </a:prstGeom>
          <a:noFill/>
          <a:ln/>
        </p:spPr>
        <p:txBody>
          <a:bodyPr wrap="square" lIns="0" tIns="0" rIns="0" bIns="0" rtlCol="0" anchor="ctr"/>
          <a:lstStyle/>
          <a:p>
            <a:pPr marL="0" indent="0">
              <a:buNone/>
            </a:pPr>
            <a:r>
              <a:rPr lang="en-US" sz="1050" dirty="0">
                <a:solidFill>
                  <a:srgbClr val="475569"/>
                </a:solidFill>
              </a:rPr>
              <a:t>• int1_integron (class 1)</a:t>
            </a:r>
            <a:endParaRPr lang="en-US" sz="1050" dirty="0"/>
          </a:p>
        </p:txBody>
      </p:sp>
      <p:sp>
        <p:nvSpPr>
          <p:cNvPr id="25" name="Text 23"/>
          <p:cNvSpPr/>
          <p:nvPr/>
        </p:nvSpPr>
        <p:spPr>
          <a:xfrm>
            <a:off x="4818888" y="2788920"/>
            <a:ext cx="3840480" cy="246888"/>
          </a:xfrm>
          <a:prstGeom prst="rect">
            <a:avLst/>
          </a:prstGeom>
          <a:noFill/>
          <a:ln/>
        </p:spPr>
        <p:txBody>
          <a:bodyPr wrap="square" lIns="0" tIns="0" rIns="0" bIns="0" rtlCol="0" anchor="ctr"/>
          <a:lstStyle/>
          <a:p>
            <a:pPr marL="0" indent="0">
              <a:buNone/>
            </a:pPr>
            <a:r>
              <a:rPr lang="en-US" sz="1050" dirty="0">
                <a:solidFill>
                  <a:srgbClr val="475569"/>
                </a:solidFill>
              </a:rPr>
              <a:t>• plasmid_count (PlasmidFinder)</a:t>
            </a:r>
            <a:endParaRPr lang="en-US" sz="1050" dirty="0"/>
          </a:p>
        </p:txBody>
      </p:sp>
      <p:sp>
        <p:nvSpPr>
          <p:cNvPr id="26" name="Text 24"/>
          <p:cNvSpPr/>
          <p:nvPr/>
        </p:nvSpPr>
        <p:spPr>
          <a:xfrm>
            <a:off x="4818888" y="3035808"/>
            <a:ext cx="3840480" cy="246888"/>
          </a:xfrm>
          <a:prstGeom prst="rect">
            <a:avLst/>
          </a:prstGeom>
          <a:noFill/>
          <a:ln/>
        </p:spPr>
        <p:txBody>
          <a:bodyPr wrap="square" lIns="0" tIns="0" rIns="0" bIns="0" rtlCol="0" anchor="ctr"/>
          <a:lstStyle/>
          <a:p>
            <a:pPr marL="0" indent="0">
              <a:buNone/>
            </a:pPr>
            <a:r>
              <a:rPr lang="en-US" sz="1050" dirty="0">
                <a:solidFill>
                  <a:srgbClr val="475569"/>
                </a:solidFill>
              </a:rPr>
              <a:t>• transposon_count</a:t>
            </a:r>
            <a:endParaRPr lang="en-US" sz="1050" dirty="0"/>
          </a:p>
        </p:txBody>
      </p:sp>
      <p:sp>
        <p:nvSpPr>
          <p:cNvPr id="27" name="Shape 25"/>
          <p:cNvSpPr/>
          <p:nvPr/>
        </p:nvSpPr>
        <p:spPr>
          <a:xfrm>
            <a:off x="274320" y="3474720"/>
            <a:ext cx="4114800" cy="1097280"/>
          </a:xfrm>
          <a:prstGeom prst="rect">
            <a:avLst/>
          </a:prstGeom>
          <a:solidFill>
            <a:srgbClr val="F0F9FF"/>
          </a:solidFill>
          <a:ln w="12700">
            <a:solidFill>
              <a:srgbClr val="CBD5E1"/>
            </a:solidFill>
            <a:prstDash val="solid"/>
          </a:ln>
        </p:spPr>
      </p:sp>
      <p:sp>
        <p:nvSpPr>
          <p:cNvPr id="28" name="Text 26"/>
          <p:cNvSpPr/>
          <p:nvPr/>
        </p:nvSpPr>
        <p:spPr>
          <a:xfrm>
            <a:off x="384048" y="3547872"/>
            <a:ext cx="3840480" cy="274320"/>
          </a:xfrm>
          <a:prstGeom prst="rect">
            <a:avLst/>
          </a:prstGeom>
          <a:noFill/>
          <a:ln/>
        </p:spPr>
        <p:txBody>
          <a:bodyPr wrap="square" lIns="0" tIns="0" rIns="0" bIns="0" rtlCol="0" anchor="ctr"/>
          <a:lstStyle/>
          <a:p>
            <a:pPr marL="0" indent="0">
              <a:buNone/>
            </a:pPr>
            <a:r>
              <a:rPr lang="en-US" sz="1100" b="1" dirty="0">
                <a:solidFill>
                  <a:srgbClr val="0A1628"/>
                </a:solidFill>
              </a:rPr>
              <a:t>Target Site Mutations</a:t>
            </a:r>
            <a:endParaRPr lang="en-US" sz="1100" dirty="0"/>
          </a:p>
        </p:txBody>
      </p:sp>
      <p:sp>
        <p:nvSpPr>
          <p:cNvPr id="29" name="Text 27"/>
          <p:cNvSpPr/>
          <p:nvPr/>
        </p:nvSpPr>
        <p:spPr>
          <a:xfrm>
            <a:off x="384048" y="3822192"/>
            <a:ext cx="3840480" cy="246888"/>
          </a:xfrm>
          <a:prstGeom prst="rect">
            <a:avLst/>
          </a:prstGeom>
          <a:noFill/>
          <a:ln/>
        </p:spPr>
        <p:txBody>
          <a:bodyPr wrap="square" lIns="0" tIns="0" rIns="0" bIns="0" rtlCol="0" anchor="ctr"/>
          <a:lstStyle/>
          <a:p>
            <a:pPr marL="0" indent="0">
              <a:buNone/>
            </a:pPr>
            <a:r>
              <a:rPr lang="en-US" sz="1050" dirty="0">
                <a:solidFill>
                  <a:srgbClr val="475569"/>
                </a:solidFill>
              </a:rPr>
              <a:t>• mutation_gyrA (QRDR)</a:t>
            </a:r>
            <a:endParaRPr lang="en-US" sz="1050" dirty="0"/>
          </a:p>
        </p:txBody>
      </p:sp>
      <p:sp>
        <p:nvSpPr>
          <p:cNvPr id="30" name="Text 28"/>
          <p:cNvSpPr/>
          <p:nvPr/>
        </p:nvSpPr>
        <p:spPr>
          <a:xfrm>
            <a:off x="384048" y="4069080"/>
            <a:ext cx="3840480" cy="246888"/>
          </a:xfrm>
          <a:prstGeom prst="rect">
            <a:avLst/>
          </a:prstGeom>
          <a:noFill/>
          <a:ln/>
        </p:spPr>
        <p:txBody>
          <a:bodyPr wrap="square" lIns="0" tIns="0" rIns="0" bIns="0" rtlCol="0" anchor="ctr"/>
          <a:lstStyle/>
          <a:p>
            <a:pPr marL="0" indent="0">
              <a:buNone/>
            </a:pPr>
            <a:r>
              <a:rPr lang="en-US" sz="1050" dirty="0">
                <a:solidFill>
                  <a:srgbClr val="475569"/>
                </a:solidFill>
              </a:rPr>
              <a:t>• mutation_parC (QRDR)</a:t>
            </a:r>
            <a:endParaRPr lang="en-US" sz="1050" dirty="0"/>
          </a:p>
        </p:txBody>
      </p:sp>
      <p:sp>
        <p:nvSpPr>
          <p:cNvPr id="31" name="Text 29"/>
          <p:cNvSpPr/>
          <p:nvPr/>
        </p:nvSpPr>
        <p:spPr>
          <a:xfrm>
            <a:off x="384048" y="4315968"/>
            <a:ext cx="3840480" cy="246888"/>
          </a:xfrm>
          <a:prstGeom prst="rect">
            <a:avLst/>
          </a:prstGeom>
          <a:noFill/>
          <a:ln/>
        </p:spPr>
        <p:txBody>
          <a:bodyPr wrap="square" lIns="0" tIns="0" rIns="0" bIns="0" rtlCol="0" anchor="ctr"/>
          <a:lstStyle/>
          <a:p>
            <a:pPr marL="0" indent="0">
              <a:buNone/>
            </a:pPr>
            <a:r>
              <a:rPr lang="en-US" sz="1050" dirty="0">
                <a:solidFill>
                  <a:srgbClr val="475569"/>
                </a:solidFill>
              </a:rPr>
              <a:t>• efflux_pump_score</a:t>
            </a:r>
            <a:endParaRPr lang="en-US" sz="1050" dirty="0"/>
          </a:p>
        </p:txBody>
      </p:sp>
      <p:sp>
        <p:nvSpPr>
          <p:cNvPr id="32" name="Shape 30"/>
          <p:cNvSpPr/>
          <p:nvPr/>
        </p:nvSpPr>
        <p:spPr>
          <a:xfrm>
            <a:off x="4709160" y="3474720"/>
            <a:ext cx="4114800" cy="1097280"/>
          </a:xfrm>
          <a:prstGeom prst="rect">
            <a:avLst/>
          </a:prstGeom>
          <a:solidFill>
            <a:srgbClr val="F0F9FF"/>
          </a:solidFill>
          <a:ln w="12700">
            <a:solidFill>
              <a:srgbClr val="CBD5E1"/>
            </a:solidFill>
            <a:prstDash val="solid"/>
          </a:ln>
        </p:spPr>
      </p:sp>
      <p:sp>
        <p:nvSpPr>
          <p:cNvPr id="33" name="Text 31"/>
          <p:cNvSpPr/>
          <p:nvPr/>
        </p:nvSpPr>
        <p:spPr>
          <a:xfrm>
            <a:off x="4818888" y="3547872"/>
            <a:ext cx="3840480" cy="274320"/>
          </a:xfrm>
          <a:prstGeom prst="rect">
            <a:avLst/>
          </a:prstGeom>
          <a:noFill/>
          <a:ln/>
        </p:spPr>
        <p:txBody>
          <a:bodyPr wrap="square" lIns="0" tIns="0" rIns="0" bIns="0" rtlCol="0" anchor="ctr"/>
          <a:lstStyle/>
          <a:p>
            <a:pPr marL="0" indent="0">
              <a:buNone/>
            </a:pPr>
            <a:r>
              <a:rPr lang="en-US" sz="1100" b="1" dirty="0">
                <a:solidFill>
                  <a:srgbClr val="0A1628"/>
                </a:solidFill>
              </a:rPr>
              <a:t>Physiological Features</a:t>
            </a:r>
            <a:endParaRPr lang="en-US" sz="1100" dirty="0"/>
          </a:p>
        </p:txBody>
      </p:sp>
      <p:sp>
        <p:nvSpPr>
          <p:cNvPr id="34" name="Text 32"/>
          <p:cNvSpPr/>
          <p:nvPr/>
        </p:nvSpPr>
        <p:spPr>
          <a:xfrm>
            <a:off x="4818888" y="3822192"/>
            <a:ext cx="3840480" cy="246888"/>
          </a:xfrm>
          <a:prstGeom prst="rect">
            <a:avLst/>
          </a:prstGeom>
          <a:noFill/>
          <a:ln/>
        </p:spPr>
        <p:txBody>
          <a:bodyPr wrap="square" lIns="0" tIns="0" rIns="0" bIns="0" rtlCol="0" anchor="ctr"/>
          <a:lstStyle/>
          <a:p>
            <a:pPr marL="0" indent="0">
              <a:buNone/>
            </a:pPr>
            <a:r>
              <a:rPr lang="en-US" sz="1050" dirty="0">
                <a:solidFill>
                  <a:srgbClr val="475569"/>
                </a:solidFill>
              </a:rPr>
              <a:t>• virulence_score, gc_content</a:t>
            </a:r>
            <a:endParaRPr lang="en-US" sz="1050" dirty="0"/>
          </a:p>
        </p:txBody>
      </p:sp>
      <p:sp>
        <p:nvSpPr>
          <p:cNvPr id="35" name="Text 33"/>
          <p:cNvSpPr/>
          <p:nvPr/>
        </p:nvSpPr>
        <p:spPr>
          <a:xfrm>
            <a:off x="4818888" y="4069080"/>
            <a:ext cx="3840480" cy="246888"/>
          </a:xfrm>
          <a:prstGeom prst="rect">
            <a:avLst/>
          </a:prstGeom>
          <a:noFill/>
          <a:ln/>
        </p:spPr>
        <p:txBody>
          <a:bodyPr wrap="square" lIns="0" tIns="0" rIns="0" bIns="0" rtlCol="0" anchor="ctr"/>
          <a:lstStyle/>
          <a:p>
            <a:pPr marL="0" indent="0">
              <a:buNone/>
            </a:pPr>
            <a:r>
              <a:rPr lang="en-US" sz="1050" dirty="0">
                <a:solidFill>
                  <a:srgbClr val="475569"/>
                </a:solidFill>
              </a:rPr>
              <a:t>• genome_size, mlst_type</a:t>
            </a:r>
            <a:endParaRPr lang="en-US" sz="1050" dirty="0"/>
          </a:p>
        </p:txBody>
      </p:sp>
      <p:sp>
        <p:nvSpPr>
          <p:cNvPr id="36" name="Text 34"/>
          <p:cNvSpPr/>
          <p:nvPr/>
        </p:nvSpPr>
        <p:spPr>
          <a:xfrm>
            <a:off x="4818888" y="4315968"/>
            <a:ext cx="3840480" cy="246888"/>
          </a:xfrm>
          <a:prstGeom prst="rect">
            <a:avLst/>
          </a:prstGeom>
          <a:noFill/>
          <a:ln/>
        </p:spPr>
        <p:txBody>
          <a:bodyPr wrap="square" lIns="0" tIns="0" rIns="0" bIns="0" rtlCol="0" anchor="ctr"/>
          <a:lstStyle/>
          <a:p>
            <a:pPr marL="0" indent="0">
              <a:buNone/>
            </a:pPr>
            <a:r>
              <a:rPr lang="en-US" sz="1050" dirty="0">
                <a:solidFill>
                  <a:srgbClr val="475569"/>
                </a:solidFill>
              </a:rPr>
              <a:t>• species_encoded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1628"/>
          </a:solidFill>
          <a:ln w="12700">
            <a:solidFill>
              <a:srgbClr val="0A1628"/>
            </a:solidFill>
            <a:prstDash val="solid"/>
          </a:ln>
        </p:spPr>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800" b="1" dirty="0">
                <a:solidFill>
                  <a:srgbClr val="0A1628"/>
                </a:solidFill>
              </a:rPr>
              <a:t>Machine Learning Algorithms</a:t>
            </a:r>
            <a:endParaRPr lang="en-US" sz="2800" dirty="0"/>
          </a:p>
        </p:txBody>
      </p:sp>
      <p:sp>
        <p:nvSpPr>
          <p:cNvPr id="4" name="Shape 2"/>
          <p:cNvSpPr/>
          <p:nvPr/>
        </p:nvSpPr>
        <p:spPr>
          <a:xfrm>
            <a:off x="274320" y="914400"/>
            <a:ext cx="859536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74320" y="914400"/>
            <a:ext cx="73152" cy="896112"/>
          </a:xfrm>
          <a:prstGeom prst="rect">
            <a:avLst/>
          </a:prstGeom>
          <a:solidFill>
            <a:srgbClr val="059669"/>
          </a:solidFill>
          <a:ln w="12700">
            <a:solidFill>
              <a:srgbClr val="059669"/>
            </a:solidFill>
            <a:prstDash val="solid"/>
          </a:ln>
        </p:spPr>
      </p:sp>
      <p:sp>
        <p:nvSpPr>
          <p:cNvPr id="6" name="Text 4"/>
          <p:cNvSpPr/>
          <p:nvPr/>
        </p:nvSpPr>
        <p:spPr>
          <a:xfrm>
            <a:off x="502920" y="987552"/>
            <a:ext cx="2011680" cy="320040"/>
          </a:xfrm>
          <a:prstGeom prst="rect">
            <a:avLst/>
          </a:prstGeom>
          <a:noFill/>
          <a:ln/>
        </p:spPr>
        <p:txBody>
          <a:bodyPr wrap="square" lIns="0" tIns="0" rIns="0" bIns="0" rtlCol="0" anchor="ctr"/>
          <a:lstStyle/>
          <a:p>
            <a:pPr marL="0" indent="0">
              <a:buNone/>
            </a:pPr>
            <a:r>
              <a:rPr lang="en-US" sz="1400" b="1" dirty="0">
                <a:solidFill>
                  <a:srgbClr val="059669"/>
                </a:solidFill>
              </a:rPr>
              <a:t>Random Forest</a:t>
            </a:r>
            <a:endParaRPr lang="en-US" sz="1400" dirty="0"/>
          </a:p>
        </p:txBody>
      </p:sp>
      <p:sp>
        <p:nvSpPr>
          <p:cNvPr id="7" name="Text 5"/>
          <p:cNvSpPr/>
          <p:nvPr/>
        </p:nvSpPr>
        <p:spPr>
          <a:xfrm>
            <a:off x="502920" y="1325880"/>
            <a:ext cx="4937760" cy="411480"/>
          </a:xfrm>
          <a:prstGeom prst="rect">
            <a:avLst/>
          </a:prstGeom>
          <a:noFill/>
          <a:ln/>
        </p:spPr>
        <p:txBody>
          <a:bodyPr wrap="square" lIns="0" tIns="0" rIns="0" bIns="0" rtlCol="0" anchor="ctr"/>
          <a:lstStyle/>
          <a:p>
            <a:pPr marL="0" indent="0">
              <a:buNone/>
            </a:pPr>
            <a:r>
              <a:rPr lang="en-US" sz="1050" dirty="0">
                <a:solidFill>
                  <a:srgbClr val="475569"/>
                </a:solidFill>
              </a:rPr>
              <a:t>Ensemble of decision trees; majority vote classification. Robust to overfitting and provides feature importance via Gini impurity.</a:t>
            </a:r>
            <a:endParaRPr lang="en-US" sz="1050" dirty="0"/>
          </a:p>
        </p:txBody>
      </p:sp>
      <p:sp>
        <p:nvSpPr>
          <p:cNvPr id="8" name="Shape 6"/>
          <p:cNvSpPr/>
          <p:nvPr/>
        </p:nvSpPr>
        <p:spPr>
          <a:xfrm>
            <a:off x="5577840" y="1051560"/>
            <a:ext cx="3108960" cy="594360"/>
          </a:xfrm>
          <a:prstGeom prst="rect">
            <a:avLst/>
          </a:prstGeom>
          <a:solidFill>
            <a:srgbClr val="F0F9FF"/>
          </a:solidFill>
          <a:ln w="12700">
            <a:solidFill>
              <a:srgbClr val="CBD5E1"/>
            </a:solidFill>
            <a:prstDash val="solid"/>
          </a:ln>
        </p:spPr>
      </p:sp>
      <p:sp>
        <p:nvSpPr>
          <p:cNvPr id="9" name="Text 7"/>
          <p:cNvSpPr/>
          <p:nvPr/>
        </p:nvSpPr>
        <p:spPr>
          <a:xfrm>
            <a:off x="5623560" y="1097280"/>
            <a:ext cx="3017520" cy="502920"/>
          </a:xfrm>
          <a:prstGeom prst="rect">
            <a:avLst/>
          </a:prstGeom>
          <a:noFill/>
          <a:ln/>
        </p:spPr>
        <p:txBody>
          <a:bodyPr wrap="square" lIns="0" tIns="0" rIns="0" bIns="0" rtlCol="0" anchor="ctr"/>
          <a:lstStyle/>
          <a:p>
            <a:pPr marL="0" indent="0">
              <a:buNone/>
            </a:pPr>
            <a:r>
              <a:rPr lang="en-US" sz="950" dirty="0">
                <a:solidFill>
                  <a:srgbClr val="1E293B"/>
                </a:solidFill>
              </a:rPr>
              <a:t>⚙ n_estimators=100, max_depth=None, bootstrap=True</a:t>
            </a:r>
            <a:endParaRPr lang="en-US" sz="950" dirty="0"/>
          </a:p>
        </p:txBody>
      </p:sp>
      <p:sp>
        <p:nvSpPr>
          <p:cNvPr id="10" name="Shape 8"/>
          <p:cNvSpPr/>
          <p:nvPr/>
        </p:nvSpPr>
        <p:spPr>
          <a:xfrm>
            <a:off x="274320" y="1938528"/>
            <a:ext cx="859536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274320" y="1938528"/>
            <a:ext cx="73152" cy="896112"/>
          </a:xfrm>
          <a:prstGeom prst="rect">
            <a:avLst/>
          </a:prstGeom>
          <a:solidFill>
            <a:srgbClr val="D97706"/>
          </a:solidFill>
          <a:ln w="12700">
            <a:solidFill>
              <a:srgbClr val="D97706"/>
            </a:solidFill>
            <a:prstDash val="solid"/>
          </a:ln>
        </p:spPr>
      </p:sp>
      <p:sp>
        <p:nvSpPr>
          <p:cNvPr id="12" name="Text 10"/>
          <p:cNvSpPr/>
          <p:nvPr/>
        </p:nvSpPr>
        <p:spPr>
          <a:xfrm>
            <a:off x="502920" y="2011680"/>
            <a:ext cx="2011680" cy="320040"/>
          </a:xfrm>
          <a:prstGeom prst="rect">
            <a:avLst/>
          </a:prstGeom>
          <a:noFill/>
          <a:ln/>
        </p:spPr>
        <p:txBody>
          <a:bodyPr wrap="square" lIns="0" tIns="0" rIns="0" bIns="0" rtlCol="0" anchor="ctr"/>
          <a:lstStyle/>
          <a:p>
            <a:pPr marL="0" indent="0">
              <a:buNone/>
            </a:pPr>
            <a:r>
              <a:rPr lang="en-US" sz="1400" b="1" dirty="0">
                <a:solidFill>
                  <a:srgbClr val="D97706"/>
                </a:solidFill>
              </a:rPr>
              <a:t>Gradient Boosting</a:t>
            </a:r>
            <a:endParaRPr lang="en-US" sz="1400" dirty="0"/>
          </a:p>
        </p:txBody>
      </p:sp>
      <p:sp>
        <p:nvSpPr>
          <p:cNvPr id="13" name="Text 11"/>
          <p:cNvSpPr/>
          <p:nvPr/>
        </p:nvSpPr>
        <p:spPr>
          <a:xfrm>
            <a:off x="502920" y="2350008"/>
            <a:ext cx="4937760" cy="411480"/>
          </a:xfrm>
          <a:prstGeom prst="rect">
            <a:avLst/>
          </a:prstGeom>
          <a:noFill/>
          <a:ln/>
        </p:spPr>
        <p:txBody>
          <a:bodyPr wrap="square" lIns="0" tIns="0" rIns="0" bIns="0" rtlCol="0" anchor="ctr"/>
          <a:lstStyle/>
          <a:p>
            <a:pPr marL="0" indent="0">
              <a:buNone/>
            </a:pPr>
            <a:r>
              <a:rPr lang="en-US" sz="1050" dirty="0">
                <a:solidFill>
                  <a:srgbClr val="475569"/>
                </a:solidFill>
              </a:rPr>
              <a:t>Sequential weak learners correcting residual errors. Minimizes loss function via gradient descent across iterations.</a:t>
            </a:r>
            <a:endParaRPr lang="en-US" sz="1050" dirty="0"/>
          </a:p>
        </p:txBody>
      </p:sp>
      <p:sp>
        <p:nvSpPr>
          <p:cNvPr id="14" name="Shape 12"/>
          <p:cNvSpPr/>
          <p:nvPr/>
        </p:nvSpPr>
        <p:spPr>
          <a:xfrm>
            <a:off x="5577840" y="2075688"/>
            <a:ext cx="3108960" cy="594360"/>
          </a:xfrm>
          <a:prstGeom prst="rect">
            <a:avLst/>
          </a:prstGeom>
          <a:solidFill>
            <a:srgbClr val="F0F9FF"/>
          </a:solidFill>
          <a:ln w="12700">
            <a:solidFill>
              <a:srgbClr val="CBD5E1"/>
            </a:solidFill>
            <a:prstDash val="solid"/>
          </a:ln>
        </p:spPr>
      </p:sp>
      <p:sp>
        <p:nvSpPr>
          <p:cNvPr id="15" name="Text 13"/>
          <p:cNvSpPr/>
          <p:nvPr/>
        </p:nvSpPr>
        <p:spPr>
          <a:xfrm>
            <a:off x="5623560" y="2121408"/>
            <a:ext cx="3017520" cy="502920"/>
          </a:xfrm>
          <a:prstGeom prst="rect">
            <a:avLst/>
          </a:prstGeom>
          <a:noFill/>
          <a:ln/>
        </p:spPr>
        <p:txBody>
          <a:bodyPr wrap="square" lIns="0" tIns="0" rIns="0" bIns="0" rtlCol="0" anchor="ctr"/>
          <a:lstStyle/>
          <a:p>
            <a:pPr marL="0" indent="0">
              <a:buNone/>
            </a:pPr>
            <a:r>
              <a:rPr lang="en-US" sz="950" dirty="0">
                <a:solidFill>
                  <a:srgbClr val="1E293B"/>
                </a:solidFill>
              </a:rPr>
              <a:t>⚙ n_estimators=100, learning_rate=0.1, max_depth=3</a:t>
            </a:r>
            <a:endParaRPr lang="en-US" sz="950" dirty="0"/>
          </a:p>
        </p:txBody>
      </p:sp>
      <p:sp>
        <p:nvSpPr>
          <p:cNvPr id="16" name="Shape 14"/>
          <p:cNvSpPr/>
          <p:nvPr/>
        </p:nvSpPr>
        <p:spPr>
          <a:xfrm>
            <a:off x="274320" y="2962656"/>
            <a:ext cx="859536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5"/>
          <p:cNvSpPr/>
          <p:nvPr/>
        </p:nvSpPr>
        <p:spPr>
          <a:xfrm>
            <a:off x="274320" y="2962656"/>
            <a:ext cx="73152" cy="896112"/>
          </a:xfrm>
          <a:prstGeom prst="rect">
            <a:avLst/>
          </a:prstGeom>
          <a:solidFill>
            <a:srgbClr val="7C3AED"/>
          </a:solidFill>
          <a:ln w="12700">
            <a:solidFill>
              <a:srgbClr val="7C3AED"/>
            </a:solidFill>
            <a:prstDash val="solid"/>
          </a:ln>
        </p:spPr>
      </p:sp>
      <p:sp>
        <p:nvSpPr>
          <p:cNvPr id="18" name="Text 16"/>
          <p:cNvSpPr/>
          <p:nvPr/>
        </p:nvSpPr>
        <p:spPr>
          <a:xfrm>
            <a:off x="502920" y="3035808"/>
            <a:ext cx="2011680" cy="320040"/>
          </a:xfrm>
          <a:prstGeom prst="rect">
            <a:avLst/>
          </a:prstGeom>
          <a:noFill/>
          <a:ln/>
        </p:spPr>
        <p:txBody>
          <a:bodyPr wrap="square" lIns="0" tIns="0" rIns="0" bIns="0" rtlCol="0" anchor="ctr"/>
          <a:lstStyle/>
          <a:p>
            <a:pPr marL="0" indent="0">
              <a:buNone/>
            </a:pPr>
            <a:r>
              <a:rPr lang="en-US" sz="1400" b="1" dirty="0">
                <a:solidFill>
                  <a:srgbClr val="7C3AED"/>
                </a:solidFill>
              </a:rPr>
              <a:t>SVM (RBF Kernel)</a:t>
            </a:r>
            <a:endParaRPr lang="en-US" sz="1400" dirty="0"/>
          </a:p>
        </p:txBody>
      </p:sp>
      <p:sp>
        <p:nvSpPr>
          <p:cNvPr id="19" name="Text 17"/>
          <p:cNvSpPr/>
          <p:nvPr/>
        </p:nvSpPr>
        <p:spPr>
          <a:xfrm>
            <a:off x="502920" y="3374136"/>
            <a:ext cx="4937760" cy="411480"/>
          </a:xfrm>
          <a:prstGeom prst="rect">
            <a:avLst/>
          </a:prstGeom>
          <a:noFill/>
          <a:ln/>
        </p:spPr>
        <p:txBody>
          <a:bodyPr wrap="square" lIns="0" tIns="0" rIns="0" bIns="0" rtlCol="0" anchor="ctr"/>
          <a:lstStyle/>
          <a:p>
            <a:pPr marL="0" indent="0">
              <a:buNone/>
            </a:pPr>
            <a:r>
              <a:rPr lang="en-US" sz="1050" dirty="0">
                <a:solidFill>
                  <a:srgbClr val="475569"/>
                </a:solidFill>
              </a:rPr>
              <a:t>Finds optimal hyperplane maximizing class margins. RBF kernel maps data to higher-dimensional space for nonlinear separation.</a:t>
            </a:r>
            <a:endParaRPr lang="en-US" sz="1050" dirty="0"/>
          </a:p>
        </p:txBody>
      </p:sp>
      <p:sp>
        <p:nvSpPr>
          <p:cNvPr id="20" name="Shape 18"/>
          <p:cNvSpPr/>
          <p:nvPr/>
        </p:nvSpPr>
        <p:spPr>
          <a:xfrm>
            <a:off x="5577840" y="3099816"/>
            <a:ext cx="3108960" cy="594360"/>
          </a:xfrm>
          <a:prstGeom prst="rect">
            <a:avLst/>
          </a:prstGeom>
          <a:solidFill>
            <a:srgbClr val="F0F9FF"/>
          </a:solidFill>
          <a:ln w="12700">
            <a:solidFill>
              <a:srgbClr val="CBD5E1"/>
            </a:solidFill>
            <a:prstDash val="solid"/>
          </a:ln>
        </p:spPr>
      </p:sp>
      <p:sp>
        <p:nvSpPr>
          <p:cNvPr id="21" name="Text 19"/>
          <p:cNvSpPr/>
          <p:nvPr/>
        </p:nvSpPr>
        <p:spPr>
          <a:xfrm>
            <a:off x="5623560" y="3145536"/>
            <a:ext cx="3017520" cy="502920"/>
          </a:xfrm>
          <a:prstGeom prst="rect">
            <a:avLst/>
          </a:prstGeom>
          <a:noFill/>
          <a:ln/>
        </p:spPr>
        <p:txBody>
          <a:bodyPr wrap="square" lIns="0" tIns="0" rIns="0" bIns="0" rtlCol="0" anchor="ctr"/>
          <a:lstStyle/>
          <a:p>
            <a:pPr marL="0" indent="0">
              <a:buNone/>
            </a:pPr>
            <a:r>
              <a:rPr lang="en-US" sz="950" dirty="0">
                <a:solidFill>
                  <a:srgbClr val="1E293B"/>
                </a:solidFill>
              </a:rPr>
              <a:t>⚙ C=1.0, kernel='rbf', gamma='scale'</a:t>
            </a:r>
            <a:endParaRPr lang="en-US" sz="950" dirty="0"/>
          </a:p>
        </p:txBody>
      </p:sp>
      <p:sp>
        <p:nvSpPr>
          <p:cNvPr id="22" name="Shape 20"/>
          <p:cNvSpPr/>
          <p:nvPr/>
        </p:nvSpPr>
        <p:spPr>
          <a:xfrm>
            <a:off x="274320" y="3986784"/>
            <a:ext cx="859536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3" name="Shape 21"/>
          <p:cNvSpPr/>
          <p:nvPr/>
        </p:nvSpPr>
        <p:spPr>
          <a:xfrm>
            <a:off x="274320" y="3986784"/>
            <a:ext cx="73152" cy="896112"/>
          </a:xfrm>
          <a:prstGeom prst="rect">
            <a:avLst/>
          </a:prstGeom>
          <a:solidFill>
            <a:srgbClr val="0369A1"/>
          </a:solidFill>
          <a:ln w="12700">
            <a:solidFill>
              <a:srgbClr val="0369A1"/>
            </a:solidFill>
            <a:prstDash val="solid"/>
          </a:ln>
        </p:spPr>
      </p:sp>
      <p:sp>
        <p:nvSpPr>
          <p:cNvPr id="24" name="Text 22"/>
          <p:cNvSpPr/>
          <p:nvPr/>
        </p:nvSpPr>
        <p:spPr>
          <a:xfrm>
            <a:off x="502920" y="4059936"/>
            <a:ext cx="2011680" cy="320040"/>
          </a:xfrm>
          <a:prstGeom prst="rect">
            <a:avLst/>
          </a:prstGeom>
          <a:noFill/>
          <a:ln/>
        </p:spPr>
        <p:txBody>
          <a:bodyPr wrap="square" lIns="0" tIns="0" rIns="0" bIns="0" rtlCol="0" anchor="ctr"/>
          <a:lstStyle/>
          <a:p>
            <a:pPr marL="0" indent="0">
              <a:buNone/>
            </a:pPr>
            <a:r>
              <a:rPr lang="en-US" sz="1400" b="1" dirty="0">
                <a:solidFill>
                  <a:srgbClr val="0369A1"/>
                </a:solidFill>
              </a:rPr>
              <a:t>Logistic Regression</a:t>
            </a:r>
            <a:endParaRPr lang="en-US" sz="1400" dirty="0"/>
          </a:p>
        </p:txBody>
      </p:sp>
      <p:sp>
        <p:nvSpPr>
          <p:cNvPr id="25" name="Text 23"/>
          <p:cNvSpPr/>
          <p:nvPr/>
        </p:nvSpPr>
        <p:spPr>
          <a:xfrm>
            <a:off x="502920" y="4398264"/>
            <a:ext cx="4937760" cy="411480"/>
          </a:xfrm>
          <a:prstGeom prst="rect">
            <a:avLst/>
          </a:prstGeom>
          <a:noFill/>
          <a:ln/>
        </p:spPr>
        <p:txBody>
          <a:bodyPr wrap="square" lIns="0" tIns="0" rIns="0" bIns="0" rtlCol="0" anchor="ctr"/>
          <a:lstStyle/>
          <a:p>
            <a:pPr marL="0" indent="0">
              <a:buNone/>
            </a:pPr>
            <a:r>
              <a:rPr lang="en-US" sz="1050" dirty="0">
                <a:solidFill>
                  <a:srgbClr val="475569"/>
                </a:solidFill>
              </a:rPr>
              <a:t>Logistic sigmoid function on linear feature combination. Provides interpretable coefficients and probability estimates.</a:t>
            </a:r>
            <a:endParaRPr lang="en-US" sz="1050" dirty="0"/>
          </a:p>
        </p:txBody>
      </p:sp>
      <p:sp>
        <p:nvSpPr>
          <p:cNvPr id="26" name="Shape 24"/>
          <p:cNvSpPr/>
          <p:nvPr/>
        </p:nvSpPr>
        <p:spPr>
          <a:xfrm>
            <a:off x="5577840" y="4123944"/>
            <a:ext cx="3108960" cy="594360"/>
          </a:xfrm>
          <a:prstGeom prst="rect">
            <a:avLst/>
          </a:prstGeom>
          <a:solidFill>
            <a:srgbClr val="F0F9FF"/>
          </a:solidFill>
          <a:ln w="12700">
            <a:solidFill>
              <a:srgbClr val="CBD5E1"/>
            </a:solidFill>
            <a:prstDash val="solid"/>
          </a:ln>
        </p:spPr>
      </p:sp>
      <p:sp>
        <p:nvSpPr>
          <p:cNvPr id="27" name="Text 25"/>
          <p:cNvSpPr/>
          <p:nvPr/>
        </p:nvSpPr>
        <p:spPr>
          <a:xfrm>
            <a:off x="5623560" y="4169664"/>
            <a:ext cx="3017520" cy="502920"/>
          </a:xfrm>
          <a:prstGeom prst="rect">
            <a:avLst/>
          </a:prstGeom>
          <a:noFill/>
          <a:ln/>
        </p:spPr>
        <p:txBody>
          <a:bodyPr wrap="square" lIns="0" tIns="0" rIns="0" bIns="0" rtlCol="0" anchor="ctr"/>
          <a:lstStyle/>
          <a:p>
            <a:pPr marL="0" indent="0">
              <a:buNone/>
            </a:pPr>
            <a:r>
              <a:rPr lang="en-US" sz="950" dirty="0">
                <a:solidFill>
                  <a:srgbClr val="1E293B"/>
                </a:solidFill>
              </a:rPr>
              <a:t>⚙ max_iter=1000, solver='lbfgs', C=1.0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3  |  Materials &amp; Methods</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600" b="1" dirty="0">
                <a:solidFill>
                  <a:srgbClr val="FFFFFF"/>
                </a:solidFill>
              </a:rPr>
              <a:t>Model Evaluation Framework</a:t>
            </a:r>
            <a:endParaRPr lang="en-US" sz="2600" dirty="0"/>
          </a:p>
        </p:txBody>
      </p:sp>
      <p:sp>
        <p:nvSpPr>
          <p:cNvPr id="5" name="Shape 3"/>
          <p:cNvSpPr/>
          <p:nvPr/>
        </p:nvSpPr>
        <p:spPr>
          <a:xfrm>
            <a:off x="274320" y="105156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051560"/>
            <a:ext cx="4114800" cy="73152"/>
          </a:xfrm>
          <a:prstGeom prst="rect">
            <a:avLst/>
          </a:prstGeom>
          <a:solidFill>
            <a:srgbClr val="059669"/>
          </a:solidFill>
          <a:ln w="12700">
            <a:solidFill>
              <a:srgbClr val="059669"/>
            </a:solidFill>
            <a:prstDash val="solid"/>
          </a:ln>
        </p:spPr>
      </p:sp>
      <p:sp>
        <p:nvSpPr>
          <p:cNvPr id="7" name="Text 5"/>
          <p:cNvSpPr/>
          <p:nvPr/>
        </p:nvSpPr>
        <p:spPr>
          <a:xfrm>
            <a:off x="411480" y="1188720"/>
            <a:ext cx="1828800" cy="320040"/>
          </a:xfrm>
          <a:prstGeom prst="rect">
            <a:avLst/>
          </a:prstGeom>
          <a:noFill/>
          <a:ln/>
        </p:spPr>
        <p:txBody>
          <a:bodyPr wrap="square" lIns="0" tIns="0" rIns="0" bIns="0" rtlCol="0" anchor="ctr"/>
          <a:lstStyle/>
          <a:p>
            <a:pPr marL="0" indent="0">
              <a:buNone/>
            </a:pPr>
            <a:r>
              <a:rPr lang="en-US" sz="1400" b="1" dirty="0">
                <a:solidFill>
                  <a:srgbClr val="059669"/>
                </a:solidFill>
              </a:rPr>
              <a:t>Accuracy</a:t>
            </a:r>
            <a:endParaRPr lang="en-US" sz="1400" dirty="0"/>
          </a:p>
        </p:txBody>
      </p:sp>
      <p:sp>
        <p:nvSpPr>
          <p:cNvPr id="8" name="Shape 6"/>
          <p:cNvSpPr/>
          <p:nvPr/>
        </p:nvSpPr>
        <p:spPr>
          <a:xfrm>
            <a:off x="2377440" y="1188720"/>
            <a:ext cx="1874520" cy="320040"/>
          </a:xfrm>
          <a:prstGeom prst="rect">
            <a:avLst/>
          </a:prstGeom>
          <a:solidFill>
            <a:srgbClr val="1E293B"/>
          </a:solidFill>
          <a:ln w="12700">
            <a:solidFill>
              <a:srgbClr val="1E293B"/>
            </a:solidFill>
            <a:prstDash val="solid"/>
          </a:ln>
        </p:spPr>
      </p:sp>
      <p:sp>
        <p:nvSpPr>
          <p:cNvPr id="9" name="Text 7"/>
          <p:cNvSpPr/>
          <p:nvPr/>
        </p:nvSpPr>
        <p:spPr>
          <a:xfrm>
            <a:off x="2377440" y="118872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(TP + TN) / Total</a:t>
            </a:r>
            <a:endParaRPr lang="en-US" sz="1000" dirty="0"/>
          </a:p>
        </p:txBody>
      </p:sp>
      <p:sp>
        <p:nvSpPr>
          <p:cNvPr id="10" name="Text 8"/>
          <p:cNvSpPr/>
          <p:nvPr/>
        </p:nvSpPr>
        <p:spPr>
          <a:xfrm>
            <a:off x="411480" y="1581912"/>
            <a:ext cx="3840480" cy="502920"/>
          </a:xfrm>
          <a:prstGeom prst="rect">
            <a:avLst/>
          </a:prstGeom>
          <a:noFill/>
          <a:ln/>
        </p:spPr>
        <p:txBody>
          <a:bodyPr wrap="square" lIns="0" tIns="0" rIns="0" bIns="0" rtlCol="0" anchor="ctr"/>
          <a:lstStyle/>
          <a:p>
            <a:pPr marL="0" indent="0">
              <a:buNone/>
            </a:pPr>
            <a:r>
              <a:rPr lang="en-US" sz="1100" dirty="0">
                <a:solidFill>
                  <a:srgbClr val="475569"/>
                </a:solidFill>
              </a:rPr>
              <a:t>Proportion of correctly classified isolates across all classes</a:t>
            </a:r>
            <a:endParaRPr lang="en-US" sz="1100" dirty="0"/>
          </a:p>
        </p:txBody>
      </p:sp>
      <p:sp>
        <p:nvSpPr>
          <p:cNvPr id="11" name="Shape 9"/>
          <p:cNvSpPr/>
          <p:nvPr/>
        </p:nvSpPr>
        <p:spPr>
          <a:xfrm>
            <a:off x="4709160" y="105156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2" name="Shape 10"/>
          <p:cNvSpPr/>
          <p:nvPr/>
        </p:nvSpPr>
        <p:spPr>
          <a:xfrm>
            <a:off x="4709160" y="1051560"/>
            <a:ext cx="4114800" cy="73152"/>
          </a:xfrm>
          <a:prstGeom prst="rect">
            <a:avLst/>
          </a:prstGeom>
          <a:solidFill>
            <a:srgbClr val="0369A1"/>
          </a:solidFill>
          <a:ln w="12700">
            <a:solidFill>
              <a:srgbClr val="0369A1"/>
            </a:solidFill>
            <a:prstDash val="solid"/>
          </a:ln>
        </p:spPr>
      </p:sp>
      <p:sp>
        <p:nvSpPr>
          <p:cNvPr id="13" name="Text 11"/>
          <p:cNvSpPr/>
          <p:nvPr/>
        </p:nvSpPr>
        <p:spPr>
          <a:xfrm>
            <a:off x="4846320" y="1188720"/>
            <a:ext cx="1828800" cy="320040"/>
          </a:xfrm>
          <a:prstGeom prst="rect">
            <a:avLst/>
          </a:prstGeom>
          <a:noFill/>
          <a:ln/>
        </p:spPr>
        <p:txBody>
          <a:bodyPr wrap="square" lIns="0" tIns="0" rIns="0" bIns="0" rtlCol="0" anchor="ctr"/>
          <a:lstStyle/>
          <a:p>
            <a:pPr marL="0" indent="0">
              <a:buNone/>
            </a:pPr>
            <a:r>
              <a:rPr lang="en-US" sz="1400" b="1" dirty="0">
                <a:solidFill>
                  <a:srgbClr val="0369A1"/>
                </a:solidFill>
              </a:rPr>
              <a:t>Precision</a:t>
            </a:r>
            <a:endParaRPr lang="en-US" sz="1400" dirty="0"/>
          </a:p>
        </p:txBody>
      </p:sp>
      <p:sp>
        <p:nvSpPr>
          <p:cNvPr id="14" name="Shape 12"/>
          <p:cNvSpPr/>
          <p:nvPr/>
        </p:nvSpPr>
        <p:spPr>
          <a:xfrm>
            <a:off x="6812280" y="1188720"/>
            <a:ext cx="1874520" cy="320040"/>
          </a:xfrm>
          <a:prstGeom prst="rect">
            <a:avLst/>
          </a:prstGeom>
          <a:solidFill>
            <a:srgbClr val="1E293B"/>
          </a:solidFill>
          <a:ln w="12700">
            <a:solidFill>
              <a:srgbClr val="1E293B"/>
            </a:solidFill>
            <a:prstDash val="solid"/>
          </a:ln>
        </p:spPr>
      </p:sp>
      <p:sp>
        <p:nvSpPr>
          <p:cNvPr id="15" name="Text 13"/>
          <p:cNvSpPr/>
          <p:nvPr/>
        </p:nvSpPr>
        <p:spPr>
          <a:xfrm>
            <a:off x="6812280" y="118872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TP / (TP + FP)</a:t>
            </a:r>
            <a:endParaRPr lang="en-US" sz="1000" dirty="0"/>
          </a:p>
        </p:txBody>
      </p:sp>
      <p:sp>
        <p:nvSpPr>
          <p:cNvPr id="16" name="Text 14"/>
          <p:cNvSpPr/>
          <p:nvPr/>
        </p:nvSpPr>
        <p:spPr>
          <a:xfrm>
            <a:off x="4846320" y="1581912"/>
            <a:ext cx="3840480" cy="502920"/>
          </a:xfrm>
          <a:prstGeom prst="rect">
            <a:avLst/>
          </a:prstGeom>
          <a:noFill/>
          <a:ln/>
        </p:spPr>
        <p:txBody>
          <a:bodyPr wrap="square" lIns="0" tIns="0" rIns="0" bIns="0" rtlCol="0" anchor="ctr"/>
          <a:lstStyle/>
          <a:p>
            <a:pPr marL="0" indent="0">
              <a:buNone/>
            </a:pPr>
            <a:r>
              <a:rPr lang="en-US" sz="1100" dirty="0">
                <a:solidFill>
                  <a:srgbClr val="475569"/>
                </a:solidFill>
              </a:rPr>
              <a:t>Fraction of predicted resistant isolates that are truly resistant</a:t>
            </a:r>
            <a:endParaRPr lang="en-US" sz="1100" dirty="0"/>
          </a:p>
        </p:txBody>
      </p:sp>
      <p:sp>
        <p:nvSpPr>
          <p:cNvPr id="17" name="Shape 15"/>
          <p:cNvSpPr/>
          <p:nvPr/>
        </p:nvSpPr>
        <p:spPr>
          <a:xfrm>
            <a:off x="274320" y="233172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274320" y="2331720"/>
            <a:ext cx="4114800" cy="73152"/>
          </a:xfrm>
          <a:prstGeom prst="rect">
            <a:avLst/>
          </a:prstGeom>
          <a:solidFill>
            <a:srgbClr val="D97706"/>
          </a:solidFill>
          <a:ln w="12700">
            <a:solidFill>
              <a:srgbClr val="D97706"/>
            </a:solidFill>
            <a:prstDash val="solid"/>
          </a:ln>
        </p:spPr>
      </p:sp>
      <p:sp>
        <p:nvSpPr>
          <p:cNvPr id="19" name="Text 17"/>
          <p:cNvSpPr/>
          <p:nvPr/>
        </p:nvSpPr>
        <p:spPr>
          <a:xfrm>
            <a:off x="411480" y="2468880"/>
            <a:ext cx="1828800" cy="320040"/>
          </a:xfrm>
          <a:prstGeom prst="rect">
            <a:avLst/>
          </a:prstGeom>
          <a:noFill/>
          <a:ln/>
        </p:spPr>
        <p:txBody>
          <a:bodyPr wrap="square" lIns="0" tIns="0" rIns="0" bIns="0" rtlCol="0" anchor="ctr"/>
          <a:lstStyle/>
          <a:p>
            <a:pPr marL="0" indent="0">
              <a:buNone/>
            </a:pPr>
            <a:r>
              <a:rPr lang="en-US" sz="1400" b="1" dirty="0">
                <a:solidFill>
                  <a:srgbClr val="D97706"/>
                </a:solidFill>
              </a:rPr>
              <a:t>Recall</a:t>
            </a:r>
            <a:endParaRPr lang="en-US" sz="1400" dirty="0"/>
          </a:p>
        </p:txBody>
      </p:sp>
      <p:sp>
        <p:nvSpPr>
          <p:cNvPr id="20" name="Shape 18"/>
          <p:cNvSpPr/>
          <p:nvPr/>
        </p:nvSpPr>
        <p:spPr>
          <a:xfrm>
            <a:off x="2377440" y="2468880"/>
            <a:ext cx="1874520" cy="320040"/>
          </a:xfrm>
          <a:prstGeom prst="rect">
            <a:avLst/>
          </a:prstGeom>
          <a:solidFill>
            <a:srgbClr val="1E293B"/>
          </a:solidFill>
          <a:ln w="12700">
            <a:solidFill>
              <a:srgbClr val="1E293B"/>
            </a:solidFill>
            <a:prstDash val="solid"/>
          </a:ln>
        </p:spPr>
      </p:sp>
      <p:sp>
        <p:nvSpPr>
          <p:cNvPr id="21" name="Text 19"/>
          <p:cNvSpPr/>
          <p:nvPr/>
        </p:nvSpPr>
        <p:spPr>
          <a:xfrm>
            <a:off x="2377440" y="246888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TP / (TP + FN)</a:t>
            </a:r>
            <a:endParaRPr lang="en-US" sz="1000" dirty="0"/>
          </a:p>
        </p:txBody>
      </p:sp>
      <p:sp>
        <p:nvSpPr>
          <p:cNvPr id="22" name="Text 20"/>
          <p:cNvSpPr/>
          <p:nvPr/>
        </p:nvSpPr>
        <p:spPr>
          <a:xfrm>
            <a:off x="411480" y="2862072"/>
            <a:ext cx="3840480" cy="502920"/>
          </a:xfrm>
          <a:prstGeom prst="rect">
            <a:avLst/>
          </a:prstGeom>
          <a:noFill/>
          <a:ln/>
        </p:spPr>
        <p:txBody>
          <a:bodyPr wrap="square" lIns="0" tIns="0" rIns="0" bIns="0" rtlCol="0" anchor="ctr"/>
          <a:lstStyle/>
          <a:p>
            <a:pPr marL="0" indent="0">
              <a:buNone/>
            </a:pPr>
            <a:r>
              <a:rPr lang="en-US" sz="1100" dirty="0">
                <a:solidFill>
                  <a:srgbClr val="475569"/>
                </a:solidFill>
              </a:rPr>
              <a:t>Fraction of truly resistant isolates correctly identified — clinically critical</a:t>
            </a:r>
            <a:endParaRPr lang="en-US" sz="1100" dirty="0"/>
          </a:p>
        </p:txBody>
      </p:sp>
      <p:sp>
        <p:nvSpPr>
          <p:cNvPr id="23" name="Shape 21"/>
          <p:cNvSpPr/>
          <p:nvPr/>
        </p:nvSpPr>
        <p:spPr>
          <a:xfrm>
            <a:off x="4709160" y="233172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24" name="Shape 22"/>
          <p:cNvSpPr/>
          <p:nvPr/>
        </p:nvSpPr>
        <p:spPr>
          <a:xfrm>
            <a:off x="4709160" y="2331720"/>
            <a:ext cx="4114800" cy="73152"/>
          </a:xfrm>
          <a:prstGeom prst="rect">
            <a:avLst/>
          </a:prstGeom>
          <a:solidFill>
            <a:srgbClr val="7C3AED"/>
          </a:solidFill>
          <a:ln w="12700">
            <a:solidFill>
              <a:srgbClr val="7C3AED"/>
            </a:solidFill>
            <a:prstDash val="solid"/>
          </a:ln>
        </p:spPr>
      </p:sp>
      <p:sp>
        <p:nvSpPr>
          <p:cNvPr id="25" name="Text 23"/>
          <p:cNvSpPr/>
          <p:nvPr/>
        </p:nvSpPr>
        <p:spPr>
          <a:xfrm>
            <a:off x="4846320" y="2468880"/>
            <a:ext cx="1828800" cy="320040"/>
          </a:xfrm>
          <a:prstGeom prst="rect">
            <a:avLst/>
          </a:prstGeom>
          <a:noFill/>
          <a:ln/>
        </p:spPr>
        <p:txBody>
          <a:bodyPr wrap="square" lIns="0" tIns="0" rIns="0" bIns="0" rtlCol="0" anchor="ctr"/>
          <a:lstStyle/>
          <a:p>
            <a:pPr marL="0" indent="0">
              <a:buNone/>
            </a:pPr>
            <a:r>
              <a:rPr lang="en-US" sz="1400" b="1" dirty="0">
                <a:solidFill>
                  <a:srgbClr val="7C3AED"/>
                </a:solidFill>
              </a:rPr>
              <a:t>F1-Score</a:t>
            </a:r>
            <a:endParaRPr lang="en-US" sz="1400" dirty="0"/>
          </a:p>
        </p:txBody>
      </p:sp>
      <p:sp>
        <p:nvSpPr>
          <p:cNvPr id="26" name="Shape 24"/>
          <p:cNvSpPr/>
          <p:nvPr/>
        </p:nvSpPr>
        <p:spPr>
          <a:xfrm>
            <a:off x="6812280" y="2468880"/>
            <a:ext cx="1874520" cy="320040"/>
          </a:xfrm>
          <a:prstGeom prst="rect">
            <a:avLst/>
          </a:prstGeom>
          <a:solidFill>
            <a:srgbClr val="1E293B"/>
          </a:solidFill>
          <a:ln w="12700">
            <a:solidFill>
              <a:srgbClr val="1E293B"/>
            </a:solidFill>
            <a:prstDash val="solid"/>
          </a:ln>
        </p:spPr>
      </p:sp>
      <p:sp>
        <p:nvSpPr>
          <p:cNvPr id="27" name="Text 25"/>
          <p:cNvSpPr/>
          <p:nvPr/>
        </p:nvSpPr>
        <p:spPr>
          <a:xfrm>
            <a:off x="6812280" y="246888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2 × (P × R) / (P + R)</a:t>
            </a:r>
            <a:endParaRPr lang="en-US" sz="1000" dirty="0"/>
          </a:p>
        </p:txBody>
      </p:sp>
      <p:sp>
        <p:nvSpPr>
          <p:cNvPr id="28" name="Text 26"/>
          <p:cNvSpPr/>
          <p:nvPr/>
        </p:nvSpPr>
        <p:spPr>
          <a:xfrm>
            <a:off x="4846320" y="2862072"/>
            <a:ext cx="3840480" cy="502920"/>
          </a:xfrm>
          <a:prstGeom prst="rect">
            <a:avLst/>
          </a:prstGeom>
          <a:noFill/>
          <a:ln/>
        </p:spPr>
        <p:txBody>
          <a:bodyPr wrap="square" lIns="0" tIns="0" rIns="0" bIns="0" rtlCol="0" anchor="ctr"/>
          <a:lstStyle/>
          <a:p>
            <a:pPr marL="0" indent="0">
              <a:buNone/>
            </a:pPr>
            <a:r>
              <a:rPr lang="en-US" sz="1100" dirty="0">
                <a:solidFill>
                  <a:srgbClr val="475569"/>
                </a:solidFill>
              </a:rPr>
              <a:t>Harmonic mean of precision and recall; balances both metrics</a:t>
            </a:r>
            <a:endParaRPr lang="en-US" sz="1100" dirty="0"/>
          </a:p>
        </p:txBody>
      </p:sp>
      <p:sp>
        <p:nvSpPr>
          <p:cNvPr id="29" name="Shape 27"/>
          <p:cNvSpPr/>
          <p:nvPr/>
        </p:nvSpPr>
        <p:spPr>
          <a:xfrm>
            <a:off x="274320" y="361188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274320" y="3611880"/>
            <a:ext cx="4114800" cy="73152"/>
          </a:xfrm>
          <a:prstGeom prst="rect">
            <a:avLst/>
          </a:prstGeom>
          <a:solidFill>
            <a:srgbClr val="DC2626"/>
          </a:solidFill>
          <a:ln w="12700">
            <a:solidFill>
              <a:srgbClr val="DC2626"/>
            </a:solidFill>
            <a:prstDash val="solid"/>
          </a:ln>
        </p:spPr>
      </p:sp>
      <p:sp>
        <p:nvSpPr>
          <p:cNvPr id="31" name="Text 29"/>
          <p:cNvSpPr/>
          <p:nvPr/>
        </p:nvSpPr>
        <p:spPr>
          <a:xfrm>
            <a:off x="411480" y="3749040"/>
            <a:ext cx="1828800" cy="320040"/>
          </a:xfrm>
          <a:prstGeom prst="rect">
            <a:avLst/>
          </a:prstGeom>
          <a:noFill/>
          <a:ln/>
        </p:spPr>
        <p:txBody>
          <a:bodyPr wrap="square" lIns="0" tIns="0" rIns="0" bIns="0" rtlCol="0" anchor="ctr"/>
          <a:lstStyle/>
          <a:p>
            <a:pPr marL="0" indent="0">
              <a:buNone/>
            </a:pPr>
            <a:r>
              <a:rPr lang="en-US" sz="1400" b="1" dirty="0">
                <a:solidFill>
                  <a:srgbClr val="DC2626"/>
                </a:solidFill>
              </a:rPr>
              <a:t>AUC-ROC</a:t>
            </a:r>
            <a:endParaRPr lang="en-US" sz="1400" dirty="0"/>
          </a:p>
        </p:txBody>
      </p:sp>
      <p:sp>
        <p:nvSpPr>
          <p:cNvPr id="32" name="Shape 30"/>
          <p:cNvSpPr/>
          <p:nvPr/>
        </p:nvSpPr>
        <p:spPr>
          <a:xfrm>
            <a:off x="2377440" y="3749040"/>
            <a:ext cx="1874520" cy="320040"/>
          </a:xfrm>
          <a:prstGeom prst="rect">
            <a:avLst/>
          </a:prstGeom>
          <a:solidFill>
            <a:srgbClr val="1E293B"/>
          </a:solidFill>
          <a:ln w="12700">
            <a:solidFill>
              <a:srgbClr val="1E293B"/>
            </a:solidFill>
            <a:prstDash val="solid"/>
          </a:ln>
        </p:spPr>
      </p:sp>
      <p:sp>
        <p:nvSpPr>
          <p:cNvPr id="33" name="Text 31"/>
          <p:cNvSpPr/>
          <p:nvPr/>
        </p:nvSpPr>
        <p:spPr>
          <a:xfrm>
            <a:off x="2377440" y="374904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Area under ROC curve</a:t>
            </a:r>
            <a:endParaRPr lang="en-US" sz="1000" dirty="0"/>
          </a:p>
        </p:txBody>
      </p:sp>
      <p:sp>
        <p:nvSpPr>
          <p:cNvPr id="34" name="Text 32"/>
          <p:cNvSpPr/>
          <p:nvPr/>
        </p:nvSpPr>
        <p:spPr>
          <a:xfrm>
            <a:off x="411480" y="4142232"/>
            <a:ext cx="3840480" cy="502920"/>
          </a:xfrm>
          <a:prstGeom prst="rect">
            <a:avLst/>
          </a:prstGeom>
          <a:noFill/>
          <a:ln/>
        </p:spPr>
        <p:txBody>
          <a:bodyPr wrap="square" lIns="0" tIns="0" rIns="0" bIns="0" rtlCol="0" anchor="ctr"/>
          <a:lstStyle/>
          <a:p>
            <a:pPr marL="0" indent="0">
              <a:buNone/>
            </a:pPr>
            <a:r>
              <a:rPr lang="en-US" sz="1100" dirty="0">
                <a:solidFill>
                  <a:srgbClr val="475569"/>
                </a:solidFill>
              </a:rPr>
              <a:t>Threshold-independent discrimination ability; 0.5=random, 1.0=perfect</a:t>
            </a:r>
            <a:endParaRPr lang="en-US" sz="1100" dirty="0"/>
          </a:p>
        </p:txBody>
      </p:sp>
      <p:sp>
        <p:nvSpPr>
          <p:cNvPr id="35" name="Shape 33"/>
          <p:cNvSpPr/>
          <p:nvPr/>
        </p:nvSpPr>
        <p:spPr>
          <a:xfrm>
            <a:off x="4709160" y="3611880"/>
            <a:ext cx="4114800" cy="114300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36" name="Shape 34"/>
          <p:cNvSpPr/>
          <p:nvPr/>
        </p:nvSpPr>
        <p:spPr>
          <a:xfrm>
            <a:off x="4709160" y="3611880"/>
            <a:ext cx="4114800" cy="73152"/>
          </a:xfrm>
          <a:prstGeom prst="rect">
            <a:avLst/>
          </a:prstGeom>
          <a:solidFill>
            <a:srgbClr val="0891B2"/>
          </a:solidFill>
          <a:ln w="12700">
            <a:solidFill>
              <a:srgbClr val="0891B2"/>
            </a:solidFill>
            <a:prstDash val="solid"/>
          </a:ln>
        </p:spPr>
      </p:sp>
      <p:sp>
        <p:nvSpPr>
          <p:cNvPr id="37" name="Text 35"/>
          <p:cNvSpPr/>
          <p:nvPr/>
        </p:nvSpPr>
        <p:spPr>
          <a:xfrm>
            <a:off x="4846320" y="3749040"/>
            <a:ext cx="1828800" cy="320040"/>
          </a:xfrm>
          <a:prstGeom prst="rect">
            <a:avLst/>
          </a:prstGeom>
          <a:noFill/>
          <a:ln/>
        </p:spPr>
        <p:txBody>
          <a:bodyPr wrap="square" lIns="0" tIns="0" rIns="0" bIns="0" rtlCol="0" anchor="ctr"/>
          <a:lstStyle/>
          <a:p>
            <a:pPr marL="0" indent="0">
              <a:buNone/>
            </a:pPr>
            <a:r>
              <a:rPr lang="en-US" sz="1400" b="1" dirty="0">
                <a:solidFill>
                  <a:srgbClr val="0891B2"/>
                </a:solidFill>
              </a:rPr>
              <a:t>5-Fold CV</a:t>
            </a:r>
            <a:endParaRPr lang="en-US" sz="1400" dirty="0"/>
          </a:p>
        </p:txBody>
      </p:sp>
      <p:sp>
        <p:nvSpPr>
          <p:cNvPr id="38" name="Shape 36"/>
          <p:cNvSpPr/>
          <p:nvPr/>
        </p:nvSpPr>
        <p:spPr>
          <a:xfrm>
            <a:off x="6812280" y="3749040"/>
            <a:ext cx="1874520" cy="320040"/>
          </a:xfrm>
          <a:prstGeom prst="rect">
            <a:avLst/>
          </a:prstGeom>
          <a:solidFill>
            <a:srgbClr val="1E293B"/>
          </a:solidFill>
          <a:ln w="12700">
            <a:solidFill>
              <a:srgbClr val="1E293B"/>
            </a:solidFill>
            <a:prstDash val="solid"/>
          </a:ln>
        </p:spPr>
      </p:sp>
      <p:sp>
        <p:nvSpPr>
          <p:cNvPr id="39" name="Text 37"/>
          <p:cNvSpPr/>
          <p:nvPr/>
        </p:nvSpPr>
        <p:spPr>
          <a:xfrm>
            <a:off x="6812280" y="3749040"/>
            <a:ext cx="1874520" cy="320040"/>
          </a:xfrm>
          <a:prstGeom prst="rect">
            <a:avLst/>
          </a:prstGeom>
          <a:noFill/>
          <a:ln/>
        </p:spPr>
        <p:txBody>
          <a:bodyPr wrap="square" lIns="0" tIns="0" rIns="0" bIns="0" rtlCol="0" anchor="ctr"/>
          <a:lstStyle/>
          <a:p>
            <a:pPr marL="0" indent="0" algn="ctr">
              <a:buNone/>
            </a:pPr>
            <a:r>
              <a:rPr lang="en-US" sz="1000" b="1" dirty="0">
                <a:solidFill>
                  <a:srgbClr val="5EEAD4"/>
                </a:solidFill>
              </a:rPr>
              <a:t>Stratified K-Fold</a:t>
            </a:r>
            <a:endParaRPr lang="en-US" sz="1000" dirty="0"/>
          </a:p>
        </p:txBody>
      </p:sp>
      <p:sp>
        <p:nvSpPr>
          <p:cNvPr id="40" name="Text 38"/>
          <p:cNvSpPr/>
          <p:nvPr/>
        </p:nvSpPr>
        <p:spPr>
          <a:xfrm>
            <a:off x="4846320" y="4142232"/>
            <a:ext cx="3840480" cy="502920"/>
          </a:xfrm>
          <a:prstGeom prst="rect">
            <a:avLst/>
          </a:prstGeom>
          <a:noFill/>
          <a:ln/>
        </p:spPr>
        <p:txBody>
          <a:bodyPr wrap="square" lIns="0" tIns="0" rIns="0" bIns="0" rtlCol="0" anchor="ctr"/>
          <a:lstStyle/>
          <a:p>
            <a:pPr marL="0" indent="0">
              <a:buNone/>
            </a:pPr>
            <a:r>
              <a:rPr lang="en-US" sz="1100" dirty="0">
                <a:solidFill>
                  <a:srgbClr val="475569"/>
                </a:solidFill>
              </a:rPr>
              <a:t>Robust generalization estimate; guards against overfitting to test split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37160"/>
            <a:ext cx="8229600" cy="320040"/>
          </a:xfrm>
          <a:prstGeom prst="rect">
            <a:avLst/>
          </a:prstGeom>
          <a:noFill/>
          <a:ln/>
        </p:spPr>
        <p:txBody>
          <a:bodyPr wrap="square" rtlCol="0" anchor="ctr"/>
          <a:lstStyle/>
          <a:p>
            <a:pPr marL="0" indent="0">
              <a:buNone/>
            </a:pPr>
            <a:r>
              <a:rPr lang="en-US" sz="1100" b="1" kern="0" spc="200" dirty="0">
                <a:solidFill>
                  <a:srgbClr val="5EEAD4"/>
                </a:solidFill>
              </a:rPr>
              <a:t>Chapter 4  |  Results &amp; Discussion</a:t>
            </a:r>
            <a:endParaRPr lang="en-US" sz="1100" dirty="0"/>
          </a:p>
        </p:txBody>
      </p:sp>
      <p:sp>
        <p:nvSpPr>
          <p:cNvPr id="4" name="Text 2"/>
          <p:cNvSpPr/>
          <p:nvPr/>
        </p:nvSpPr>
        <p:spPr>
          <a:xfrm>
            <a:off x="457200" y="457200"/>
            <a:ext cx="8229600" cy="457200"/>
          </a:xfrm>
          <a:prstGeom prst="rect">
            <a:avLst/>
          </a:prstGeom>
          <a:noFill/>
          <a:ln/>
        </p:spPr>
        <p:txBody>
          <a:bodyPr wrap="square" rtlCol="0" anchor="ctr"/>
          <a:lstStyle/>
          <a:p>
            <a:pPr marL="0" indent="0">
              <a:buNone/>
            </a:pPr>
            <a:r>
              <a:rPr lang="en-US" sz="2600" b="1" dirty="0">
                <a:solidFill>
                  <a:srgbClr val="FFFFFF"/>
                </a:solidFill>
              </a:rPr>
              <a:t>Comparative Model Performance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xmlns="" val="1579011935"/>
              </p:ext>
            </p:extLst>
          </p:nvPr>
        </p:nvGraphicFramePr>
        <p:xfrm>
          <a:off x="457200" y="1097280"/>
          <a:ext cx="8229600" cy="2103120"/>
        </p:xfrm>
        <a:graphic>
          <a:graphicData uri="http://schemas.openxmlformats.org/drawingml/2006/table">
            <a:tbl>
              <a:tblPr/>
              <a:tblGrid>
                <a:gridCol w="2194560"/>
                <a:gridCol w="1554480"/>
                <a:gridCol w="1554480"/>
                <a:gridCol w="1554480"/>
                <a:gridCol w="1371600"/>
              </a:tblGrid>
              <a:tr h="420624">
                <a:tc>
                  <a:txBody>
                    <a:bodyPr/>
                    <a:lstStyle/>
                    <a:p>
                      <a:pPr marL="0" indent="0" algn="ctr">
                        <a:buNone/>
                      </a:pPr>
                      <a:r>
                        <a:rPr lang="en-US" sz="1300" b="1" dirty="0">
                          <a:solidFill>
                            <a:srgbClr val="FFFFFF"/>
                          </a:solidFill>
                        </a:rPr>
                        <a:t>Model</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9488"/>
                    </a:solidFill>
                  </a:tcPr>
                </a:tc>
                <a:tc>
                  <a:txBody>
                    <a:bodyPr/>
                    <a:lstStyle/>
                    <a:p>
                      <a:pPr marL="0" indent="0" algn="ctr">
                        <a:buNone/>
                      </a:pPr>
                      <a:r>
                        <a:rPr lang="en-US" sz="1300" b="1" dirty="0">
                          <a:solidFill>
                            <a:srgbClr val="FFFFFF"/>
                          </a:solidFill>
                        </a:rPr>
                        <a:t>Train Accuracy</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9488"/>
                    </a:solidFill>
                  </a:tcPr>
                </a:tc>
                <a:tc>
                  <a:txBody>
                    <a:bodyPr/>
                    <a:lstStyle/>
                    <a:p>
                      <a:pPr marL="0" indent="0" algn="ctr">
                        <a:buNone/>
                      </a:pPr>
                      <a:r>
                        <a:rPr lang="en-US" sz="1300" b="1" dirty="0">
                          <a:solidFill>
                            <a:srgbClr val="FFFFFF"/>
                          </a:solidFill>
                        </a:rPr>
                        <a:t>Test Accuracy</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9488"/>
                    </a:solidFill>
                  </a:tcPr>
                </a:tc>
                <a:tc>
                  <a:txBody>
                    <a:bodyPr/>
                    <a:lstStyle/>
                    <a:p>
                      <a:pPr marL="0" indent="0" algn="ctr">
                        <a:buNone/>
                      </a:pPr>
                      <a:r>
                        <a:rPr lang="en-US" sz="1300" b="1" dirty="0">
                          <a:solidFill>
                            <a:srgbClr val="FFFFFF"/>
                          </a:solidFill>
                        </a:rPr>
                        <a:t>CV Mean</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9488"/>
                    </a:solidFill>
                  </a:tcPr>
                </a:tc>
                <a:tc>
                  <a:txBody>
                    <a:bodyPr/>
                    <a:lstStyle/>
                    <a:p>
                      <a:pPr marL="0" indent="0" algn="ctr">
                        <a:buNone/>
                      </a:pPr>
                      <a:r>
                        <a:rPr lang="en-US" sz="1300" b="1" dirty="0">
                          <a:solidFill>
                            <a:srgbClr val="FFFFFF"/>
                          </a:solidFill>
                        </a:rPr>
                        <a:t>AUC-ROC</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9488"/>
                    </a:solidFill>
                  </a:tcPr>
                </a:tc>
              </a:tr>
              <a:tr h="420624">
                <a:tc>
                  <a:txBody>
                    <a:bodyPr/>
                    <a:lstStyle/>
                    <a:p>
                      <a:pPr marL="0" indent="0" algn="l">
                        <a:buNone/>
                      </a:pPr>
                      <a:r>
                        <a:rPr lang="en-US" sz="1300" dirty="0">
                          <a:solidFill>
                            <a:srgbClr val="FFFFFF"/>
                          </a:solidFill>
                        </a:rPr>
                        <a:t>Random Forest</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0.9775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0.92</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0.8725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0.9774</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r>
              <a:tr h="420624">
                <a:tc>
                  <a:txBody>
                    <a:bodyPr/>
                    <a:lstStyle/>
                    <a:p>
                      <a:pPr marL="0" indent="0" algn="l">
                        <a:buNone/>
                      </a:pPr>
                      <a:r>
                        <a:rPr lang="en-US" sz="1300" dirty="0">
                          <a:solidFill>
                            <a:srgbClr val="FFFFFF"/>
                          </a:solidFill>
                        </a:rPr>
                        <a:t>Gradient Boosting</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0.9950</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0.91</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0.8350</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0.9479</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r>
              <a:tr h="420624">
                <a:tc>
                  <a:txBody>
                    <a:bodyPr/>
                    <a:lstStyle/>
                    <a:p>
                      <a:pPr marL="0" indent="0" algn="l">
                        <a:buNone/>
                      </a:pPr>
                      <a:r>
                        <a:rPr lang="en-US" sz="1300" dirty="0">
                          <a:solidFill>
                            <a:srgbClr val="FFFFFF"/>
                          </a:solidFill>
                        </a:rPr>
                        <a:t>SVM (RBF)</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0.5775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0.85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0.8425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c>
                  <a:txBody>
                    <a:bodyPr/>
                    <a:lstStyle/>
                    <a:p>
                      <a:pPr marL="0" indent="0" algn="ctr">
                        <a:buNone/>
                      </a:pPr>
                      <a:r>
                        <a:rPr lang="en-US" sz="1300" b="1" dirty="0">
                          <a:solidFill>
                            <a:srgbClr val="5EEAD4"/>
                          </a:solidFill>
                        </a:rPr>
                        <a:t>0.9413</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32038"/>
                    </a:solidFill>
                  </a:tcPr>
                </a:tc>
              </a:tr>
              <a:tr h="420624">
                <a:tc>
                  <a:txBody>
                    <a:bodyPr/>
                    <a:lstStyle/>
                    <a:p>
                      <a:pPr marL="0" indent="0" algn="l">
                        <a:buNone/>
                      </a:pPr>
                      <a:r>
                        <a:rPr lang="en-US" sz="1300" dirty="0">
                          <a:solidFill>
                            <a:srgbClr val="FFFFFF"/>
                          </a:solidFill>
                        </a:rPr>
                        <a:t>Logistic Regression</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0.5775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0.95</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0.8600</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c>
                  <a:txBody>
                    <a:bodyPr/>
                    <a:lstStyle/>
                    <a:p>
                      <a:pPr marL="0" indent="0" algn="ctr">
                        <a:buNone/>
                      </a:pPr>
                      <a:r>
                        <a:rPr lang="en-US" sz="1300" b="1" dirty="0">
                          <a:solidFill>
                            <a:srgbClr val="5EEAD4"/>
                          </a:solidFill>
                        </a:rPr>
                        <a:t>0.9737</a:t>
                      </a:r>
                      <a:endParaRPr lang="en-US" sz="13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F1F35"/>
                    </a:solidFill>
                  </a:tcPr>
                </a:tc>
              </a:tr>
            </a:tbl>
          </a:graphicData>
        </a:graphic>
      </p:graphicFrame>
      <p:sp>
        <p:nvSpPr>
          <p:cNvPr id="6" name="Shape 3"/>
          <p:cNvSpPr/>
          <p:nvPr/>
        </p:nvSpPr>
        <p:spPr>
          <a:xfrm>
            <a:off x="457200" y="3383280"/>
            <a:ext cx="8229600" cy="1371600"/>
          </a:xfrm>
          <a:prstGeom prst="rect">
            <a:avLst/>
          </a:prstGeom>
          <a:solidFill>
            <a:srgbClr val="0A2240"/>
          </a:solidFill>
          <a:ln w="19050">
            <a:solidFill>
              <a:srgbClr val="0D9488"/>
            </a:solidFill>
            <a:prstDash val="solid"/>
          </a:ln>
        </p:spPr>
      </p:sp>
      <p:sp>
        <p:nvSpPr>
          <p:cNvPr id="7" name="Text 4"/>
          <p:cNvSpPr/>
          <p:nvPr/>
        </p:nvSpPr>
        <p:spPr>
          <a:xfrm>
            <a:off x="731520" y="3493008"/>
            <a:ext cx="7315200" cy="320040"/>
          </a:xfrm>
          <a:prstGeom prst="rect">
            <a:avLst/>
          </a:prstGeom>
          <a:noFill/>
          <a:ln/>
        </p:spPr>
        <p:txBody>
          <a:bodyPr wrap="square" lIns="0" tIns="0" rIns="0" bIns="0" rtlCol="0" anchor="ctr"/>
          <a:lstStyle/>
          <a:p>
            <a:pPr marL="0" indent="0">
              <a:buNone/>
            </a:pPr>
            <a:r>
              <a:rPr lang="en-US" sz="1300" b="1" dirty="0">
                <a:solidFill>
                  <a:srgbClr val="0D9488"/>
                </a:solidFill>
              </a:rPr>
              <a:t>Key Insights</a:t>
            </a:r>
            <a:endParaRPr lang="en-US" sz="1300" dirty="0"/>
          </a:p>
        </p:txBody>
      </p:sp>
      <p:sp>
        <p:nvSpPr>
          <p:cNvPr id="8" name="Text 5"/>
          <p:cNvSpPr/>
          <p:nvPr/>
        </p:nvSpPr>
        <p:spPr>
          <a:xfrm>
            <a:off x="731520" y="3822192"/>
            <a:ext cx="7772400" cy="822960"/>
          </a:xfrm>
          <a:prstGeom prst="rect">
            <a:avLst/>
          </a:prstGeom>
          <a:noFill/>
          <a:ln/>
        </p:spPr>
        <p:txBody>
          <a:bodyPr wrap="square" lIns="0" tIns="0" rIns="0" bIns="0" rtlCol="0" anchor="ctr"/>
          <a:lstStyle/>
          <a:p>
            <a:pPr marL="0" indent="0">
              <a:buNone/>
            </a:pPr>
            <a:r>
              <a:rPr lang="en-US" sz="1100" dirty="0">
                <a:solidFill>
                  <a:srgbClr val="94A3B8"/>
                </a:solidFill>
              </a:rPr>
              <a:t>• </a:t>
            </a:r>
            <a:r>
              <a:rPr lang="en-US" sz="1100" b="1" dirty="0">
                <a:solidFill>
                  <a:srgbClr val="5EEAD4"/>
                </a:solidFill>
              </a:rPr>
              <a:t>Random Forest</a:t>
            </a:r>
            <a:r>
              <a:rPr lang="en-US" sz="1100" dirty="0">
                <a:solidFill>
                  <a:srgbClr val="94A3B8"/>
                </a:solidFill>
              </a:rPr>
              <a:t> achieved the highest AUC (0.9774) and best test accuracy at 0.92  • </a:t>
            </a:r>
            <a:r>
              <a:rPr lang="en-US" sz="1100" b="1" dirty="0">
                <a:solidFill>
                  <a:srgbClr val="5EEAD4"/>
                </a:solidFill>
              </a:rPr>
              <a:t>Logistic Regression</a:t>
            </a:r>
            <a:r>
              <a:rPr lang="en-US" sz="1100" dirty="0">
                <a:solidFill>
                  <a:srgbClr val="94A3B8"/>
                </a:solidFill>
              </a:rPr>
              <a:t> showed highest test accuracy (0.95), indicating linearly separable resistance patterns  • </a:t>
            </a:r>
            <a:r>
              <a:rPr lang="en-US" sz="1100" b="1" dirty="0">
                <a:solidFill>
                  <a:srgbClr val="5EEAD4"/>
                </a:solidFill>
              </a:rPr>
              <a:t>All models exceed 0.94 AUC</a:t>
            </a:r>
            <a:r>
              <a:rPr lang="en-US" sz="1100" dirty="0">
                <a:solidFill>
                  <a:srgbClr val="94A3B8"/>
                </a:solidFill>
              </a:rPr>
              <a:t> — exceptional discriminative ability for AMR prediction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4  |  Results</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600" b="1" dirty="0">
                <a:solidFill>
                  <a:srgbClr val="FFFFFF"/>
                </a:solidFill>
              </a:rPr>
              <a:t>Model Accuracy Comparison</a:t>
            </a:r>
            <a:endParaRPr lang="en-US" sz="2600" dirty="0"/>
          </a:p>
        </p:txBody>
      </p:sp>
      <p:graphicFrame>
        <p:nvGraphicFramePr>
          <p:cNvPr id="5" name="Chart 0"/>
          <p:cNvGraphicFramePr/>
          <p:nvPr/>
        </p:nvGraphicFramePr>
        <p:xfrm>
          <a:off x="365760" y="1051560"/>
          <a:ext cx="530352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852160" y="1051560"/>
          <a:ext cx="30175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852160" y="914400"/>
            <a:ext cx="3017520" cy="274320"/>
          </a:xfrm>
          <a:prstGeom prst="rect">
            <a:avLst/>
          </a:prstGeom>
          <a:noFill/>
          <a:ln/>
        </p:spPr>
        <p:txBody>
          <a:bodyPr wrap="square" rtlCol="0" anchor="ctr"/>
          <a:lstStyle/>
          <a:p>
            <a:pPr marL="0" indent="0" algn="ctr">
              <a:buNone/>
            </a:pPr>
            <a:r>
              <a:rPr lang="en-US" sz="1100" b="1" dirty="0">
                <a:solidFill>
                  <a:srgbClr val="1E293B"/>
                </a:solidFill>
              </a:rPr>
              <a:t>AUC-ROC Scores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800" b="1" dirty="0">
                <a:solidFill>
                  <a:srgbClr val="0A1628"/>
                </a:solidFill>
              </a:rPr>
              <a:t>Feature Importance Analysis</a:t>
            </a:r>
            <a:endParaRPr lang="en-US" sz="2800" dirty="0"/>
          </a:p>
        </p:txBody>
      </p:sp>
      <p:sp>
        <p:nvSpPr>
          <p:cNvPr id="4" name="Text 2"/>
          <p:cNvSpPr/>
          <p:nvPr/>
        </p:nvSpPr>
        <p:spPr>
          <a:xfrm>
            <a:off x="365760" y="749808"/>
            <a:ext cx="8412480" cy="320040"/>
          </a:xfrm>
          <a:prstGeom prst="rect">
            <a:avLst/>
          </a:prstGeom>
          <a:noFill/>
          <a:ln/>
        </p:spPr>
        <p:txBody>
          <a:bodyPr wrap="square" rtlCol="0" anchor="ctr"/>
          <a:lstStyle/>
          <a:p>
            <a:pPr marL="0" indent="0">
              <a:buNone/>
            </a:pPr>
            <a:r>
              <a:rPr lang="en-US" sz="1200" dirty="0">
                <a:solidFill>
                  <a:srgbClr val="475569"/>
                </a:solidFill>
              </a:rPr>
              <a:t>Random Forest — Top Genomic Features for Ciprofloxacin Resistance Prediction</a:t>
            </a:r>
            <a:endParaRPr lang="en-US" sz="1200" dirty="0"/>
          </a:p>
        </p:txBody>
      </p:sp>
      <p:sp>
        <p:nvSpPr>
          <p:cNvPr id="5" name="Text 3"/>
          <p:cNvSpPr/>
          <p:nvPr/>
        </p:nvSpPr>
        <p:spPr>
          <a:xfrm>
            <a:off x="274320" y="1207008"/>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efflux_pump_score</a:t>
            </a:r>
            <a:endParaRPr lang="en-US" sz="1100" dirty="0"/>
          </a:p>
        </p:txBody>
      </p:sp>
      <p:sp>
        <p:nvSpPr>
          <p:cNvPr id="6" name="Shape 4"/>
          <p:cNvSpPr/>
          <p:nvPr/>
        </p:nvSpPr>
        <p:spPr>
          <a:xfrm>
            <a:off x="2468880" y="1261872"/>
            <a:ext cx="2655418" cy="237744"/>
          </a:xfrm>
          <a:prstGeom prst="rect">
            <a:avLst/>
          </a:prstGeom>
          <a:solidFill>
            <a:srgbClr val="0D9488"/>
          </a:solidFill>
          <a:ln w="12700">
            <a:solidFill>
              <a:srgbClr val="0D9488"/>
            </a:solidFill>
            <a:prstDash val="solid"/>
          </a:ln>
        </p:spPr>
      </p:sp>
      <p:sp>
        <p:nvSpPr>
          <p:cNvPr id="7" name="Text 5"/>
          <p:cNvSpPr/>
          <p:nvPr/>
        </p:nvSpPr>
        <p:spPr>
          <a:xfrm>
            <a:off x="5170018" y="1207008"/>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24.2%</a:t>
            </a:r>
            <a:endParaRPr lang="en-US" sz="1000" dirty="0"/>
          </a:p>
        </p:txBody>
      </p:sp>
      <p:sp>
        <p:nvSpPr>
          <p:cNvPr id="8" name="Text 6"/>
          <p:cNvSpPr/>
          <p:nvPr/>
        </p:nvSpPr>
        <p:spPr>
          <a:xfrm>
            <a:off x="5669280" y="1207008"/>
            <a:ext cx="3200400" cy="320040"/>
          </a:xfrm>
          <a:prstGeom prst="rect">
            <a:avLst/>
          </a:prstGeom>
          <a:noFill/>
          <a:ln/>
        </p:spPr>
        <p:txBody>
          <a:bodyPr wrap="square" lIns="0" tIns="0" rIns="0" bIns="0" rtlCol="0" anchor="ctr"/>
          <a:lstStyle/>
          <a:p>
            <a:pPr marL="0" indent="0">
              <a:buNone/>
            </a:pPr>
            <a:r>
              <a:rPr lang="en-US" sz="1000" dirty="0">
                <a:solidFill>
                  <a:srgbClr val="475569"/>
                </a:solidFill>
              </a:rPr>
              <a:t>Primary fluoroquinolone efflux mechanism</a:t>
            </a:r>
            <a:endParaRPr lang="en-US" sz="1000" dirty="0"/>
          </a:p>
        </p:txBody>
      </p:sp>
      <p:sp>
        <p:nvSpPr>
          <p:cNvPr id="9" name="Text 7"/>
          <p:cNvSpPr/>
          <p:nvPr/>
        </p:nvSpPr>
        <p:spPr>
          <a:xfrm>
            <a:off x="274320" y="1682496"/>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mutation_gyrA</a:t>
            </a:r>
            <a:endParaRPr lang="en-US" sz="1100" dirty="0"/>
          </a:p>
        </p:txBody>
      </p:sp>
      <p:sp>
        <p:nvSpPr>
          <p:cNvPr id="10" name="Shape 8"/>
          <p:cNvSpPr/>
          <p:nvPr/>
        </p:nvSpPr>
        <p:spPr>
          <a:xfrm>
            <a:off x="2468880" y="1737360"/>
            <a:ext cx="2172614" cy="237744"/>
          </a:xfrm>
          <a:prstGeom prst="rect">
            <a:avLst/>
          </a:prstGeom>
          <a:solidFill>
            <a:srgbClr val="0D9488"/>
          </a:solidFill>
          <a:ln w="12700">
            <a:solidFill>
              <a:srgbClr val="0D9488"/>
            </a:solidFill>
            <a:prstDash val="solid"/>
          </a:ln>
        </p:spPr>
      </p:sp>
      <p:sp>
        <p:nvSpPr>
          <p:cNvPr id="11" name="Text 9"/>
          <p:cNvSpPr/>
          <p:nvPr/>
        </p:nvSpPr>
        <p:spPr>
          <a:xfrm>
            <a:off x="4687214" y="1682496"/>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19.8%</a:t>
            </a:r>
            <a:endParaRPr lang="en-US" sz="1000" dirty="0"/>
          </a:p>
        </p:txBody>
      </p:sp>
      <p:sp>
        <p:nvSpPr>
          <p:cNvPr id="12" name="Text 10"/>
          <p:cNvSpPr/>
          <p:nvPr/>
        </p:nvSpPr>
        <p:spPr>
          <a:xfrm>
            <a:off x="5669280" y="1682496"/>
            <a:ext cx="3200400" cy="320040"/>
          </a:xfrm>
          <a:prstGeom prst="rect">
            <a:avLst/>
          </a:prstGeom>
          <a:noFill/>
          <a:ln/>
        </p:spPr>
        <p:txBody>
          <a:bodyPr wrap="square" lIns="0" tIns="0" rIns="0" bIns="0" rtlCol="0" anchor="ctr"/>
          <a:lstStyle/>
          <a:p>
            <a:pPr marL="0" indent="0">
              <a:buNone/>
            </a:pPr>
            <a:r>
              <a:rPr lang="en-US" sz="1000" dirty="0">
                <a:solidFill>
                  <a:srgbClr val="475569"/>
                </a:solidFill>
              </a:rPr>
              <a:t>QRDR mutation — DNA gyrase subunit A</a:t>
            </a:r>
            <a:endParaRPr lang="en-US" sz="1000" dirty="0"/>
          </a:p>
        </p:txBody>
      </p:sp>
      <p:sp>
        <p:nvSpPr>
          <p:cNvPr id="13" name="Text 11"/>
          <p:cNvSpPr/>
          <p:nvPr/>
        </p:nvSpPr>
        <p:spPr>
          <a:xfrm>
            <a:off x="274320" y="2157984"/>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mutation_parC</a:t>
            </a:r>
            <a:endParaRPr lang="en-US" sz="1100" dirty="0"/>
          </a:p>
        </p:txBody>
      </p:sp>
      <p:sp>
        <p:nvSpPr>
          <p:cNvPr id="14" name="Shape 12"/>
          <p:cNvSpPr/>
          <p:nvPr/>
        </p:nvSpPr>
        <p:spPr>
          <a:xfrm>
            <a:off x="2468880" y="2212848"/>
            <a:ext cx="1832458" cy="237744"/>
          </a:xfrm>
          <a:prstGeom prst="rect">
            <a:avLst/>
          </a:prstGeom>
          <a:solidFill>
            <a:srgbClr val="0D9488"/>
          </a:solidFill>
          <a:ln w="12700">
            <a:solidFill>
              <a:srgbClr val="0D9488"/>
            </a:solidFill>
            <a:prstDash val="solid"/>
          </a:ln>
        </p:spPr>
      </p:sp>
      <p:sp>
        <p:nvSpPr>
          <p:cNvPr id="15" name="Text 13"/>
          <p:cNvSpPr/>
          <p:nvPr/>
        </p:nvSpPr>
        <p:spPr>
          <a:xfrm>
            <a:off x="4347058" y="2157984"/>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16.7%</a:t>
            </a:r>
            <a:endParaRPr lang="en-US" sz="1000" dirty="0"/>
          </a:p>
        </p:txBody>
      </p:sp>
      <p:sp>
        <p:nvSpPr>
          <p:cNvPr id="16" name="Text 14"/>
          <p:cNvSpPr/>
          <p:nvPr/>
        </p:nvSpPr>
        <p:spPr>
          <a:xfrm>
            <a:off x="5669280" y="2157984"/>
            <a:ext cx="3200400" cy="320040"/>
          </a:xfrm>
          <a:prstGeom prst="rect">
            <a:avLst/>
          </a:prstGeom>
          <a:noFill/>
          <a:ln/>
        </p:spPr>
        <p:txBody>
          <a:bodyPr wrap="square" lIns="0" tIns="0" rIns="0" bIns="0" rtlCol="0" anchor="ctr"/>
          <a:lstStyle/>
          <a:p>
            <a:pPr marL="0" indent="0">
              <a:buNone/>
            </a:pPr>
            <a:r>
              <a:rPr lang="en-US" sz="1000" dirty="0">
                <a:solidFill>
                  <a:srgbClr val="475569"/>
                </a:solidFill>
              </a:rPr>
              <a:t>QRDR mutation — Topoisomerase IV</a:t>
            </a:r>
            <a:endParaRPr lang="en-US" sz="1000" dirty="0"/>
          </a:p>
        </p:txBody>
      </p:sp>
      <p:sp>
        <p:nvSpPr>
          <p:cNvPr id="17" name="Text 15"/>
          <p:cNvSpPr/>
          <p:nvPr/>
        </p:nvSpPr>
        <p:spPr>
          <a:xfrm>
            <a:off x="274320" y="2633472"/>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plasmid_count</a:t>
            </a:r>
            <a:endParaRPr lang="en-US" sz="1100" dirty="0"/>
          </a:p>
        </p:txBody>
      </p:sp>
      <p:sp>
        <p:nvSpPr>
          <p:cNvPr id="18" name="Shape 16"/>
          <p:cNvSpPr/>
          <p:nvPr/>
        </p:nvSpPr>
        <p:spPr>
          <a:xfrm>
            <a:off x="2468880" y="2688336"/>
            <a:ext cx="1228954" cy="237744"/>
          </a:xfrm>
          <a:prstGeom prst="rect">
            <a:avLst/>
          </a:prstGeom>
          <a:solidFill>
            <a:srgbClr val="0D9488"/>
          </a:solidFill>
          <a:ln w="12700">
            <a:solidFill>
              <a:srgbClr val="0D9488"/>
            </a:solidFill>
            <a:prstDash val="solid"/>
          </a:ln>
        </p:spPr>
      </p:sp>
      <p:sp>
        <p:nvSpPr>
          <p:cNvPr id="19" name="Text 17"/>
          <p:cNvSpPr/>
          <p:nvPr/>
        </p:nvSpPr>
        <p:spPr>
          <a:xfrm>
            <a:off x="3743554" y="2633472"/>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11.2%</a:t>
            </a:r>
            <a:endParaRPr lang="en-US" sz="1000" dirty="0"/>
          </a:p>
        </p:txBody>
      </p:sp>
      <p:sp>
        <p:nvSpPr>
          <p:cNvPr id="20" name="Text 18"/>
          <p:cNvSpPr/>
          <p:nvPr/>
        </p:nvSpPr>
        <p:spPr>
          <a:xfrm>
            <a:off x="5669280" y="2633472"/>
            <a:ext cx="3200400" cy="320040"/>
          </a:xfrm>
          <a:prstGeom prst="rect">
            <a:avLst/>
          </a:prstGeom>
          <a:noFill/>
          <a:ln/>
        </p:spPr>
        <p:txBody>
          <a:bodyPr wrap="square" lIns="0" tIns="0" rIns="0" bIns="0" rtlCol="0" anchor="ctr"/>
          <a:lstStyle/>
          <a:p>
            <a:pPr marL="0" indent="0">
              <a:buNone/>
            </a:pPr>
            <a:r>
              <a:rPr lang="en-US" sz="1000" dirty="0">
                <a:solidFill>
                  <a:srgbClr val="475569"/>
                </a:solidFill>
              </a:rPr>
              <a:t>Mobile resistance gene vehicles</a:t>
            </a:r>
            <a:endParaRPr lang="en-US" sz="1000" dirty="0"/>
          </a:p>
        </p:txBody>
      </p:sp>
      <p:sp>
        <p:nvSpPr>
          <p:cNvPr id="21" name="Text 19"/>
          <p:cNvSpPr/>
          <p:nvPr/>
        </p:nvSpPr>
        <p:spPr>
          <a:xfrm>
            <a:off x="274320" y="3108960"/>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int1_integron</a:t>
            </a:r>
            <a:endParaRPr lang="en-US" sz="1100" dirty="0"/>
          </a:p>
        </p:txBody>
      </p:sp>
      <p:sp>
        <p:nvSpPr>
          <p:cNvPr id="22" name="Shape 20"/>
          <p:cNvSpPr/>
          <p:nvPr/>
        </p:nvSpPr>
        <p:spPr>
          <a:xfrm>
            <a:off x="2468880" y="3163824"/>
            <a:ext cx="976579" cy="237744"/>
          </a:xfrm>
          <a:prstGeom prst="rect">
            <a:avLst/>
          </a:prstGeom>
          <a:solidFill>
            <a:srgbClr val="0D9488"/>
          </a:solidFill>
          <a:ln w="12700">
            <a:solidFill>
              <a:srgbClr val="0D9488"/>
            </a:solidFill>
            <a:prstDash val="solid"/>
          </a:ln>
        </p:spPr>
      </p:sp>
      <p:sp>
        <p:nvSpPr>
          <p:cNvPr id="23" name="Text 21"/>
          <p:cNvSpPr/>
          <p:nvPr/>
        </p:nvSpPr>
        <p:spPr>
          <a:xfrm>
            <a:off x="3491179" y="3108960"/>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8.9%</a:t>
            </a:r>
            <a:endParaRPr lang="en-US" sz="1000" dirty="0"/>
          </a:p>
        </p:txBody>
      </p:sp>
      <p:sp>
        <p:nvSpPr>
          <p:cNvPr id="24" name="Text 22"/>
          <p:cNvSpPr/>
          <p:nvPr/>
        </p:nvSpPr>
        <p:spPr>
          <a:xfrm>
            <a:off x="5669280" y="3108960"/>
            <a:ext cx="3200400" cy="320040"/>
          </a:xfrm>
          <a:prstGeom prst="rect">
            <a:avLst/>
          </a:prstGeom>
          <a:noFill/>
          <a:ln/>
        </p:spPr>
        <p:txBody>
          <a:bodyPr wrap="square" lIns="0" tIns="0" rIns="0" bIns="0" rtlCol="0" anchor="ctr"/>
          <a:lstStyle/>
          <a:p>
            <a:pPr marL="0" indent="0">
              <a:buNone/>
            </a:pPr>
            <a:r>
              <a:rPr lang="en-US" sz="1000" dirty="0">
                <a:solidFill>
                  <a:srgbClr val="475569"/>
                </a:solidFill>
              </a:rPr>
              <a:t>HGT vehicle for resistance cassettes</a:t>
            </a:r>
            <a:endParaRPr lang="en-US" sz="1000" dirty="0"/>
          </a:p>
        </p:txBody>
      </p:sp>
      <p:sp>
        <p:nvSpPr>
          <p:cNvPr id="25" name="Text 23"/>
          <p:cNvSpPr/>
          <p:nvPr/>
        </p:nvSpPr>
        <p:spPr>
          <a:xfrm>
            <a:off x="274320" y="3584448"/>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virulence_score</a:t>
            </a:r>
            <a:endParaRPr lang="en-US" sz="1100" dirty="0"/>
          </a:p>
        </p:txBody>
      </p:sp>
      <p:sp>
        <p:nvSpPr>
          <p:cNvPr id="26" name="Shape 24"/>
          <p:cNvSpPr/>
          <p:nvPr/>
        </p:nvSpPr>
        <p:spPr>
          <a:xfrm>
            <a:off x="2468880" y="3639312"/>
            <a:ext cx="779069" cy="237744"/>
          </a:xfrm>
          <a:prstGeom prst="rect">
            <a:avLst/>
          </a:prstGeom>
          <a:solidFill>
            <a:srgbClr val="0D9488"/>
          </a:solidFill>
          <a:ln w="12700">
            <a:solidFill>
              <a:srgbClr val="0D9488"/>
            </a:solidFill>
            <a:prstDash val="solid"/>
          </a:ln>
        </p:spPr>
      </p:sp>
      <p:sp>
        <p:nvSpPr>
          <p:cNvPr id="27" name="Text 25"/>
          <p:cNvSpPr/>
          <p:nvPr/>
        </p:nvSpPr>
        <p:spPr>
          <a:xfrm>
            <a:off x="3293669" y="3584448"/>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7.1%</a:t>
            </a:r>
            <a:endParaRPr lang="en-US" sz="1000" dirty="0"/>
          </a:p>
        </p:txBody>
      </p:sp>
      <p:sp>
        <p:nvSpPr>
          <p:cNvPr id="28" name="Text 26"/>
          <p:cNvSpPr/>
          <p:nvPr/>
        </p:nvSpPr>
        <p:spPr>
          <a:xfrm>
            <a:off x="5669280" y="3584448"/>
            <a:ext cx="3200400" cy="320040"/>
          </a:xfrm>
          <a:prstGeom prst="rect">
            <a:avLst/>
          </a:prstGeom>
          <a:noFill/>
          <a:ln/>
        </p:spPr>
        <p:txBody>
          <a:bodyPr wrap="square" lIns="0" tIns="0" rIns="0" bIns="0" rtlCol="0" anchor="ctr"/>
          <a:lstStyle/>
          <a:p>
            <a:pPr marL="0" indent="0">
              <a:buNone/>
            </a:pPr>
            <a:r>
              <a:rPr lang="en-US" sz="1000" dirty="0">
                <a:solidFill>
                  <a:srgbClr val="475569"/>
                </a:solidFill>
              </a:rPr>
              <a:t>Co-selection with virulence pathways</a:t>
            </a:r>
            <a:endParaRPr lang="en-US" sz="1000" dirty="0"/>
          </a:p>
        </p:txBody>
      </p:sp>
      <p:sp>
        <p:nvSpPr>
          <p:cNvPr id="29" name="Text 27"/>
          <p:cNvSpPr/>
          <p:nvPr/>
        </p:nvSpPr>
        <p:spPr>
          <a:xfrm>
            <a:off x="274320" y="4059936"/>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blaTEM</a:t>
            </a:r>
            <a:endParaRPr lang="en-US" sz="1100" dirty="0"/>
          </a:p>
        </p:txBody>
      </p:sp>
      <p:sp>
        <p:nvSpPr>
          <p:cNvPr id="30" name="Shape 28"/>
          <p:cNvSpPr/>
          <p:nvPr/>
        </p:nvSpPr>
        <p:spPr>
          <a:xfrm>
            <a:off x="2468880" y="4114800"/>
            <a:ext cx="636422" cy="237744"/>
          </a:xfrm>
          <a:prstGeom prst="rect">
            <a:avLst/>
          </a:prstGeom>
          <a:solidFill>
            <a:srgbClr val="0D9488"/>
          </a:solidFill>
          <a:ln w="12700">
            <a:solidFill>
              <a:srgbClr val="0D9488"/>
            </a:solidFill>
            <a:prstDash val="solid"/>
          </a:ln>
        </p:spPr>
      </p:sp>
      <p:sp>
        <p:nvSpPr>
          <p:cNvPr id="31" name="Text 29"/>
          <p:cNvSpPr/>
          <p:nvPr/>
        </p:nvSpPr>
        <p:spPr>
          <a:xfrm>
            <a:off x="3151022" y="4059936"/>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5.8%</a:t>
            </a:r>
            <a:endParaRPr lang="en-US" sz="1000" dirty="0"/>
          </a:p>
        </p:txBody>
      </p:sp>
      <p:sp>
        <p:nvSpPr>
          <p:cNvPr id="32" name="Text 30"/>
          <p:cNvSpPr/>
          <p:nvPr/>
        </p:nvSpPr>
        <p:spPr>
          <a:xfrm>
            <a:off x="5669280" y="4059936"/>
            <a:ext cx="3200400" cy="320040"/>
          </a:xfrm>
          <a:prstGeom prst="rect">
            <a:avLst/>
          </a:prstGeom>
          <a:noFill/>
          <a:ln/>
        </p:spPr>
        <p:txBody>
          <a:bodyPr wrap="square" lIns="0" tIns="0" rIns="0" bIns="0" rtlCol="0" anchor="ctr"/>
          <a:lstStyle/>
          <a:p>
            <a:pPr marL="0" indent="0">
              <a:buNone/>
            </a:pPr>
            <a:r>
              <a:rPr lang="en-US" sz="1000" dirty="0">
                <a:solidFill>
                  <a:srgbClr val="475569"/>
                </a:solidFill>
              </a:rPr>
              <a:t>Extended-spectrum beta-lactamase</a:t>
            </a:r>
            <a:endParaRPr lang="en-US" sz="1000" dirty="0"/>
          </a:p>
        </p:txBody>
      </p:sp>
      <p:sp>
        <p:nvSpPr>
          <p:cNvPr id="33" name="Text 31"/>
          <p:cNvSpPr/>
          <p:nvPr/>
        </p:nvSpPr>
        <p:spPr>
          <a:xfrm>
            <a:off x="274320" y="4535424"/>
            <a:ext cx="2103120" cy="320040"/>
          </a:xfrm>
          <a:prstGeom prst="rect">
            <a:avLst/>
          </a:prstGeom>
          <a:noFill/>
          <a:ln/>
        </p:spPr>
        <p:txBody>
          <a:bodyPr wrap="square" lIns="0" tIns="0" rIns="0" bIns="0" rtlCol="0" anchor="ctr"/>
          <a:lstStyle/>
          <a:p>
            <a:pPr marL="0" indent="0" algn="r">
              <a:buNone/>
            </a:pPr>
            <a:r>
              <a:rPr lang="en-US" sz="1100" b="1" dirty="0">
                <a:solidFill>
                  <a:srgbClr val="1E293B"/>
                </a:solidFill>
              </a:rPr>
              <a:t>genome_size</a:t>
            </a:r>
            <a:endParaRPr lang="en-US" sz="1100" dirty="0"/>
          </a:p>
        </p:txBody>
      </p:sp>
      <p:sp>
        <p:nvSpPr>
          <p:cNvPr id="34" name="Shape 32"/>
          <p:cNvSpPr/>
          <p:nvPr/>
        </p:nvSpPr>
        <p:spPr>
          <a:xfrm>
            <a:off x="2468880" y="4590288"/>
            <a:ext cx="449885" cy="237744"/>
          </a:xfrm>
          <a:prstGeom prst="rect">
            <a:avLst/>
          </a:prstGeom>
          <a:solidFill>
            <a:srgbClr val="0D9488"/>
          </a:solidFill>
          <a:ln w="12700">
            <a:solidFill>
              <a:srgbClr val="0D9488"/>
            </a:solidFill>
            <a:prstDash val="solid"/>
          </a:ln>
        </p:spPr>
      </p:sp>
      <p:sp>
        <p:nvSpPr>
          <p:cNvPr id="35" name="Text 33"/>
          <p:cNvSpPr/>
          <p:nvPr/>
        </p:nvSpPr>
        <p:spPr>
          <a:xfrm>
            <a:off x="2964485" y="4535424"/>
            <a:ext cx="548640" cy="320040"/>
          </a:xfrm>
          <a:prstGeom prst="rect">
            <a:avLst/>
          </a:prstGeom>
          <a:noFill/>
          <a:ln/>
        </p:spPr>
        <p:txBody>
          <a:bodyPr wrap="square" lIns="0" tIns="0" rIns="0" bIns="0" rtlCol="0" anchor="ctr"/>
          <a:lstStyle/>
          <a:p>
            <a:pPr marL="0" indent="0">
              <a:buNone/>
            </a:pPr>
            <a:r>
              <a:rPr lang="en-US" sz="1000" b="1" dirty="0">
                <a:solidFill>
                  <a:srgbClr val="0D9488"/>
                </a:solidFill>
              </a:rPr>
              <a:t>4.1%</a:t>
            </a:r>
            <a:endParaRPr lang="en-US" sz="1000" dirty="0"/>
          </a:p>
        </p:txBody>
      </p:sp>
      <p:sp>
        <p:nvSpPr>
          <p:cNvPr id="36" name="Text 34"/>
          <p:cNvSpPr/>
          <p:nvPr/>
        </p:nvSpPr>
        <p:spPr>
          <a:xfrm>
            <a:off x="5669280" y="4535424"/>
            <a:ext cx="3200400" cy="320040"/>
          </a:xfrm>
          <a:prstGeom prst="rect">
            <a:avLst/>
          </a:prstGeom>
          <a:noFill/>
          <a:ln/>
        </p:spPr>
        <p:txBody>
          <a:bodyPr wrap="square" lIns="0" tIns="0" rIns="0" bIns="0" rtlCol="0" anchor="ctr"/>
          <a:lstStyle/>
          <a:p>
            <a:pPr marL="0" indent="0">
              <a:buNone/>
            </a:pPr>
            <a:r>
              <a:rPr lang="en-US" sz="1000" dirty="0">
                <a:solidFill>
                  <a:srgbClr val="475569"/>
                </a:solidFill>
              </a:rPr>
              <a:t>Genomic context indicator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4  |  Results</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400" b="1" dirty="0">
                <a:solidFill>
                  <a:srgbClr val="FFFFFF"/>
                </a:solidFill>
              </a:rPr>
              <a:t>Cross-Validation &amp; Model Generalization</a:t>
            </a:r>
            <a:endParaRPr lang="en-US" sz="2400" dirty="0"/>
          </a:p>
        </p:txBody>
      </p:sp>
      <p:graphicFrame>
        <p:nvGraphicFramePr>
          <p:cNvPr id="5" name="Chart 0"/>
          <p:cNvGraphicFramePr/>
          <p:nvPr/>
        </p:nvGraphicFramePr>
        <p:xfrm>
          <a:off x="274320" y="1051560"/>
          <a:ext cx="48463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1143000"/>
            <a:ext cx="3474720" cy="82296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7" name="Shape 4"/>
          <p:cNvSpPr/>
          <p:nvPr/>
        </p:nvSpPr>
        <p:spPr>
          <a:xfrm>
            <a:off x="5394960" y="1143000"/>
            <a:ext cx="64008" cy="822960"/>
          </a:xfrm>
          <a:prstGeom prst="rect">
            <a:avLst/>
          </a:prstGeom>
          <a:solidFill>
            <a:srgbClr val="0D9488"/>
          </a:solidFill>
          <a:ln w="12700">
            <a:solidFill>
              <a:srgbClr val="0D9488"/>
            </a:solidFill>
            <a:prstDash val="solid"/>
          </a:ln>
        </p:spPr>
      </p:sp>
      <p:sp>
        <p:nvSpPr>
          <p:cNvPr id="8" name="Text 5"/>
          <p:cNvSpPr/>
          <p:nvPr/>
        </p:nvSpPr>
        <p:spPr>
          <a:xfrm>
            <a:off x="5577840" y="1216152"/>
            <a:ext cx="2011680" cy="274320"/>
          </a:xfrm>
          <a:prstGeom prst="rect">
            <a:avLst/>
          </a:prstGeom>
          <a:noFill/>
          <a:ln/>
        </p:spPr>
        <p:txBody>
          <a:bodyPr wrap="square" lIns="0" tIns="0" rIns="0" bIns="0" rtlCol="0" anchor="ctr"/>
          <a:lstStyle/>
          <a:p>
            <a:pPr marL="0" indent="0">
              <a:buNone/>
            </a:pPr>
            <a:r>
              <a:rPr lang="en-US" sz="1200" b="1" dirty="0">
                <a:solidFill>
                  <a:srgbClr val="1E293B"/>
                </a:solidFill>
              </a:rPr>
              <a:t>Random Forest</a:t>
            </a:r>
            <a:endParaRPr lang="en-US" sz="1200" dirty="0"/>
          </a:p>
        </p:txBody>
      </p:sp>
      <p:sp>
        <p:nvSpPr>
          <p:cNvPr id="9" name="Text 6"/>
          <p:cNvSpPr/>
          <p:nvPr/>
        </p:nvSpPr>
        <p:spPr>
          <a:xfrm>
            <a:off x="5577840" y="1581912"/>
            <a:ext cx="2560320" cy="274320"/>
          </a:xfrm>
          <a:prstGeom prst="rect">
            <a:avLst/>
          </a:prstGeom>
          <a:noFill/>
          <a:ln/>
        </p:spPr>
        <p:txBody>
          <a:bodyPr wrap="square" lIns="0" tIns="0" rIns="0" bIns="0" rtlCol="0" anchor="ctr"/>
          <a:lstStyle/>
          <a:p>
            <a:pPr marL="0" indent="0">
              <a:buNone/>
            </a:pPr>
            <a:r>
              <a:rPr lang="en-US" sz="1100" b="1" dirty="0">
                <a:solidFill>
                  <a:srgbClr val="0D9488"/>
                </a:solidFill>
              </a:rPr>
              <a:t>CV Mean: 0.8725</a:t>
            </a:r>
            <a:endParaRPr lang="en-US" sz="1100" dirty="0"/>
          </a:p>
        </p:txBody>
      </p:sp>
      <p:sp>
        <p:nvSpPr>
          <p:cNvPr id="10" name="Text 7"/>
          <p:cNvSpPr/>
          <p:nvPr/>
        </p:nvSpPr>
        <p:spPr>
          <a:xfrm>
            <a:off x="7315200" y="1581912"/>
            <a:ext cx="1371600" cy="274320"/>
          </a:xfrm>
          <a:prstGeom prst="rect">
            <a:avLst/>
          </a:prstGeom>
          <a:noFill/>
          <a:ln/>
        </p:spPr>
        <p:txBody>
          <a:bodyPr wrap="square" lIns="0" tIns="0" rIns="0" bIns="0" rtlCol="0" anchor="ctr"/>
          <a:lstStyle/>
          <a:p>
            <a:pPr marL="0" indent="0">
              <a:buNone/>
            </a:pPr>
            <a:r>
              <a:rPr lang="en-US" sz="900" dirty="0">
                <a:solidFill>
                  <a:srgbClr val="475569"/>
                </a:solidFill>
              </a:rPr>
              <a:t>(5-Fold Stratified)</a:t>
            </a:r>
            <a:endParaRPr lang="en-US" sz="900" dirty="0"/>
          </a:p>
        </p:txBody>
      </p:sp>
      <p:sp>
        <p:nvSpPr>
          <p:cNvPr id="11" name="Shape 8"/>
          <p:cNvSpPr/>
          <p:nvPr/>
        </p:nvSpPr>
        <p:spPr>
          <a:xfrm>
            <a:off x="5394960" y="2103120"/>
            <a:ext cx="3474720" cy="82296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5394960" y="2103120"/>
            <a:ext cx="64008" cy="822960"/>
          </a:xfrm>
          <a:prstGeom prst="rect">
            <a:avLst/>
          </a:prstGeom>
          <a:solidFill>
            <a:srgbClr val="F59E0B"/>
          </a:solidFill>
          <a:ln w="12700">
            <a:solidFill>
              <a:srgbClr val="F59E0B"/>
            </a:solidFill>
            <a:prstDash val="solid"/>
          </a:ln>
        </p:spPr>
      </p:sp>
      <p:sp>
        <p:nvSpPr>
          <p:cNvPr id="13" name="Text 10"/>
          <p:cNvSpPr/>
          <p:nvPr/>
        </p:nvSpPr>
        <p:spPr>
          <a:xfrm>
            <a:off x="5577840" y="2176272"/>
            <a:ext cx="2011680" cy="274320"/>
          </a:xfrm>
          <a:prstGeom prst="rect">
            <a:avLst/>
          </a:prstGeom>
          <a:noFill/>
          <a:ln/>
        </p:spPr>
        <p:txBody>
          <a:bodyPr wrap="square" lIns="0" tIns="0" rIns="0" bIns="0" rtlCol="0" anchor="ctr"/>
          <a:lstStyle/>
          <a:p>
            <a:pPr marL="0" indent="0">
              <a:buNone/>
            </a:pPr>
            <a:r>
              <a:rPr lang="en-US" sz="1200" b="1" dirty="0">
                <a:solidFill>
                  <a:srgbClr val="1E293B"/>
                </a:solidFill>
              </a:rPr>
              <a:t>Gradient Boosting</a:t>
            </a:r>
            <a:endParaRPr lang="en-US" sz="1200" dirty="0"/>
          </a:p>
        </p:txBody>
      </p:sp>
      <p:sp>
        <p:nvSpPr>
          <p:cNvPr id="14" name="Text 11"/>
          <p:cNvSpPr/>
          <p:nvPr/>
        </p:nvSpPr>
        <p:spPr>
          <a:xfrm>
            <a:off x="5577840" y="2542032"/>
            <a:ext cx="2560320" cy="274320"/>
          </a:xfrm>
          <a:prstGeom prst="rect">
            <a:avLst/>
          </a:prstGeom>
          <a:noFill/>
          <a:ln/>
        </p:spPr>
        <p:txBody>
          <a:bodyPr wrap="square" lIns="0" tIns="0" rIns="0" bIns="0" rtlCol="0" anchor="ctr"/>
          <a:lstStyle/>
          <a:p>
            <a:pPr marL="0" indent="0">
              <a:buNone/>
            </a:pPr>
            <a:r>
              <a:rPr lang="en-US" sz="1100" b="1" dirty="0">
                <a:solidFill>
                  <a:srgbClr val="F59E0B"/>
                </a:solidFill>
              </a:rPr>
              <a:t>CV Mean: 0.8350</a:t>
            </a:r>
            <a:endParaRPr lang="en-US" sz="1100" dirty="0"/>
          </a:p>
        </p:txBody>
      </p:sp>
      <p:sp>
        <p:nvSpPr>
          <p:cNvPr id="15" name="Text 12"/>
          <p:cNvSpPr/>
          <p:nvPr/>
        </p:nvSpPr>
        <p:spPr>
          <a:xfrm>
            <a:off x="7315200" y="2542032"/>
            <a:ext cx="1371600" cy="274320"/>
          </a:xfrm>
          <a:prstGeom prst="rect">
            <a:avLst/>
          </a:prstGeom>
          <a:noFill/>
          <a:ln/>
        </p:spPr>
        <p:txBody>
          <a:bodyPr wrap="square" lIns="0" tIns="0" rIns="0" bIns="0" rtlCol="0" anchor="ctr"/>
          <a:lstStyle/>
          <a:p>
            <a:pPr marL="0" indent="0">
              <a:buNone/>
            </a:pPr>
            <a:r>
              <a:rPr lang="en-US" sz="900" dirty="0">
                <a:solidFill>
                  <a:srgbClr val="475569"/>
                </a:solidFill>
              </a:rPr>
              <a:t>(5-Fold Stratified)</a:t>
            </a:r>
            <a:endParaRPr lang="en-US" sz="900" dirty="0"/>
          </a:p>
        </p:txBody>
      </p:sp>
      <p:sp>
        <p:nvSpPr>
          <p:cNvPr id="16" name="Shape 13"/>
          <p:cNvSpPr/>
          <p:nvPr/>
        </p:nvSpPr>
        <p:spPr>
          <a:xfrm>
            <a:off x="5394960" y="3063240"/>
            <a:ext cx="3474720" cy="82296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17" name="Shape 14"/>
          <p:cNvSpPr/>
          <p:nvPr/>
        </p:nvSpPr>
        <p:spPr>
          <a:xfrm>
            <a:off x="5394960" y="3063240"/>
            <a:ext cx="64008" cy="822960"/>
          </a:xfrm>
          <a:prstGeom prst="rect">
            <a:avLst/>
          </a:prstGeom>
          <a:solidFill>
            <a:srgbClr val="7C3AED"/>
          </a:solidFill>
          <a:ln w="12700">
            <a:solidFill>
              <a:srgbClr val="7C3AED"/>
            </a:solidFill>
            <a:prstDash val="solid"/>
          </a:ln>
        </p:spPr>
      </p:sp>
      <p:sp>
        <p:nvSpPr>
          <p:cNvPr id="18" name="Text 15"/>
          <p:cNvSpPr/>
          <p:nvPr/>
        </p:nvSpPr>
        <p:spPr>
          <a:xfrm>
            <a:off x="5577840" y="3136392"/>
            <a:ext cx="2011680" cy="274320"/>
          </a:xfrm>
          <a:prstGeom prst="rect">
            <a:avLst/>
          </a:prstGeom>
          <a:noFill/>
          <a:ln/>
        </p:spPr>
        <p:txBody>
          <a:bodyPr wrap="square" lIns="0" tIns="0" rIns="0" bIns="0" rtlCol="0" anchor="ctr"/>
          <a:lstStyle/>
          <a:p>
            <a:pPr marL="0" indent="0">
              <a:buNone/>
            </a:pPr>
            <a:r>
              <a:rPr lang="en-US" sz="1200" b="1" dirty="0">
                <a:solidFill>
                  <a:srgbClr val="1E293B"/>
                </a:solidFill>
              </a:rPr>
              <a:t>SVM (RBF)</a:t>
            </a:r>
            <a:endParaRPr lang="en-US" sz="1200" dirty="0"/>
          </a:p>
        </p:txBody>
      </p:sp>
      <p:sp>
        <p:nvSpPr>
          <p:cNvPr id="19" name="Text 16"/>
          <p:cNvSpPr/>
          <p:nvPr/>
        </p:nvSpPr>
        <p:spPr>
          <a:xfrm>
            <a:off x="5577840" y="3502152"/>
            <a:ext cx="2560320" cy="274320"/>
          </a:xfrm>
          <a:prstGeom prst="rect">
            <a:avLst/>
          </a:prstGeom>
          <a:noFill/>
          <a:ln/>
        </p:spPr>
        <p:txBody>
          <a:bodyPr wrap="square" lIns="0" tIns="0" rIns="0" bIns="0" rtlCol="0" anchor="ctr"/>
          <a:lstStyle/>
          <a:p>
            <a:pPr marL="0" indent="0">
              <a:buNone/>
            </a:pPr>
            <a:r>
              <a:rPr lang="en-US" sz="1100" b="1" dirty="0">
                <a:solidFill>
                  <a:srgbClr val="7C3AED"/>
                </a:solidFill>
              </a:rPr>
              <a:t>CV Mean: 0.8425</a:t>
            </a:r>
            <a:endParaRPr lang="en-US" sz="1100" dirty="0"/>
          </a:p>
        </p:txBody>
      </p:sp>
      <p:sp>
        <p:nvSpPr>
          <p:cNvPr id="20" name="Text 17"/>
          <p:cNvSpPr/>
          <p:nvPr/>
        </p:nvSpPr>
        <p:spPr>
          <a:xfrm>
            <a:off x="7315200" y="3502152"/>
            <a:ext cx="1371600" cy="274320"/>
          </a:xfrm>
          <a:prstGeom prst="rect">
            <a:avLst/>
          </a:prstGeom>
          <a:noFill/>
          <a:ln/>
        </p:spPr>
        <p:txBody>
          <a:bodyPr wrap="square" lIns="0" tIns="0" rIns="0" bIns="0" rtlCol="0" anchor="ctr"/>
          <a:lstStyle/>
          <a:p>
            <a:pPr marL="0" indent="0">
              <a:buNone/>
            </a:pPr>
            <a:r>
              <a:rPr lang="en-US" sz="900" dirty="0">
                <a:solidFill>
                  <a:srgbClr val="475569"/>
                </a:solidFill>
              </a:rPr>
              <a:t>(5-Fold Stratified)</a:t>
            </a:r>
            <a:endParaRPr lang="en-US" sz="900" dirty="0"/>
          </a:p>
        </p:txBody>
      </p:sp>
      <p:sp>
        <p:nvSpPr>
          <p:cNvPr id="21" name="Shape 18"/>
          <p:cNvSpPr/>
          <p:nvPr/>
        </p:nvSpPr>
        <p:spPr>
          <a:xfrm>
            <a:off x="5394960" y="4023360"/>
            <a:ext cx="3474720" cy="822960"/>
          </a:xfrm>
          <a:prstGeom prst="rect">
            <a:avLst/>
          </a:prstGeom>
          <a:solidFill>
            <a:srgbClr val="F0F9FF"/>
          </a:solidFill>
          <a:ln w="12700">
            <a:solidFill>
              <a:srgbClr val="E2E8F0"/>
            </a:solidFill>
            <a:prstDash val="solid"/>
          </a:ln>
          <a:effectLst>
            <a:outerShdw blurRad="101600" dist="38100" dir="8100000" algn="bl" rotWithShape="0">
              <a:srgbClr val="000000">
                <a:alpha val="12000"/>
              </a:srgbClr>
            </a:outerShdw>
          </a:effectLst>
        </p:spPr>
      </p:sp>
      <p:sp>
        <p:nvSpPr>
          <p:cNvPr id="22" name="Shape 19"/>
          <p:cNvSpPr/>
          <p:nvPr/>
        </p:nvSpPr>
        <p:spPr>
          <a:xfrm>
            <a:off x="5394960" y="4023360"/>
            <a:ext cx="64008" cy="822960"/>
          </a:xfrm>
          <a:prstGeom prst="rect">
            <a:avLst/>
          </a:prstGeom>
          <a:solidFill>
            <a:srgbClr val="0369A1"/>
          </a:solidFill>
          <a:ln w="12700">
            <a:solidFill>
              <a:srgbClr val="0369A1"/>
            </a:solidFill>
            <a:prstDash val="solid"/>
          </a:ln>
        </p:spPr>
      </p:sp>
      <p:sp>
        <p:nvSpPr>
          <p:cNvPr id="23" name="Text 20"/>
          <p:cNvSpPr/>
          <p:nvPr/>
        </p:nvSpPr>
        <p:spPr>
          <a:xfrm>
            <a:off x="5577840" y="4096512"/>
            <a:ext cx="2011680" cy="274320"/>
          </a:xfrm>
          <a:prstGeom prst="rect">
            <a:avLst/>
          </a:prstGeom>
          <a:noFill/>
          <a:ln/>
        </p:spPr>
        <p:txBody>
          <a:bodyPr wrap="square" lIns="0" tIns="0" rIns="0" bIns="0" rtlCol="0" anchor="ctr"/>
          <a:lstStyle/>
          <a:p>
            <a:pPr marL="0" indent="0">
              <a:buNone/>
            </a:pPr>
            <a:r>
              <a:rPr lang="en-US" sz="1200" b="1" dirty="0">
                <a:solidFill>
                  <a:srgbClr val="1E293B"/>
                </a:solidFill>
              </a:rPr>
              <a:t>Logistic Regression</a:t>
            </a:r>
            <a:endParaRPr lang="en-US" sz="1200" dirty="0"/>
          </a:p>
        </p:txBody>
      </p:sp>
      <p:sp>
        <p:nvSpPr>
          <p:cNvPr id="24" name="Text 21"/>
          <p:cNvSpPr/>
          <p:nvPr/>
        </p:nvSpPr>
        <p:spPr>
          <a:xfrm>
            <a:off x="5577840" y="4462272"/>
            <a:ext cx="2560320" cy="274320"/>
          </a:xfrm>
          <a:prstGeom prst="rect">
            <a:avLst/>
          </a:prstGeom>
          <a:noFill/>
          <a:ln/>
        </p:spPr>
        <p:txBody>
          <a:bodyPr wrap="square" lIns="0" tIns="0" rIns="0" bIns="0" rtlCol="0" anchor="ctr"/>
          <a:lstStyle/>
          <a:p>
            <a:pPr marL="0" indent="0">
              <a:buNone/>
            </a:pPr>
            <a:r>
              <a:rPr lang="en-US" sz="1100" b="1" dirty="0">
                <a:solidFill>
                  <a:srgbClr val="0369A1"/>
                </a:solidFill>
              </a:rPr>
              <a:t>CV Mean: 0.8600</a:t>
            </a:r>
            <a:endParaRPr lang="en-US" sz="1100" dirty="0"/>
          </a:p>
        </p:txBody>
      </p:sp>
      <p:sp>
        <p:nvSpPr>
          <p:cNvPr id="25" name="Text 22"/>
          <p:cNvSpPr/>
          <p:nvPr/>
        </p:nvSpPr>
        <p:spPr>
          <a:xfrm>
            <a:off x="7315200" y="4462272"/>
            <a:ext cx="1371600" cy="274320"/>
          </a:xfrm>
          <a:prstGeom prst="rect">
            <a:avLst/>
          </a:prstGeom>
          <a:noFill/>
          <a:ln/>
        </p:spPr>
        <p:txBody>
          <a:bodyPr wrap="square" lIns="0" tIns="0" rIns="0" bIns="0" rtlCol="0" anchor="ctr"/>
          <a:lstStyle/>
          <a:p>
            <a:pPr marL="0" indent="0">
              <a:buNone/>
            </a:pPr>
            <a:r>
              <a:rPr lang="en-US" sz="900" dirty="0">
                <a:solidFill>
                  <a:srgbClr val="475569"/>
                </a:solidFill>
              </a:rPr>
              <a:t>(5-Fold Stratified)</a:t>
            </a:r>
            <a:endParaRPr lang="en-US" sz="900" dirty="0"/>
          </a:p>
        </p:txBody>
      </p:sp>
      <p:sp>
        <p:nvSpPr>
          <p:cNvPr id="26" name="Text 23"/>
          <p:cNvSpPr/>
          <p:nvPr/>
        </p:nvSpPr>
        <p:spPr>
          <a:xfrm>
            <a:off x="5394960" y="4709160"/>
            <a:ext cx="3474720" cy="320040"/>
          </a:xfrm>
          <a:prstGeom prst="rect">
            <a:avLst/>
          </a:prstGeom>
          <a:noFill/>
          <a:ln/>
        </p:spPr>
        <p:txBody>
          <a:bodyPr wrap="square" lIns="0" tIns="0" rIns="0" bIns="0" rtlCol="0" anchor="ctr"/>
          <a:lstStyle/>
          <a:p>
            <a:pPr marL="0" indent="0">
              <a:buNone/>
            </a:pPr>
            <a:r>
              <a:rPr lang="en-US" sz="1000" i="1" dirty="0">
                <a:solidFill>
                  <a:srgbClr val="475569"/>
                </a:solidFill>
              </a:rPr>
              <a:t>All models show consistent CV scores, confirming no overfitting and strong generalization to unseen isolate data.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FFFFFF"/>
                </a:solidFill>
              </a:rPr>
              <a:t>Confusion Matrix Analysis — Random Forest</a:t>
            </a:r>
            <a:endParaRPr lang="en-US" sz="2600" dirty="0"/>
          </a:p>
        </p:txBody>
      </p:sp>
      <p:sp>
        <p:nvSpPr>
          <p:cNvPr id="4" name="Text 2"/>
          <p:cNvSpPr/>
          <p:nvPr/>
        </p:nvSpPr>
        <p:spPr>
          <a:xfrm>
            <a:off x="457200" y="749808"/>
            <a:ext cx="8229600" cy="292608"/>
          </a:xfrm>
          <a:prstGeom prst="rect">
            <a:avLst/>
          </a:prstGeom>
          <a:noFill/>
          <a:ln/>
        </p:spPr>
        <p:txBody>
          <a:bodyPr wrap="square" rtlCol="0" anchor="ctr"/>
          <a:lstStyle/>
          <a:p>
            <a:pPr marL="0" indent="0">
              <a:buNone/>
            </a:pPr>
            <a:r>
              <a:rPr lang="en-US" sz="1200" dirty="0">
                <a:solidFill>
                  <a:srgbClr val="94A3B8"/>
                </a:solidFill>
              </a:rPr>
              <a:t>Test Set: 240 isolates  |  100 Susceptible  |  140 Resistant</a:t>
            </a:r>
            <a:endParaRPr lang="en-US" sz="1200" dirty="0"/>
          </a:p>
        </p:txBody>
      </p:sp>
      <p:sp>
        <p:nvSpPr>
          <p:cNvPr id="5" name="Text 3"/>
          <p:cNvSpPr/>
          <p:nvPr/>
        </p:nvSpPr>
        <p:spPr>
          <a:xfrm>
            <a:off x="1188720" y="960120"/>
            <a:ext cx="3200400" cy="256032"/>
          </a:xfrm>
          <a:prstGeom prst="rect">
            <a:avLst/>
          </a:prstGeom>
          <a:noFill/>
          <a:ln/>
        </p:spPr>
        <p:txBody>
          <a:bodyPr wrap="square" rtlCol="0" anchor="ctr"/>
          <a:lstStyle/>
          <a:p>
            <a:pPr marL="0" indent="0" algn="ctr">
              <a:buNone/>
            </a:pPr>
            <a:r>
              <a:rPr lang="en-US" sz="1100" dirty="0">
                <a:solidFill>
                  <a:srgbClr val="94A3B8"/>
                </a:solidFill>
              </a:rPr>
              <a:t>Predicted: Susceptible</a:t>
            </a:r>
            <a:endParaRPr lang="en-US" sz="1100" dirty="0"/>
          </a:p>
        </p:txBody>
      </p:sp>
      <p:sp>
        <p:nvSpPr>
          <p:cNvPr id="6" name="Text 4"/>
          <p:cNvSpPr/>
          <p:nvPr/>
        </p:nvSpPr>
        <p:spPr>
          <a:xfrm>
            <a:off x="4389120" y="960120"/>
            <a:ext cx="3200400" cy="256032"/>
          </a:xfrm>
          <a:prstGeom prst="rect">
            <a:avLst/>
          </a:prstGeom>
          <a:noFill/>
          <a:ln/>
        </p:spPr>
        <p:txBody>
          <a:bodyPr wrap="square" rtlCol="0" anchor="ctr"/>
          <a:lstStyle/>
          <a:p>
            <a:pPr marL="0" indent="0" algn="ctr">
              <a:buNone/>
            </a:pPr>
            <a:r>
              <a:rPr lang="en-US" sz="1100" dirty="0">
                <a:solidFill>
                  <a:srgbClr val="94A3B8"/>
                </a:solidFill>
              </a:rPr>
              <a:t>Predicted: Resistant</a:t>
            </a:r>
            <a:endParaRPr lang="en-US" sz="1100" dirty="0"/>
          </a:p>
        </p:txBody>
      </p:sp>
      <p:sp>
        <p:nvSpPr>
          <p:cNvPr id="7" name="Text 5"/>
          <p:cNvSpPr/>
          <p:nvPr/>
        </p:nvSpPr>
        <p:spPr>
          <a:xfrm>
            <a:off x="0" y="1371600"/>
            <a:ext cx="1325880" cy="1463040"/>
          </a:xfrm>
          <a:prstGeom prst="rect">
            <a:avLst/>
          </a:prstGeom>
          <a:noFill/>
          <a:ln/>
        </p:spPr>
        <p:txBody>
          <a:bodyPr wrap="square" rtlCol="0" anchor="ctr"/>
          <a:lstStyle/>
          <a:p>
            <a:pPr marL="0" indent="0" algn="r">
              <a:buNone/>
            </a:pPr>
            <a:r>
              <a:rPr lang="en-US" sz="1000" dirty="0">
                <a:solidFill>
                  <a:srgbClr val="94A3B8"/>
                </a:solidFill>
              </a:rPr>
              <a:t>Actual: Susceptible</a:t>
            </a:r>
            <a:endParaRPr lang="en-US" sz="1000" dirty="0"/>
          </a:p>
        </p:txBody>
      </p:sp>
      <p:sp>
        <p:nvSpPr>
          <p:cNvPr id="8" name="Text 6"/>
          <p:cNvSpPr/>
          <p:nvPr/>
        </p:nvSpPr>
        <p:spPr>
          <a:xfrm>
            <a:off x="0" y="3108960"/>
            <a:ext cx="1325880" cy="1463040"/>
          </a:xfrm>
          <a:prstGeom prst="rect">
            <a:avLst/>
          </a:prstGeom>
          <a:noFill/>
          <a:ln/>
        </p:spPr>
        <p:txBody>
          <a:bodyPr wrap="square" rtlCol="0" anchor="ctr"/>
          <a:lstStyle/>
          <a:p>
            <a:pPr marL="0" indent="0" algn="r">
              <a:buNone/>
            </a:pPr>
            <a:r>
              <a:rPr lang="en-US" sz="1000" dirty="0">
                <a:solidFill>
                  <a:srgbClr val="94A3B8"/>
                </a:solidFill>
              </a:rPr>
              <a:t>Actual: Resistant</a:t>
            </a:r>
            <a:endParaRPr lang="en-US" sz="1000" dirty="0"/>
          </a:p>
        </p:txBody>
      </p:sp>
      <p:sp>
        <p:nvSpPr>
          <p:cNvPr id="9" name="Shape 7"/>
          <p:cNvSpPr/>
          <p:nvPr/>
        </p:nvSpPr>
        <p:spPr>
          <a:xfrm>
            <a:off x="1371600" y="1234440"/>
            <a:ext cx="3017520" cy="1554480"/>
          </a:xfrm>
          <a:prstGeom prst="rect">
            <a:avLst/>
          </a:prstGeom>
          <a:solidFill>
            <a:srgbClr val="064E3B"/>
          </a:solidFill>
          <a:ln w="12700">
            <a:solidFill>
              <a:srgbClr val="1E3A5F"/>
            </a:solidFill>
            <a:prstDash val="solid"/>
          </a:ln>
        </p:spPr>
      </p:sp>
      <p:sp>
        <p:nvSpPr>
          <p:cNvPr id="10" name="Text 8"/>
          <p:cNvSpPr/>
          <p:nvPr/>
        </p:nvSpPr>
        <p:spPr>
          <a:xfrm>
            <a:off x="1371600" y="1417320"/>
            <a:ext cx="3017520" cy="640080"/>
          </a:xfrm>
          <a:prstGeom prst="rect">
            <a:avLst/>
          </a:prstGeom>
          <a:noFill/>
          <a:ln/>
        </p:spPr>
        <p:txBody>
          <a:bodyPr wrap="square" lIns="0" tIns="0" rIns="0" bIns="0" rtlCol="0" anchor="ctr"/>
          <a:lstStyle/>
          <a:p>
            <a:pPr marL="0" indent="0" algn="ctr">
              <a:buNone/>
            </a:pPr>
            <a:r>
              <a:rPr lang="en-US" sz="4400" b="1" dirty="0">
                <a:solidFill>
                  <a:srgbClr val="CCFBF1"/>
                </a:solidFill>
              </a:rPr>
              <a:t>100</a:t>
            </a:r>
            <a:endParaRPr lang="en-US" sz="4400" dirty="0"/>
          </a:p>
        </p:txBody>
      </p:sp>
      <p:sp>
        <p:nvSpPr>
          <p:cNvPr id="11" name="Text 9"/>
          <p:cNvSpPr/>
          <p:nvPr/>
        </p:nvSpPr>
        <p:spPr>
          <a:xfrm>
            <a:off x="1371600" y="2103120"/>
            <a:ext cx="3017520" cy="594360"/>
          </a:xfrm>
          <a:prstGeom prst="rect">
            <a:avLst/>
          </a:prstGeom>
          <a:noFill/>
          <a:ln/>
        </p:spPr>
        <p:txBody>
          <a:bodyPr wrap="square" lIns="0" tIns="0" rIns="0" bIns="0" rtlCol="0" anchor="ctr"/>
          <a:lstStyle/>
          <a:p>
            <a:pPr marL="0" indent="0" algn="ctr">
              <a:buNone/>
            </a:pPr>
            <a:r>
              <a:rPr lang="en-US" sz="1000" dirty="0">
                <a:solidFill>
                  <a:srgbClr val="CCFBF1"/>
                </a:solidFill>
              </a:rPr>
              <a:t>True Negative</a:t>
            </a:r>
            <a:endParaRPr lang="en-US" sz="1000" dirty="0"/>
          </a:p>
          <a:p>
            <a:pPr marL="0" indent="0" algn="ctr">
              <a:buNone/>
            </a:pPr>
            <a:r>
              <a:rPr lang="en-US" sz="1000" dirty="0">
                <a:solidFill>
                  <a:srgbClr val="CCFBF1"/>
                </a:solidFill>
              </a:rPr>
              <a:t>Susceptible correctly</a:t>
            </a:r>
            <a:endParaRPr lang="en-US" sz="1000" dirty="0"/>
          </a:p>
          <a:p>
            <a:pPr marL="0" indent="0" algn="ctr">
              <a:buNone/>
            </a:pPr>
            <a:r>
              <a:rPr lang="en-US" sz="1000" dirty="0">
                <a:solidFill>
                  <a:srgbClr val="CCFBF1"/>
                </a:solidFill>
              </a:rPr>
              <a:t>predicted susceptible</a:t>
            </a:r>
            <a:endParaRPr lang="en-US" sz="1000" dirty="0"/>
          </a:p>
        </p:txBody>
      </p:sp>
      <p:sp>
        <p:nvSpPr>
          <p:cNvPr id="12" name="Shape 10"/>
          <p:cNvSpPr/>
          <p:nvPr/>
        </p:nvSpPr>
        <p:spPr>
          <a:xfrm>
            <a:off x="4572000" y="1234440"/>
            <a:ext cx="3017520" cy="1554480"/>
          </a:xfrm>
          <a:prstGeom prst="rect">
            <a:avLst/>
          </a:prstGeom>
          <a:solidFill>
            <a:srgbClr val="1E293B"/>
          </a:solidFill>
          <a:ln w="12700">
            <a:solidFill>
              <a:srgbClr val="1E3A5F"/>
            </a:solidFill>
            <a:prstDash val="solid"/>
          </a:ln>
        </p:spPr>
      </p:sp>
      <p:sp>
        <p:nvSpPr>
          <p:cNvPr id="13" name="Text 11"/>
          <p:cNvSpPr/>
          <p:nvPr/>
        </p:nvSpPr>
        <p:spPr>
          <a:xfrm>
            <a:off x="4572000" y="1417320"/>
            <a:ext cx="3017520" cy="640080"/>
          </a:xfrm>
          <a:prstGeom prst="rect">
            <a:avLst/>
          </a:prstGeom>
          <a:noFill/>
          <a:ln/>
        </p:spPr>
        <p:txBody>
          <a:bodyPr wrap="square" lIns="0" tIns="0" rIns="0" bIns="0" rtlCol="0" anchor="ctr"/>
          <a:lstStyle/>
          <a:p>
            <a:pPr marL="0" indent="0" algn="ctr">
              <a:buNone/>
            </a:pPr>
            <a:r>
              <a:rPr lang="en-US" sz="4400" b="1" dirty="0">
                <a:solidFill>
                  <a:srgbClr val="94A3B8"/>
                </a:solidFill>
              </a:rPr>
              <a:t>0</a:t>
            </a:r>
            <a:endParaRPr lang="en-US" sz="4400" dirty="0"/>
          </a:p>
        </p:txBody>
      </p:sp>
      <p:sp>
        <p:nvSpPr>
          <p:cNvPr id="14" name="Text 12"/>
          <p:cNvSpPr/>
          <p:nvPr/>
        </p:nvSpPr>
        <p:spPr>
          <a:xfrm>
            <a:off x="4572000" y="2103120"/>
            <a:ext cx="3017520" cy="594360"/>
          </a:xfrm>
          <a:prstGeom prst="rect">
            <a:avLst/>
          </a:prstGeom>
          <a:noFill/>
          <a:ln/>
        </p:spPr>
        <p:txBody>
          <a:bodyPr wrap="square" lIns="0" tIns="0" rIns="0" bIns="0" rtlCol="0" anchor="ctr"/>
          <a:lstStyle/>
          <a:p>
            <a:pPr marL="0" indent="0" algn="ctr">
              <a:buNone/>
            </a:pPr>
            <a:r>
              <a:rPr lang="en-US" sz="1000" dirty="0">
                <a:solidFill>
                  <a:srgbClr val="94A3B8"/>
                </a:solidFill>
              </a:rPr>
              <a:t>False Positive</a:t>
            </a:r>
            <a:endParaRPr lang="en-US" sz="1000" dirty="0"/>
          </a:p>
          <a:p>
            <a:pPr marL="0" indent="0" algn="ctr">
              <a:buNone/>
            </a:pPr>
            <a:r>
              <a:rPr lang="en-US" sz="1000" dirty="0">
                <a:solidFill>
                  <a:srgbClr val="94A3B8"/>
                </a:solidFill>
              </a:rPr>
              <a:t>Susceptible incorrectly</a:t>
            </a:r>
            <a:endParaRPr lang="en-US" sz="1000" dirty="0"/>
          </a:p>
          <a:p>
            <a:pPr marL="0" indent="0" algn="ctr">
              <a:buNone/>
            </a:pPr>
            <a:r>
              <a:rPr lang="en-US" sz="1000" dirty="0">
                <a:solidFill>
                  <a:srgbClr val="94A3B8"/>
                </a:solidFill>
              </a:rPr>
              <a:t>predicted resistant</a:t>
            </a:r>
            <a:endParaRPr lang="en-US" sz="1000" dirty="0"/>
          </a:p>
        </p:txBody>
      </p:sp>
      <p:sp>
        <p:nvSpPr>
          <p:cNvPr id="15" name="Shape 13"/>
          <p:cNvSpPr/>
          <p:nvPr/>
        </p:nvSpPr>
        <p:spPr>
          <a:xfrm>
            <a:off x="1371600" y="3017520"/>
            <a:ext cx="3017520" cy="1554480"/>
          </a:xfrm>
          <a:prstGeom prst="rect">
            <a:avLst/>
          </a:prstGeom>
          <a:solidFill>
            <a:srgbClr val="1E293B"/>
          </a:solidFill>
          <a:ln w="12700">
            <a:solidFill>
              <a:srgbClr val="1E3A5F"/>
            </a:solidFill>
            <a:prstDash val="solid"/>
          </a:ln>
        </p:spPr>
      </p:sp>
      <p:sp>
        <p:nvSpPr>
          <p:cNvPr id="16" name="Text 14"/>
          <p:cNvSpPr/>
          <p:nvPr/>
        </p:nvSpPr>
        <p:spPr>
          <a:xfrm>
            <a:off x="1371600" y="3200400"/>
            <a:ext cx="3017520" cy="640080"/>
          </a:xfrm>
          <a:prstGeom prst="rect">
            <a:avLst/>
          </a:prstGeom>
          <a:noFill/>
          <a:ln/>
        </p:spPr>
        <p:txBody>
          <a:bodyPr wrap="square" lIns="0" tIns="0" rIns="0" bIns="0" rtlCol="0" anchor="ctr"/>
          <a:lstStyle/>
          <a:p>
            <a:pPr marL="0" indent="0" algn="ctr">
              <a:buNone/>
            </a:pPr>
            <a:r>
              <a:rPr lang="en-US" sz="4400" b="1" dirty="0">
                <a:solidFill>
                  <a:srgbClr val="94A3B8"/>
                </a:solidFill>
              </a:rPr>
              <a:t>0</a:t>
            </a:r>
            <a:endParaRPr lang="en-US" sz="4400" dirty="0"/>
          </a:p>
        </p:txBody>
      </p:sp>
      <p:sp>
        <p:nvSpPr>
          <p:cNvPr id="17" name="Text 15"/>
          <p:cNvSpPr/>
          <p:nvPr/>
        </p:nvSpPr>
        <p:spPr>
          <a:xfrm>
            <a:off x="1371600" y="3886200"/>
            <a:ext cx="3017520" cy="594360"/>
          </a:xfrm>
          <a:prstGeom prst="rect">
            <a:avLst/>
          </a:prstGeom>
          <a:noFill/>
          <a:ln/>
        </p:spPr>
        <p:txBody>
          <a:bodyPr wrap="square" lIns="0" tIns="0" rIns="0" bIns="0" rtlCol="0" anchor="ctr"/>
          <a:lstStyle/>
          <a:p>
            <a:pPr marL="0" indent="0" algn="ctr">
              <a:buNone/>
            </a:pPr>
            <a:r>
              <a:rPr lang="en-US" sz="1000" dirty="0">
                <a:solidFill>
                  <a:srgbClr val="94A3B8"/>
                </a:solidFill>
              </a:rPr>
              <a:t>False Negative</a:t>
            </a:r>
            <a:endParaRPr lang="en-US" sz="1000" dirty="0"/>
          </a:p>
          <a:p>
            <a:pPr marL="0" indent="0" algn="ctr">
              <a:buNone/>
            </a:pPr>
            <a:r>
              <a:rPr lang="en-US" sz="1000" dirty="0">
                <a:solidFill>
                  <a:srgbClr val="94A3B8"/>
                </a:solidFill>
              </a:rPr>
              <a:t>Resistant incorrectly</a:t>
            </a:r>
            <a:endParaRPr lang="en-US" sz="1000" dirty="0"/>
          </a:p>
          <a:p>
            <a:pPr marL="0" indent="0" algn="ctr">
              <a:buNone/>
            </a:pPr>
            <a:r>
              <a:rPr lang="en-US" sz="1000" dirty="0">
                <a:solidFill>
                  <a:srgbClr val="94A3B8"/>
                </a:solidFill>
              </a:rPr>
              <a:t>predicted susceptible</a:t>
            </a:r>
            <a:endParaRPr lang="en-US" sz="1000" dirty="0"/>
          </a:p>
        </p:txBody>
      </p:sp>
      <p:sp>
        <p:nvSpPr>
          <p:cNvPr id="18" name="Shape 16"/>
          <p:cNvSpPr/>
          <p:nvPr/>
        </p:nvSpPr>
        <p:spPr>
          <a:xfrm>
            <a:off x="4572000" y="3017520"/>
            <a:ext cx="3017520" cy="1554480"/>
          </a:xfrm>
          <a:prstGeom prst="rect">
            <a:avLst/>
          </a:prstGeom>
          <a:solidFill>
            <a:srgbClr val="064E3B"/>
          </a:solidFill>
          <a:ln w="12700">
            <a:solidFill>
              <a:srgbClr val="1E3A5F"/>
            </a:solidFill>
            <a:prstDash val="solid"/>
          </a:ln>
        </p:spPr>
      </p:sp>
      <p:sp>
        <p:nvSpPr>
          <p:cNvPr id="19" name="Text 17"/>
          <p:cNvSpPr/>
          <p:nvPr/>
        </p:nvSpPr>
        <p:spPr>
          <a:xfrm>
            <a:off x="4572000" y="3200400"/>
            <a:ext cx="3017520" cy="640080"/>
          </a:xfrm>
          <a:prstGeom prst="rect">
            <a:avLst/>
          </a:prstGeom>
          <a:noFill/>
          <a:ln/>
        </p:spPr>
        <p:txBody>
          <a:bodyPr wrap="square" lIns="0" tIns="0" rIns="0" bIns="0" rtlCol="0" anchor="ctr"/>
          <a:lstStyle/>
          <a:p>
            <a:pPr marL="0" indent="0" algn="ctr">
              <a:buNone/>
            </a:pPr>
            <a:r>
              <a:rPr lang="en-US" sz="4400" b="1" dirty="0">
                <a:solidFill>
                  <a:srgbClr val="CCFBF1"/>
                </a:solidFill>
              </a:rPr>
              <a:t>140</a:t>
            </a:r>
            <a:endParaRPr lang="en-US" sz="4400" dirty="0"/>
          </a:p>
        </p:txBody>
      </p:sp>
      <p:sp>
        <p:nvSpPr>
          <p:cNvPr id="20" name="Text 18"/>
          <p:cNvSpPr/>
          <p:nvPr/>
        </p:nvSpPr>
        <p:spPr>
          <a:xfrm>
            <a:off x="4572000" y="3886200"/>
            <a:ext cx="3017520" cy="594360"/>
          </a:xfrm>
          <a:prstGeom prst="rect">
            <a:avLst/>
          </a:prstGeom>
          <a:noFill/>
          <a:ln/>
        </p:spPr>
        <p:txBody>
          <a:bodyPr wrap="square" lIns="0" tIns="0" rIns="0" bIns="0" rtlCol="0" anchor="ctr"/>
          <a:lstStyle/>
          <a:p>
            <a:pPr marL="0" indent="0" algn="ctr">
              <a:buNone/>
            </a:pPr>
            <a:r>
              <a:rPr lang="en-US" sz="1000" dirty="0">
                <a:solidFill>
                  <a:srgbClr val="CCFBF1"/>
                </a:solidFill>
              </a:rPr>
              <a:t>True Positive</a:t>
            </a:r>
            <a:endParaRPr lang="en-US" sz="1000" dirty="0"/>
          </a:p>
          <a:p>
            <a:pPr marL="0" indent="0" algn="ctr">
              <a:buNone/>
            </a:pPr>
            <a:r>
              <a:rPr lang="en-US" sz="1000" dirty="0">
                <a:solidFill>
                  <a:srgbClr val="CCFBF1"/>
                </a:solidFill>
              </a:rPr>
              <a:t>Resistant correctly</a:t>
            </a:r>
            <a:endParaRPr lang="en-US" sz="1000" dirty="0"/>
          </a:p>
          <a:p>
            <a:pPr marL="0" indent="0" algn="ctr">
              <a:buNone/>
            </a:pPr>
            <a:r>
              <a:rPr lang="en-US" sz="1000" dirty="0">
                <a:solidFill>
                  <a:srgbClr val="CCFBF1"/>
                </a:solidFill>
              </a:rPr>
              <a:t>predicted resistant</a:t>
            </a:r>
            <a:endParaRPr lang="en-US" sz="1000" dirty="0"/>
          </a:p>
        </p:txBody>
      </p:sp>
      <p:sp>
        <p:nvSpPr>
          <p:cNvPr id="21" name="Text 19"/>
          <p:cNvSpPr/>
          <p:nvPr/>
        </p:nvSpPr>
        <p:spPr>
          <a:xfrm>
            <a:off x="457200" y="4663440"/>
            <a:ext cx="8229600" cy="365760"/>
          </a:xfrm>
          <a:prstGeom prst="rect">
            <a:avLst/>
          </a:prstGeom>
          <a:noFill/>
          <a:ln/>
        </p:spPr>
        <p:txBody>
          <a:bodyPr wrap="square" lIns="0" tIns="0" rIns="0" bIns="0" rtlCol="0" anchor="ctr"/>
          <a:lstStyle/>
          <a:p>
            <a:pPr marL="0" indent="0" algn="ctr">
              <a:buNone/>
            </a:pPr>
            <a:r>
              <a:rPr lang="en-US" sz="1150" b="1" dirty="0">
                <a:solidFill>
                  <a:srgbClr val="5EEAD4"/>
                </a:solidFill>
              </a:rPr>
              <a:t>Perfect classification — zero false negatives, zero false positives.</a:t>
            </a:r>
            <a:endParaRPr lang="en-US" sz="1150" dirty="0"/>
          </a:p>
          <a:p>
            <a:pPr marL="0" indent="0" algn="ctr">
              <a:buNone/>
            </a:pPr>
            <a:r>
              <a:rPr lang="en-US" sz="1150" b="1" dirty="0">
                <a:solidFill>
                  <a:srgbClr val="5EEAD4"/>
                </a:solidFill>
              </a:rPr>
              <a:t>Clinically critical: no resistant isolates missed by the model.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2  |  Literature Review</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400" b="1" dirty="0">
                <a:solidFill>
                  <a:srgbClr val="FFFFFF"/>
                </a:solidFill>
              </a:rPr>
              <a:t>Comparison with Published Literature</a:t>
            </a:r>
            <a:endParaRPr lang="en-US" sz="2400" dirty="0"/>
          </a:p>
        </p:txBody>
      </p:sp>
      <p:sp>
        <p:nvSpPr>
          <p:cNvPr id="5" name="Shape 3"/>
          <p:cNvSpPr/>
          <p:nvPr/>
        </p:nvSpPr>
        <p:spPr>
          <a:xfrm>
            <a:off x="274320" y="1051560"/>
            <a:ext cx="8595360" cy="685800"/>
          </a:xfrm>
          <a:prstGeom prst="rect">
            <a:avLst/>
          </a:prstGeom>
          <a:solidFill>
            <a:srgbClr val="F0F9FF"/>
          </a:solidFill>
          <a:ln w="6350">
            <a:solidFill>
              <a:srgbClr val="E2E8F0"/>
            </a:solidFill>
            <a:prstDash val="solid"/>
          </a:ln>
        </p:spPr>
      </p:sp>
      <p:sp>
        <p:nvSpPr>
          <p:cNvPr id="6" name="Text 4"/>
          <p:cNvSpPr/>
          <p:nvPr/>
        </p:nvSpPr>
        <p:spPr>
          <a:xfrm>
            <a:off x="457200" y="1106424"/>
            <a:ext cx="2286000" cy="274320"/>
          </a:xfrm>
          <a:prstGeom prst="rect">
            <a:avLst/>
          </a:prstGeom>
          <a:noFill/>
          <a:ln/>
        </p:spPr>
        <p:txBody>
          <a:bodyPr wrap="square" lIns="0" tIns="0" rIns="0" bIns="0" rtlCol="0" anchor="ctr"/>
          <a:lstStyle/>
          <a:p>
            <a:pPr marL="0" indent="0">
              <a:buNone/>
            </a:pPr>
            <a:r>
              <a:rPr lang="en-US" sz="1150" b="1" dirty="0">
                <a:solidFill>
                  <a:srgbClr val="1E293B"/>
                </a:solidFill>
              </a:rPr>
              <a:t>Drouin et al. (2016)</a:t>
            </a:r>
            <a:endParaRPr lang="en-US" sz="1150" dirty="0"/>
          </a:p>
        </p:txBody>
      </p:sp>
      <p:sp>
        <p:nvSpPr>
          <p:cNvPr id="7" name="Text 5"/>
          <p:cNvSpPr/>
          <p:nvPr/>
        </p:nvSpPr>
        <p:spPr>
          <a:xfrm>
            <a:off x="457200" y="1399032"/>
            <a:ext cx="2286000" cy="256032"/>
          </a:xfrm>
          <a:prstGeom prst="rect">
            <a:avLst/>
          </a:prstGeom>
          <a:noFill/>
          <a:ln/>
        </p:spPr>
        <p:txBody>
          <a:bodyPr wrap="square" lIns="0" tIns="0" rIns="0" bIns="0" rtlCol="0" anchor="ctr"/>
          <a:lstStyle/>
          <a:p>
            <a:pPr marL="0" indent="0">
              <a:buNone/>
            </a:pPr>
            <a:r>
              <a:rPr lang="en-US" sz="950" i="1" dirty="0">
                <a:solidFill>
                  <a:srgbClr val="475569"/>
                </a:solidFill>
              </a:rPr>
              <a:t>Bioinformatics</a:t>
            </a:r>
            <a:endParaRPr lang="en-US" sz="950" dirty="0"/>
          </a:p>
        </p:txBody>
      </p:sp>
      <p:sp>
        <p:nvSpPr>
          <p:cNvPr id="8" name="Text 6"/>
          <p:cNvSpPr/>
          <p:nvPr/>
        </p:nvSpPr>
        <p:spPr>
          <a:xfrm>
            <a:off x="2743200" y="1106424"/>
            <a:ext cx="5212080" cy="502920"/>
          </a:xfrm>
          <a:prstGeom prst="rect">
            <a:avLst/>
          </a:prstGeom>
          <a:noFill/>
          <a:ln/>
        </p:spPr>
        <p:txBody>
          <a:bodyPr wrap="square" lIns="0" tIns="0" rIns="0" bIns="0" rtlCol="0" anchor="ctr"/>
          <a:lstStyle/>
          <a:p>
            <a:pPr marL="0" indent="0">
              <a:buNone/>
            </a:pPr>
            <a:r>
              <a:rPr lang="en-US" sz="1050" dirty="0">
                <a:solidFill>
                  <a:srgbClr val="475569"/>
                </a:solidFill>
              </a:rPr>
              <a:t>Set Covering Machine for AMR; k-mer features; high accuracy on E. coli quinolone resistance</a:t>
            </a:r>
            <a:endParaRPr lang="en-US" sz="1050" dirty="0"/>
          </a:p>
        </p:txBody>
      </p:sp>
      <p:sp>
        <p:nvSpPr>
          <p:cNvPr id="9" name="Shape 7"/>
          <p:cNvSpPr/>
          <p:nvPr/>
        </p:nvSpPr>
        <p:spPr>
          <a:xfrm>
            <a:off x="7955280" y="1161288"/>
            <a:ext cx="822960" cy="411480"/>
          </a:xfrm>
          <a:prstGeom prst="rect">
            <a:avLst/>
          </a:prstGeom>
          <a:solidFill>
            <a:srgbClr val="0A1628"/>
          </a:solidFill>
          <a:ln w="12700">
            <a:solidFill>
              <a:srgbClr val="0A1628"/>
            </a:solidFill>
            <a:prstDash val="solid"/>
          </a:ln>
        </p:spPr>
      </p:sp>
      <p:sp>
        <p:nvSpPr>
          <p:cNvPr id="10" name="Text 8"/>
          <p:cNvSpPr/>
          <p:nvPr/>
        </p:nvSpPr>
        <p:spPr>
          <a:xfrm>
            <a:off x="7955280" y="1161288"/>
            <a:ext cx="822960" cy="411480"/>
          </a:xfrm>
          <a:prstGeom prst="rect">
            <a:avLst/>
          </a:prstGeom>
          <a:noFill/>
          <a:ln/>
        </p:spPr>
        <p:txBody>
          <a:bodyPr wrap="square" lIns="0" tIns="0" rIns="0" bIns="0" rtlCol="0" anchor="ctr"/>
          <a:lstStyle/>
          <a:p>
            <a:pPr marL="0" indent="0" algn="ctr">
              <a:buNone/>
            </a:pPr>
            <a:r>
              <a:rPr lang="en-US" sz="950" b="1" dirty="0">
                <a:solidFill>
                  <a:srgbClr val="FFFFFF"/>
                </a:solidFill>
              </a:rPr>
              <a:t>~92%</a:t>
            </a:r>
            <a:endParaRPr lang="en-US" sz="950" dirty="0"/>
          </a:p>
        </p:txBody>
      </p:sp>
      <p:sp>
        <p:nvSpPr>
          <p:cNvPr id="11" name="Shape 9"/>
          <p:cNvSpPr/>
          <p:nvPr/>
        </p:nvSpPr>
        <p:spPr>
          <a:xfrm>
            <a:off x="274320" y="1837944"/>
            <a:ext cx="8595360" cy="685800"/>
          </a:xfrm>
          <a:prstGeom prst="rect">
            <a:avLst/>
          </a:prstGeom>
          <a:solidFill>
            <a:srgbClr val="F0F9FF"/>
          </a:solidFill>
          <a:ln w="6350">
            <a:solidFill>
              <a:srgbClr val="E2E8F0"/>
            </a:solidFill>
            <a:prstDash val="solid"/>
          </a:ln>
        </p:spPr>
      </p:sp>
      <p:sp>
        <p:nvSpPr>
          <p:cNvPr id="12" name="Text 10"/>
          <p:cNvSpPr/>
          <p:nvPr/>
        </p:nvSpPr>
        <p:spPr>
          <a:xfrm>
            <a:off x="457200" y="1892808"/>
            <a:ext cx="2286000" cy="274320"/>
          </a:xfrm>
          <a:prstGeom prst="rect">
            <a:avLst/>
          </a:prstGeom>
          <a:noFill/>
          <a:ln/>
        </p:spPr>
        <p:txBody>
          <a:bodyPr wrap="square" lIns="0" tIns="0" rIns="0" bIns="0" rtlCol="0" anchor="ctr"/>
          <a:lstStyle/>
          <a:p>
            <a:pPr marL="0" indent="0">
              <a:buNone/>
            </a:pPr>
            <a:r>
              <a:rPr lang="en-US" sz="1150" b="1" dirty="0">
                <a:solidFill>
                  <a:srgbClr val="1E293B"/>
                </a:solidFill>
              </a:rPr>
              <a:t>Moradigaravand et al. (2018)</a:t>
            </a:r>
            <a:endParaRPr lang="en-US" sz="1150" dirty="0"/>
          </a:p>
        </p:txBody>
      </p:sp>
      <p:sp>
        <p:nvSpPr>
          <p:cNvPr id="13" name="Text 11"/>
          <p:cNvSpPr/>
          <p:nvPr/>
        </p:nvSpPr>
        <p:spPr>
          <a:xfrm>
            <a:off x="457200" y="2185416"/>
            <a:ext cx="2286000" cy="256032"/>
          </a:xfrm>
          <a:prstGeom prst="rect">
            <a:avLst/>
          </a:prstGeom>
          <a:noFill/>
          <a:ln/>
        </p:spPr>
        <p:txBody>
          <a:bodyPr wrap="square" lIns="0" tIns="0" rIns="0" bIns="0" rtlCol="0" anchor="ctr"/>
          <a:lstStyle/>
          <a:p>
            <a:pPr marL="0" indent="0">
              <a:buNone/>
            </a:pPr>
            <a:r>
              <a:rPr lang="en-US" sz="950" i="1" dirty="0">
                <a:solidFill>
                  <a:srgbClr val="475569"/>
                </a:solidFill>
              </a:rPr>
              <a:t>PLOS Comp. Biol.</a:t>
            </a:r>
            <a:endParaRPr lang="en-US" sz="950" dirty="0"/>
          </a:p>
        </p:txBody>
      </p:sp>
      <p:sp>
        <p:nvSpPr>
          <p:cNvPr id="14" name="Text 12"/>
          <p:cNvSpPr/>
          <p:nvPr/>
        </p:nvSpPr>
        <p:spPr>
          <a:xfrm>
            <a:off x="2743200" y="1892808"/>
            <a:ext cx="5212080" cy="502920"/>
          </a:xfrm>
          <a:prstGeom prst="rect">
            <a:avLst/>
          </a:prstGeom>
          <a:noFill/>
          <a:ln/>
        </p:spPr>
        <p:txBody>
          <a:bodyPr wrap="square" lIns="0" tIns="0" rIns="0" bIns="0" rtlCol="0" anchor="ctr"/>
          <a:lstStyle/>
          <a:p>
            <a:pPr marL="0" indent="0">
              <a:buNone/>
            </a:pPr>
            <a:r>
              <a:rPr lang="en-US" sz="1050" dirty="0">
                <a:solidFill>
                  <a:srgbClr val="475569"/>
                </a:solidFill>
              </a:rPr>
              <a:t>Pan-genome RF for E. coli; 14-antibiotic panel; genetic background improved prediction</a:t>
            </a:r>
            <a:endParaRPr lang="en-US" sz="1050" dirty="0"/>
          </a:p>
        </p:txBody>
      </p:sp>
      <p:sp>
        <p:nvSpPr>
          <p:cNvPr id="15" name="Shape 13"/>
          <p:cNvSpPr/>
          <p:nvPr/>
        </p:nvSpPr>
        <p:spPr>
          <a:xfrm>
            <a:off x="7955280" y="1892808"/>
            <a:ext cx="822960" cy="411480"/>
          </a:xfrm>
          <a:prstGeom prst="rect">
            <a:avLst/>
          </a:prstGeom>
          <a:solidFill>
            <a:srgbClr val="0A1628"/>
          </a:solidFill>
          <a:ln w="12700">
            <a:solidFill>
              <a:srgbClr val="0A1628"/>
            </a:solidFill>
            <a:prstDash val="solid"/>
          </a:ln>
        </p:spPr>
      </p:sp>
      <p:sp>
        <p:nvSpPr>
          <p:cNvPr id="16" name="Text 14"/>
          <p:cNvSpPr/>
          <p:nvPr/>
        </p:nvSpPr>
        <p:spPr>
          <a:xfrm>
            <a:off x="7955280" y="1892808"/>
            <a:ext cx="822960" cy="411480"/>
          </a:xfrm>
          <a:prstGeom prst="rect">
            <a:avLst/>
          </a:prstGeom>
          <a:noFill/>
          <a:ln/>
        </p:spPr>
        <p:txBody>
          <a:bodyPr wrap="square" lIns="0" tIns="0" rIns="0" bIns="0" rtlCol="0" anchor="ctr"/>
          <a:lstStyle/>
          <a:p>
            <a:pPr marL="0" indent="0" algn="ctr">
              <a:buNone/>
            </a:pPr>
            <a:r>
              <a:rPr lang="en-US" sz="950" b="1" dirty="0">
                <a:solidFill>
                  <a:srgbClr val="FFFFFF"/>
                </a:solidFill>
              </a:rPr>
              <a:t>~91%</a:t>
            </a:r>
            <a:endParaRPr lang="en-US" sz="950" dirty="0"/>
          </a:p>
        </p:txBody>
      </p:sp>
      <p:sp>
        <p:nvSpPr>
          <p:cNvPr id="17" name="Shape 15"/>
          <p:cNvSpPr/>
          <p:nvPr/>
        </p:nvSpPr>
        <p:spPr>
          <a:xfrm>
            <a:off x="274320" y="2624328"/>
            <a:ext cx="8595360" cy="685800"/>
          </a:xfrm>
          <a:prstGeom prst="rect">
            <a:avLst/>
          </a:prstGeom>
          <a:solidFill>
            <a:srgbClr val="F0F9FF"/>
          </a:solidFill>
          <a:ln w="6350">
            <a:solidFill>
              <a:srgbClr val="E2E8F0"/>
            </a:solidFill>
            <a:prstDash val="solid"/>
          </a:ln>
        </p:spPr>
      </p:sp>
      <p:sp>
        <p:nvSpPr>
          <p:cNvPr id="18" name="Text 16"/>
          <p:cNvSpPr/>
          <p:nvPr/>
        </p:nvSpPr>
        <p:spPr>
          <a:xfrm>
            <a:off x="457200" y="2679192"/>
            <a:ext cx="2286000" cy="274320"/>
          </a:xfrm>
          <a:prstGeom prst="rect">
            <a:avLst/>
          </a:prstGeom>
          <a:noFill/>
          <a:ln/>
        </p:spPr>
        <p:txBody>
          <a:bodyPr wrap="square" lIns="0" tIns="0" rIns="0" bIns="0" rtlCol="0" anchor="ctr"/>
          <a:lstStyle/>
          <a:p>
            <a:pPr marL="0" indent="0">
              <a:buNone/>
            </a:pPr>
            <a:r>
              <a:rPr lang="en-US" sz="1150" b="1" dirty="0">
                <a:solidFill>
                  <a:srgbClr val="1E293B"/>
                </a:solidFill>
              </a:rPr>
              <a:t>Pires et al. (2019)</a:t>
            </a:r>
            <a:endParaRPr lang="en-US" sz="1150" dirty="0"/>
          </a:p>
        </p:txBody>
      </p:sp>
      <p:sp>
        <p:nvSpPr>
          <p:cNvPr id="19" name="Text 17"/>
          <p:cNvSpPr/>
          <p:nvPr/>
        </p:nvSpPr>
        <p:spPr>
          <a:xfrm>
            <a:off x="457200" y="2971800"/>
            <a:ext cx="2286000" cy="256032"/>
          </a:xfrm>
          <a:prstGeom prst="rect">
            <a:avLst/>
          </a:prstGeom>
          <a:noFill/>
          <a:ln/>
        </p:spPr>
        <p:txBody>
          <a:bodyPr wrap="square" lIns="0" tIns="0" rIns="0" bIns="0" rtlCol="0" anchor="ctr"/>
          <a:lstStyle/>
          <a:p>
            <a:pPr marL="0" indent="0">
              <a:buNone/>
            </a:pPr>
            <a:r>
              <a:rPr lang="en-US" sz="950" i="1" dirty="0">
                <a:solidFill>
                  <a:srgbClr val="475569"/>
                </a:solidFill>
              </a:rPr>
              <a:t>J. Antimicrob. Chemo.</a:t>
            </a:r>
            <a:endParaRPr lang="en-US" sz="950" dirty="0"/>
          </a:p>
        </p:txBody>
      </p:sp>
      <p:sp>
        <p:nvSpPr>
          <p:cNvPr id="20" name="Text 18"/>
          <p:cNvSpPr/>
          <p:nvPr/>
        </p:nvSpPr>
        <p:spPr>
          <a:xfrm>
            <a:off x="2743200" y="2679192"/>
            <a:ext cx="5212080" cy="502920"/>
          </a:xfrm>
          <a:prstGeom prst="rect">
            <a:avLst/>
          </a:prstGeom>
          <a:noFill/>
          <a:ln/>
        </p:spPr>
        <p:txBody>
          <a:bodyPr wrap="square" lIns="0" tIns="0" rIns="0" bIns="0" rtlCol="0" anchor="ctr"/>
          <a:lstStyle/>
          <a:p>
            <a:pPr marL="0" indent="0">
              <a:buNone/>
            </a:pPr>
            <a:r>
              <a:rPr lang="en-US" sz="1050" dirty="0">
                <a:solidFill>
                  <a:srgbClr val="475569"/>
                </a:solidFill>
              </a:rPr>
              <a:t>Multi-label ML for K. pneumoniae; XGBoost and RF outperformed SVM on complex resistance</a:t>
            </a:r>
            <a:endParaRPr lang="en-US" sz="1050" dirty="0"/>
          </a:p>
        </p:txBody>
      </p:sp>
      <p:sp>
        <p:nvSpPr>
          <p:cNvPr id="21" name="Shape 19"/>
          <p:cNvSpPr/>
          <p:nvPr/>
        </p:nvSpPr>
        <p:spPr>
          <a:xfrm>
            <a:off x="7955280" y="2747772"/>
            <a:ext cx="822960" cy="411480"/>
          </a:xfrm>
          <a:prstGeom prst="rect">
            <a:avLst/>
          </a:prstGeom>
          <a:solidFill>
            <a:srgbClr val="0A1628"/>
          </a:solidFill>
          <a:ln w="12700">
            <a:solidFill>
              <a:srgbClr val="0A1628"/>
            </a:solidFill>
            <a:prstDash val="solid"/>
          </a:ln>
        </p:spPr>
      </p:sp>
      <p:sp>
        <p:nvSpPr>
          <p:cNvPr id="22" name="Text 20"/>
          <p:cNvSpPr/>
          <p:nvPr/>
        </p:nvSpPr>
        <p:spPr>
          <a:xfrm>
            <a:off x="7955280" y="2747772"/>
            <a:ext cx="822960" cy="411480"/>
          </a:xfrm>
          <a:prstGeom prst="rect">
            <a:avLst/>
          </a:prstGeom>
          <a:noFill/>
          <a:ln/>
        </p:spPr>
        <p:txBody>
          <a:bodyPr wrap="square" lIns="0" tIns="0" rIns="0" bIns="0" rtlCol="0" anchor="ctr"/>
          <a:lstStyle/>
          <a:p>
            <a:pPr marL="0" indent="0" algn="ctr">
              <a:buNone/>
            </a:pPr>
            <a:r>
              <a:rPr lang="en-US" sz="950" b="1" dirty="0">
                <a:solidFill>
                  <a:srgbClr val="FFFFFF"/>
                </a:solidFill>
              </a:rPr>
              <a:t>~89%</a:t>
            </a:r>
            <a:endParaRPr lang="en-US" sz="950" dirty="0"/>
          </a:p>
        </p:txBody>
      </p:sp>
      <p:sp>
        <p:nvSpPr>
          <p:cNvPr id="23" name="Shape 21"/>
          <p:cNvSpPr/>
          <p:nvPr/>
        </p:nvSpPr>
        <p:spPr>
          <a:xfrm>
            <a:off x="274320" y="3410712"/>
            <a:ext cx="8595360" cy="685800"/>
          </a:xfrm>
          <a:prstGeom prst="rect">
            <a:avLst/>
          </a:prstGeom>
          <a:solidFill>
            <a:srgbClr val="F0F9FF"/>
          </a:solidFill>
          <a:ln w="6350">
            <a:solidFill>
              <a:srgbClr val="E2E8F0"/>
            </a:solidFill>
            <a:prstDash val="solid"/>
          </a:ln>
        </p:spPr>
      </p:sp>
      <p:sp>
        <p:nvSpPr>
          <p:cNvPr id="24" name="Text 22"/>
          <p:cNvSpPr/>
          <p:nvPr/>
        </p:nvSpPr>
        <p:spPr>
          <a:xfrm>
            <a:off x="457200" y="3465576"/>
            <a:ext cx="2286000" cy="274320"/>
          </a:xfrm>
          <a:prstGeom prst="rect">
            <a:avLst/>
          </a:prstGeom>
          <a:noFill/>
          <a:ln/>
        </p:spPr>
        <p:txBody>
          <a:bodyPr wrap="square" lIns="0" tIns="0" rIns="0" bIns="0" rtlCol="0" anchor="ctr"/>
          <a:lstStyle/>
          <a:p>
            <a:pPr marL="0" indent="0">
              <a:buNone/>
            </a:pPr>
            <a:r>
              <a:rPr lang="en-US" sz="1150" b="1" dirty="0">
                <a:solidFill>
                  <a:srgbClr val="1E293B"/>
                </a:solidFill>
              </a:rPr>
              <a:t>Moran et al. (2022)</a:t>
            </a:r>
            <a:endParaRPr lang="en-US" sz="1150" dirty="0"/>
          </a:p>
        </p:txBody>
      </p:sp>
      <p:sp>
        <p:nvSpPr>
          <p:cNvPr id="25" name="Text 23"/>
          <p:cNvSpPr/>
          <p:nvPr/>
        </p:nvSpPr>
        <p:spPr>
          <a:xfrm>
            <a:off x="457200" y="3758184"/>
            <a:ext cx="2286000" cy="256032"/>
          </a:xfrm>
          <a:prstGeom prst="rect">
            <a:avLst/>
          </a:prstGeom>
          <a:noFill/>
          <a:ln/>
        </p:spPr>
        <p:txBody>
          <a:bodyPr wrap="square" lIns="0" tIns="0" rIns="0" bIns="0" rtlCol="0" anchor="ctr"/>
          <a:lstStyle/>
          <a:p>
            <a:pPr marL="0" indent="0">
              <a:buNone/>
            </a:pPr>
            <a:r>
              <a:rPr lang="en-US" sz="950" i="1" dirty="0">
                <a:solidFill>
                  <a:srgbClr val="475569"/>
                </a:solidFill>
              </a:rPr>
              <a:t>J. Infection</a:t>
            </a:r>
            <a:endParaRPr lang="en-US" sz="950" dirty="0"/>
          </a:p>
        </p:txBody>
      </p:sp>
      <p:sp>
        <p:nvSpPr>
          <p:cNvPr id="26" name="Text 24"/>
          <p:cNvSpPr/>
          <p:nvPr/>
        </p:nvSpPr>
        <p:spPr>
          <a:xfrm>
            <a:off x="2743200" y="3465576"/>
            <a:ext cx="5212080" cy="502920"/>
          </a:xfrm>
          <a:prstGeom prst="rect">
            <a:avLst/>
          </a:prstGeom>
          <a:noFill/>
          <a:ln/>
        </p:spPr>
        <p:txBody>
          <a:bodyPr wrap="square" lIns="0" tIns="0" rIns="0" bIns="0" rtlCol="0" anchor="ctr"/>
          <a:lstStyle/>
          <a:p>
            <a:pPr marL="0" indent="0">
              <a:buNone/>
            </a:pPr>
            <a:r>
              <a:rPr lang="en-US" sz="1050" dirty="0">
                <a:solidFill>
                  <a:srgbClr val="475569"/>
                </a:solidFill>
              </a:rPr>
              <a:t>Meta-analysis of 45 AMR ML studies; median test accuracy 88.7%; RF most common algorithm</a:t>
            </a:r>
            <a:endParaRPr lang="en-US" sz="1050" dirty="0"/>
          </a:p>
        </p:txBody>
      </p:sp>
      <p:sp>
        <p:nvSpPr>
          <p:cNvPr id="27" name="Shape 25"/>
          <p:cNvSpPr/>
          <p:nvPr/>
        </p:nvSpPr>
        <p:spPr>
          <a:xfrm>
            <a:off x="7955280" y="3520440"/>
            <a:ext cx="822960" cy="411480"/>
          </a:xfrm>
          <a:prstGeom prst="rect">
            <a:avLst/>
          </a:prstGeom>
          <a:solidFill>
            <a:srgbClr val="0A1628"/>
          </a:solidFill>
          <a:ln w="12700">
            <a:solidFill>
              <a:srgbClr val="0A1628"/>
            </a:solidFill>
            <a:prstDash val="solid"/>
          </a:ln>
        </p:spPr>
      </p:sp>
      <p:sp>
        <p:nvSpPr>
          <p:cNvPr id="28" name="Text 26"/>
          <p:cNvSpPr/>
          <p:nvPr/>
        </p:nvSpPr>
        <p:spPr>
          <a:xfrm>
            <a:off x="7955280" y="3520440"/>
            <a:ext cx="822960" cy="411480"/>
          </a:xfrm>
          <a:prstGeom prst="rect">
            <a:avLst/>
          </a:prstGeom>
          <a:noFill/>
          <a:ln/>
        </p:spPr>
        <p:txBody>
          <a:bodyPr wrap="square" lIns="0" tIns="0" rIns="0" bIns="0" rtlCol="0" anchor="ctr"/>
          <a:lstStyle/>
          <a:p>
            <a:pPr marL="0" indent="0" algn="ctr">
              <a:buNone/>
            </a:pPr>
            <a:r>
              <a:rPr lang="en-US" sz="950" b="1" dirty="0">
                <a:solidFill>
                  <a:srgbClr val="FFFFFF"/>
                </a:solidFill>
              </a:rPr>
              <a:t>~88.7%</a:t>
            </a:r>
            <a:endParaRPr lang="en-US" sz="950" dirty="0"/>
          </a:p>
        </p:txBody>
      </p:sp>
      <p:sp>
        <p:nvSpPr>
          <p:cNvPr id="29" name="Shape 27"/>
          <p:cNvSpPr/>
          <p:nvPr/>
        </p:nvSpPr>
        <p:spPr>
          <a:xfrm>
            <a:off x="274320" y="4197096"/>
            <a:ext cx="8595360" cy="685800"/>
          </a:xfrm>
          <a:prstGeom prst="rect">
            <a:avLst/>
          </a:prstGeom>
          <a:solidFill>
            <a:srgbClr val="F0FDF4"/>
          </a:solidFill>
          <a:ln w="25400">
            <a:solidFill>
              <a:srgbClr val="0D9488"/>
            </a:solidFill>
            <a:prstDash val="solid"/>
          </a:ln>
        </p:spPr>
      </p:sp>
      <p:sp>
        <p:nvSpPr>
          <p:cNvPr id="30" name="Text 28"/>
          <p:cNvSpPr/>
          <p:nvPr/>
        </p:nvSpPr>
        <p:spPr>
          <a:xfrm>
            <a:off x="457200" y="4251960"/>
            <a:ext cx="2286000" cy="274320"/>
          </a:xfrm>
          <a:prstGeom prst="rect">
            <a:avLst/>
          </a:prstGeom>
          <a:noFill/>
          <a:ln/>
        </p:spPr>
        <p:txBody>
          <a:bodyPr wrap="square" lIns="0" tIns="0" rIns="0" bIns="0" rtlCol="0" anchor="ctr"/>
          <a:lstStyle/>
          <a:p>
            <a:pPr marL="0" indent="0">
              <a:buNone/>
            </a:pPr>
            <a:r>
              <a:rPr lang="en-US" sz="1150" b="1" dirty="0">
                <a:solidFill>
                  <a:srgbClr val="0D9488"/>
                </a:solidFill>
              </a:rPr>
              <a:t>This Study (2025–26)</a:t>
            </a:r>
            <a:endParaRPr lang="en-US" sz="1150" dirty="0"/>
          </a:p>
        </p:txBody>
      </p:sp>
      <p:sp>
        <p:nvSpPr>
          <p:cNvPr id="31" name="Text 29"/>
          <p:cNvSpPr/>
          <p:nvPr/>
        </p:nvSpPr>
        <p:spPr>
          <a:xfrm>
            <a:off x="457200" y="4544568"/>
            <a:ext cx="2286000" cy="256032"/>
          </a:xfrm>
          <a:prstGeom prst="rect">
            <a:avLst/>
          </a:prstGeom>
          <a:noFill/>
          <a:ln/>
        </p:spPr>
        <p:txBody>
          <a:bodyPr wrap="square" lIns="0" tIns="0" rIns="0" bIns="0" rtlCol="0" anchor="ctr"/>
          <a:lstStyle/>
          <a:p>
            <a:pPr marL="0" indent="0">
              <a:buNone/>
            </a:pPr>
            <a:r>
              <a:rPr lang="en-US" sz="950" i="1" dirty="0">
                <a:solidFill>
                  <a:srgbClr val="475569"/>
                </a:solidFill>
              </a:rPr>
              <a:t>B.Sc. FYP</a:t>
            </a:r>
            <a:endParaRPr lang="en-US" sz="950" dirty="0"/>
          </a:p>
        </p:txBody>
      </p:sp>
      <p:sp>
        <p:nvSpPr>
          <p:cNvPr id="32" name="Text 30"/>
          <p:cNvSpPr/>
          <p:nvPr/>
        </p:nvSpPr>
        <p:spPr>
          <a:xfrm>
            <a:off x="2743200" y="4251960"/>
            <a:ext cx="5212080" cy="502920"/>
          </a:xfrm>
          <a:prstGeom prst="rect">
            <a:avLst/>
          </a:prstGeom>
          <a:noFill/>
          <a:ln/>
        </p:spPr>
        <p:txBody>
          <a:bodyPr wrap="square" lIns="0" tIns="0" rIns="0" bIns="0" rtlCol="0" anchor="ctr"/>
          <a:lstStyle/>
          <a:p>
            <a:pPr marL="0" indent="0">
              <a:buNone/>
            </a:pPr>
            <a:r>
              <a:rPr lang="en-US" sz="1050" dirty="0">
                <a:solidFill>
                  <a:srgbClr val="475569"/>
                </a:solidFill>
              </a:rPr>
              <a:t>RF, GB, SVM, LR on 20 genomic features; ciprofloxacin resistance; 1,200 isolates</a:t>
            </a:r>
            <a:endParaRPr lang="en-US" sz="1050" dirty="0"/>
          </a:p>
        </p:txBody>
      </p:sp>
      <p:sp>
        <p:nvSpPr>
          <p:cNvPr id="33" name="Shape 31"/>
          <p:cNvSpPr/>
          <p:nvPr/>
        </p:nvSpPr>
        <p:spPr>
          <a:xfrm>
            <a:off x="7955280" y="4306824"/>
            <a:ext cx="822960" cy="411480"/>
          </a:xfrm>
          <a:prstGeom prst="rect">
            <a:avLst/>
          </a:prstGeom>
          <a:solidFill>
            <a:srgbClr val="0D9488"/>
          </a:solidFill>
          <a:ln w="12700">
            <a:solidFill>
              <a:srgbClr val="0D9488"/>
            </a:solidFill>
            <a:prstDash val="solid"/>
          </a:ln>
        </p:spPr>
      </p:sp>
      <p:sp>
        <p:nvSpPr>
          <p:cNvPr id="34" name="Text 32"/>
          <p:cNvSpPr/>
          <p:nvPr/>
        </p:nvSpPr>
        <p:spPr>
          <a:xfrm>
            <a:off x="7955280" y="4306824"/>
            <a:ext cx="822960" cy="411480"/>
          </a:xfrm>
          <a:prstGeom prst="rect">
            <a:avLst/>
          </a:prstGeom>
          <a:noFill/>
          <a:ln/>
        </p:spPr>
        <p:txBody>
          <a:bodyPr wrap="square" lIns="0" tIns="0" rIns="0" bIns="0" rtlCol="0" anchor="ctr"/>
          <a:lstStyle/>
          <a:p>
            <a:pPr marL="0" indent="0" algn="ctr">
              <a:buNone/>
            </a:pPr>
            <a:r>
              <a:rPr lang="en-US" sz="950" b="1" dirty="0">
                <a:solidFill>
                  <a:srgbClr val="FFFFFF"/>
                </a:solidFill>
              </a:rPr>
              <a:t>0.92–0.95</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37160"/>
            <a:ext cx="8229600" cy="320040"/>
          </a:xfrm>
          <a:prstGeom prst="rect">
            <a:avLst/>
          </a:prstGeom>
          <a:noFill/>
          <a:ln/>
        </p:spPr>
        <p:txBody>
          <a:bodyPr wrap="square" rtlCol="0" anchor="ctr"/>
          <a:lstStyle/>
          <a:p>
            <a:pPr marL="0" indent="0">
              <a:buNone/>
            </a:pPr>
            <a:r>
              <a:rPr lang="en-US" sz="1100" b="1" kern="0" spc="200" dirty="0">
                <a:solidFill>
                  <a:srgbClr val="5EEAD4"/>
                </a:solidFill>
              </a:rPr>
              <a:t>Chapter 5  |  Applications &amp; Future Scope</a:t>
            </a:r>
            <a:endParaRPr lang="en-US" sz="1100" dirty="0"/>
          </a:p>
        </p:txBody>
      </p:sp>
      <p:sp>
        <p:nvSpPr>
          <p:cNvPr id="4" name="Text 2"/>
          <p:cNvSpPr/>
          <p:nvPr/>
        </p:nvSpPr>
        <p:spPr>
          <a:xfrm>
            <a:off x="457200" y="457200"/>
            <a:ext cx="8229600" cy="457200"/>
          </a:xfrm>
          <a:prstGeom prst="rect">
            <a:avLst/>
          </a:prstGeom>
          <a:noFill/>
          <a:ln/>
        </p:spPr>
        <p:txBody>
          <a:bodyPr wrap="square" rtlCol="0" anchor="ctr"/>
          <a:lstStyle/>
          <a:p>
            <a:pPr marL="0" indent="0">
              <a:buNone/>
            </a:pPr>
            <a:r>
              <a:rPr lang="en-US" sz="2200" b="1" dirty="0">
                <a:solidFill>
                  <a:srgbClr val="FFFFFF"/>
                </a:solidFill>
              </a:rPr>
              <a:t>Real-World Applications of ML-Based AMR Prediction</a:t>
            </a:r>
            <a:endParaRPr lang="en-US" sz="2200" dirty="0"/>
          </a:p>
        </p:txBody>
      </p:sp>
      <p:sp>
        <p:nvSpPr>
          <p:cNvPr id="5" name="Shape 3"/>
          <p:cNvSpPr/>
          <p:nvPr/>
        </p:nvSpPr>
        <p:spPr>
          <a:xfrm>
            <a:off x="274320" y="1051560"/>
            <a:ext cx="4160520" cy="1783080"/>
          </a:xfrm>
          <a:prstGeom prst="rect">
            <a:avLst/>
          </a:prstGeom>
          <a:solidFill>
            <a:srgbClr val="0D1F35"/>
          </a:solidFill>
          <a:ln w="19050">
            <a:solidFill>
              <a:srgbClr val="059669"/>
            </a:solidFill>
            <a:prstDash val="solid"/>
          </a:ln>
        </p:spPr>
      </p:sp>
      <p:sp>
        <p:nvSpPr>
          <p:cNvPr id="6" name="Shape 4"/>
          <p:cNvSpPr/>
          <p:nvPr/>
        </p:nvSpPr>
        <p:spPr>
          <a:xfrm>
            <a:off x="274320" y="1051560"/>
            <a:ext cx="4160520" cy="91440"/>
          </a:xfrm>
          <a:prstGeom prst="rect">
            <a:avLst/>
          </a:prstGeom>
          <a:solidFill>
            <a:srgbClr val="059669"/>
          </a:solidFill>
          <a:ln w="12700">
            <a:solidFill>
              <a:srgbClr val="059669"/>
            </a:solidFill>
            <a:prstDash val="solid"/>
          </a:ln>
        </p:spPr>
      </p:sp>
      <p:sp>
        <p:nvSpPr>
          <p:cNvPr id="7" name="Text 5"/>
          <p:cNvSpPr/>
          <p:nvPr/>
        </p:nvSpPr>
        <p:spPr>
          <a:xfrm>
            <a:off x="457200" y="1216152"/>
            <a:ext cx="3749040" cy="365760"/>
          </a:xfrm>
          <a:prstGeom prst="rect">
            <a:avLst/>
          </a:prstGeom>
          <a:noFill/>
          <a:ln/>
        </p:spPr>
        <p:txBody>
          <a:bodyPr wrap="square" lIns="0" tIns="0" rIns="0" bIns="0" rtlCol="0" anchor="ctr"/>
          <a:lstStyle/>
          <a:p>
            <a:pPr marL="0" indent="0">
              <a:buNone/>
            </a:pPr>
            <a:r>
              <a:rPr lang="en-US" sz="1500" b="1" dirty="0">
                <a:solidFill>
                  <a:srgbClr val="059669"/>
                </a:solidFill>
              </a:rPr>
              <a:t>Clinical Diagnostics</a:t>
            </a:r>
            <a:endParaRPr lang="en-US" sz="1500" dirty="0"/>
          </a:p>
        </p:txBody>
      </p:sp>
      <p:sp>
        <p:nvSpPr>
          <p:cNvPr id="8" name="Text 6"/>
          <p:cNvSpPr/>
          <p:nvPr/>
        </p:nvSpPr>
        <p:spPr>
          <a:xfrm>
            <a:off x="457200" y="1645920"/>
            <a:ext cx="3749040" cy="1005840"/>
          </a:xfrm>
          <a:prstGeom prst="rect">
            <a:avLst/>
          </a:prstGeom>
          <a:noFill/>
          <a:ln/>
        </p:spPr>
        <p:txBody>
          <a:bodyPr wrap="square" lIns="0" tIns="0" rIns="0" bIns="0" rtlCol="0" anchor="ctr"/>
          <a:lstStyle/>
          <a:p>
            <a:pPr marL="0" indent="0">
              <a:buNone/>
            </a:pPr>
            <a:r>
              <a:rPr lang="en-US" sz="1100" dirty="0">
                <a:solidFill>
                  <a:srgbClr val="94A3B8"/>
                </a:solidFill>
              </a:rPr>
              <a:t>Integrate with Lab Info Systems (LIS) for automated resistance prediction from WGS data within hours, enabling precise antibiotic selection in sepsis management.</a:t>
            </a:r>
            <a:endParaRPr lang="en-US" sz="1100" dirty="0"/>
          </a:p>
        </p:txBody>
      </p:sp>
      <p:sp>
        <p:nvSpPr>
          <p:cNvPr id="9" name="Shape 7"/>
          <p:cNvSpPr/>
          <p:nvPr/>
        </p:nvSpPr>
        <p:spPr>
          <a:xfrm>
            <a:off x="4754880" y="1051560"/>
            <a:ext cx="4160520" cy="1783080"/>
          </a:xfrm>
          <a:prstGeom prst="rect">
            <a:avLst/>
          </a:prstGeom>
          <a:solidFill>
            <a:srgbClr val="0D1F35"/>
          </a:solidFill>
          <a:ln w="19050">
            <a:solidFill>
              <a:srgbClr val="0369A1"/>
            </a:solidFill>
            <a:prstDash val="solid"/>
          </a:ln>
        </p:spPr>
      </p:sp>
      <p:sp>
        <p:nvSpPr>
          <p:cNvPr id="10" name="Shape 8"/>
          <p:cNvSpPr/>
          <p:nvPr/>
        </p:nvSpPr>
        <p:spPr>
          <a:xfrm>
            <a:off x="4754880" y="1051560"/>
            <a:ext cx="4160520" cy="91440"/>
          </a:xfrm>
          <a:prstGeom prst="rect">
            <a:avLst/>
          </a:prstGeom>
          <a:solidFill>
            <a:srgbClr val="0369A1"/>
          </a:solidFill>
          <a:ln w="12700">
            <a:solidFill>
              <a:srgbClr val="0369A1"/>
            </a:solidFill>
            <a:prstDash val="solid"/>
          </a:ln>
        </p:spPr>
      </p:sp>
      <p:sp>
        <p:nvSpPr>
          <p:cNvPr id="11" name="Text 9"/>
          <p:cNvSpPr/>
          <p:nvPr/>
        </p:nvSpPr>
        <p:spPr>
          <a:xfrm>
            <a:off x="4937760" y="1216152"/>
            <a:ext cx="3749040" cy="365760"/>
          </a:xfrm>
          <a:prstGeom prst="rect">
            <a:avLst/>
          </a:prstGeom>
          <a:noFill/>
          <a:ln/>
        </p:spPr>
        <p:txBody>
          <a:bodyPr wrap="square" lIns="0" tIns="0" rIns="0" bIns="0" rtlCol="0" anchor="ctr"/>
          <a:lstStyle/>
          <a:p>
            <a:pPr marL="0" indent="0">
              <a:buNone/>
            </a:pPr>
            <a:r>
              <a:rPr lang="en-US" sz="1500" b="1" dirty="0">
                <a:solidFill>
                  <a:srgbClr val="0369A1"/>
                </a:solidFill>
              </a:rPr>
              <a:t>Public Health Surveillance</a:t>
            </a:r>
            <a:endParaRPr lang="en-US" sz="1500" dirty="0"/>
          </a:p>
        </p:txBody>
      </p:sp>
      <p:sp>
        <p:nvSpPr>
          <p:cNvPr id="12" name="Text 10"/>
          <p:cNvSpPr/>
          <p:nvPr/>
        </p:nvSpPr>
        <p:spPr>
          <a:xfrm>
            <a:off x="4937760" y="1645920"/>
            <a:ext cx="3749040" cy="1005840"/>
          </a:xfrm>
          <a:prstGeom prst="rect">
            <a:avLst/>
          </a:prstGeom>
          <a:noFill/>
          <a:ln/>
        </p:spPr>
        <p:txBody>
          <a:bodyPr wrap="square" lIns="0" tIns="0" rIns="0" bIns="0" rtlCol="0" anchor="ctr"/>
          <a:lstStyle/>
          <a:p>
            <a:pPr marL="0" indent="0">
              <a:buNone/>
            </a:pPr>
            <a:r>
              <a:rPr lang="en-US" sz="1100" dirty="0">
                <a:solidFill>
                  <a:srgbClr val="94A3B8"/>
                </a:solidFill>
              </a:rPr>
              <a:t>Complement national AMR surveillance with ML screening of genomic isolates, enabling rapid detection of emerging resistant strains across geographic regions.</a:t>
            </a:r>
            <a:endParaRPr lang="en-US" sz="1100" dirty="0"/>
          </a:p>
        </p:txBody>
      </p:sp>
      <p:sp>
        <p:nvSpPr>
          <p:cNvPr id="13" name="Shape 11"/>
          <p:cNvSpPr/>
          <p:nvPr/>
        </p:nvSpPr>
        <p:spPr>
          <a:xfrm>
            <a:off x="274320" y="3063240"/>
            <a:ext cx="4160520" cy="1783080"/>
          </a:xfrm>
          <a:prstGeom prst="rect">
            <a:avLst/>
          </a:prstGeom>
          <a:solidFill>
            <a:srgbClr val="0D1F35"/>
          </a:solidFill>
          <a:ln w="19050">
            <a:solidFill>
              <a:srgbClr val="7C3AED"/>
            </a:solidFill>
            <a:prstDash val="solid"/>
          </a:ln>
        </p:spPr>
      </p:sp>
      <p:sp>
        <p:nvSpPr>
          <p:cNvPr id="14" name="Shape 12"/>
          <p:cNvSpPr/>
          <p:nvPr/>
        </p:nvSpPr>
        <p:spPr>
          <a:xfrm>
            <a:off x="274320" y="3063240"/>
            <a:ext cx="4160520" cy="91440"/>
          </a:xfrm>
          <a:prstGeom prst="rect">
            <a:avLst/>
          </a:prstGeom>
          <a:solidFill>
            <a:srgbClr val="7C3AED"/>
          </a:solidFill>
          <a:ln w="12700">
            <a:solidFill>
              <a:srgbClr val="7C3AED"/>
            </a:solidFill>
            <a:prstDash val="solid"/>
          </a:ln>
        </p:spPr>
      </p:sp>
      <p:sp>
        <p:nvSpPr>
          <p:cNvPr id="15" name="Text 13"/>
          <p:cNvSpPr/>
          <p:nvPr/>
        </p:nvSpPr>
        <p:spPr>
          <a:xfrm>
            <a:off x="457200" y="3227832"/>
            <a:ext cx="3749040" cy="365760"/>
          </a:xfrm>
          <a:prstGeom prst="rect">
            <a:avLst/>
          </a:prstGeom>
          <a:noFill/>
          <a:ln/>
        </p:spPr>
        <p:txBody>
          <a:bodyPr wrap="square" lIns="0" tIns="0" rIns="0" bIns="0" rtlCol="0" anchor="ctr"/>
          <a:lstStyle/>
          <a:p>
            <a:pPr marL="0" indent="0">
              <a:buNone/>
            </a:pPr>
            <a:r>
              <a:rPr lang="en-US" sz="1500" b="1" dirty="0">
                <a:solidFill>
                  <a:srgbClr val="7C3AED"/>
                </a:solidFill>
              </a:rPr>
              <a:t>Drug Discovery Support</a:t>
            </a:r>
            <a:endParaRPr lang="en-US" sz="1500" dirty="0"/>
          </a:p>
        </p:txBody>
      </p:sp>
      <p:sp>
        <p:nvSpPr>
          <p:cNvPr id="16" name="Text 14"/>
          <p:cNvSpPr/>
          <p:nvPr/>
        </p:nvSpPr>
        <p:spPr>
          <a:xfrm>
            <a:off x="457200" y="3657600"/>
            <a:ext cx="3749040" cy="1005840"/>
          </a:xfrm>
          <a:prstGeom prst="rect">
            <a:avLst/>
          </a:prstGeom>
          <a:noFill/>
          <a:ln/>
        </p:spPr>
        <p:txBody>
          <a:bodyPr wrap="square" lIns="0" tIns="0" rIns="0" bIns="0" rtlCol="0" anchor="ctr"/>
          <a:lstStyle/>
          <a:p>
            <a:pPr marL="0" indent="0">
              <a:buNone/>
            </a:pPr>
            <a:r>
              <a:rPr lang="en-US" sz="1100" dirty="0">
                <a:solidFill>
                  <a:srgbClr val="94A3B8"/>
                </a:solidFill>
              </a:rPr>
              <a:t>Feature importance from ML models reveals high-priority resistance mechanisms as molecular targets for new antibiotic drug development pipelines.</a:t>
            </a:r>
            <a:endParaRPr lang="en-US" sz="1100" dirty="0"/>
          </a:p>
        </p:txBody>
      </p:sp>
      <p:sp>
        <p:nvSpPr>
          <p:cNvPr id="17" name="Shape 15"/>
          <p:cNvSpPr/>
          <p:nvPr/>
        </p:nvSpPr>
        <p:spPr>
          <a:xfrm>
            <a:off x="4754880" y="3063240"/>
            <a:ext cx="4160520" cy="1783080"/>
          </a:xfrm>
          <a:prstGeom prst="rect">
            <a:avLst/>
          </a:prstGeom>
          <a:solidFill>
            <a:srgbClr val="0D1F35"/>
          </a:solidFill>
          <a:ln w="19050">
            <a:solidFill>
              <a:srgbClr val="D97706"/>
            </a:solidFill>
            <a:prstDash val="solid"/>
          </a:ln>
        </p:spPr>
      </p:sp>
      <p:sp>
        <p:nvSpPr>
          <p:cNvPr id="18" name="Shape 16"/>
          <p:cNvSpPr/>
          <p:nvPr/>
        </p:nvSpPr>
        <p:spPr>
          <a:xfrm>
            <a:off x="4754880" y="3063240"/>
            <a:ext cx="4160520" cy="91440"/>
          </a:xfrm>
          <a:prstGeom prst="rect">
            <a:avLst/>
          </a:prstGeom>
          <a:solidFill>
            <a:srgbClr val="D97706"/>
          </a:solidFill>
          <a:ln w="12700">
            <a:solidFill>
              <a:srgbClr val="D97706"/>
            </a:solidFill>
            <a:prstDash val="solid"/>
          </a:ln>
        </p:spPr>
      </p:sp>
      <p:sp>
        <p:nvSpPr>
          <p:cNvPr id="19" name="Text 17"/>
          <p:cNvSpPr/>
          <p:nvPr/>
        </p:nvSpPr>
        <p:spPr>
          <a:xfrm>
            <a:off x="4937760" y="3227832"/>
            <a:ext cx="3749040" cy="365760"/>
          </a:xfrm>
          <a:prstGeom prst="rect">
            <a:avLst/>
          </a:prstGeom>
          <a:noFill/>
          <a:ln/>
        </p:spPr>
        <p:txBody>
          <a:bodyPr wrap="square" lIns="0" tIns="0" rIns="0" bIns="0" rtlCol="0" anchor="ctr"/>
          <a:lstStyle/>
          <a:p>
            <a:pPr marL="0" indent="0">
              <a:buNone/>
            </a:pPr>
            <a:r>
              <a:rPr lang="en-US" sz="1500" b="1" dirty="0">
                <a:solidFill>
                  <a:srgbClr val="D97706"/>
                </a:solidFill>
              </a:rPr>
              <a:t>Antibiotic Stewardship</a:t>
            </a:r>
            <a:endParaRPr lang="en-US" sz="1500" dirty="0"/>
          </a:p>
        </p:txBody>
      </p:sp>
      <p:sp>
        <p:nvSpPr>
          <p:cNvPr id="20" name="Text 18"/>
          <p:cNvSpPr/>
          <p:nvPr/>
        </p:nvSpPr>
        <p:spPr>
          <a:xfrm>
            <a:off x="4937760" y="3657600"/>
            <a:ext cx="3749040" cy="1005840"/>
          </a:xfrm>
          <a:prstGeom prst="rect">
            <a:avLst/>
          </a:prstGeom>
          <a:noFill/>
          <a:ln/>
        </p:spPr>
        <p:txBody>
          <a:bodyPr wrap="square" lIns="0" tIns="0" rIns="0" bIns="0" rtlCol="0" anchor="ctr"/>
          <a:lstStyle/>
          <a:p>
            <a:pPr marL="0" indent="0">
              <a:buNone/>
            </a:pPr>
            <a:r>
              <a:rPr lang="en-US" sz="1100" dirty="0">
                <a:solidFill>
                  <a:srgbClr val="94A3B8"/>
                </a:solidFill>
              </a:rPr>
              <a:t>Optimize prescribing by predicting resistance before treatment; prevent empiric broad-spectrum antibiotic use and reduce selective pressure for resistance.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73152"/>
            <a:ext cx="8229600" cy="320040"/>
          </a:xfrm>
          <a:prstGeom prst="rect">
            <a:avLst/>
          </a:prstGeom>
          <a:noFill/>
          <a:ln/>
        </p:spPr>
        <p:txBody>
          <a:bodyPr wrap="square" rtlCol="0" anchor="ctr"/>
          <a:lstStyle/>
          <a:p>
            <a:pPr marL="0" indent="0">
              <a:buNone/>
            </a:pPr>
            <a:r>
              <a:rPr lang="en-US" sz="1100" b="1" kern="0" spc="200" dirty="0">
                <a:solidFill>
                  <a:srgbClr val="5EEAD4"/>
                </a:solidFill>
              </a:rPr>
              <a:t>Chapter 5  |  Future Scope</a:t>
            </a:r>
            <a:endParaRPr lang="en-US" sz="1100" dirty="0"/>
          </a:p>
        </p:txBody>
      </p:sp>
      <p:sp>
        <p:nvSpPr>
          <p:cNvPr id="4" name="Text 2"/>
          <p:cNvSpPr/>
          <p:nvPr/>
        </p:nvSpPr>
        <p:spPr>
          <a:xfrm>
            <a:off x="457200" y="411480"/>
            <a:ext cx="8229600" cy="457200"/>
          </a:xfrm>
          <a:prstGeom prst="rect">
            <a:avLst/>
          </a:prstGeom>
          <a:noFill/>
          <a:ln/>
        </p:spPr>
        <p:txBody>
          <a:bodyPr wrap="square" rtlCol="0" anchor="ctr"/>
          <a:lstStyle/>
          <a:p>
            <a:pPr marL="0" indent="0">
              <a:buNone/>
            </a:pPr>
            <a:r>
              <a:rPr lang="en-US" sz="2800" b="1" dirty="0">
                <a:solidFill>
                  <a:srgbClr val="FFFFFF"/>
                </a:solidFill>
              </a:rPr>
              <a:t>Future Directions</a:t>
            </a:r>
            <a:endParaRPr lang="en-US" sz="2800" dirty="0"/>
          </a:p>
        </p:txBody>
      </p:sp>
      <p:sp>
        <p:nvSpPr>
          <p:cNvPr id="5" name="Shape 3"/>
          <p:cNvSpPr/>
          <p:nvPr/>
        </p:nvSpPr>
        <p:spPr>
          <a:xfrm>
            <a:off x="274320" y="1005840"/>
            <a:ext cx="8595360" cy="685800"/>
          </a:xfrm>
          <a:prstGeom prst="rect">
            <a:avLst/>
          </a:prstGeom>
          <a:solidFill>
            <a:srgbClr val="F0F9FF"/>
          </a:solidFill>
          <a:ln w="12700">
            <a:solidFill>
              <a:srgbClr val="E2E8F0"/>
            </a:solidFill>
            <a:prstDash val="solid"/>
          </a:ln>
        </p:spPr>
      </p:sp>
      <p:sp>
        <p:nvSpPr>
          <p:cNvPr id="6" name="Shape 4"/>
          <p:cNvSpPr/>
          <p:nvPr/>
        </p:nvSpPr>
        <p:spPr>
          <a:xfrm>
            <a:off x="320040" y="1115568"/>
            <a:ext cx="457200" cy="457200"/>
          </a:xfrm>
          <a:prstGeom prst="ellipse">
            <a:avLst/>
          </a:prstGeom>
          <a:solidFill>
            <a:srgbClr val="0D9488"/>
          </a:solidFill>
          <a:ln w="12700">
            <a:solidFill>
              <a:srgbClr val="0D9488"/>
            </a:solidFill>
            <a:prstDash val="solid"/>
          </a:ln>
        </p:spPr>
      </p:sp>
      <p:sp>
        <p:nvSpPr>
          <p:cNvPr id="7" name="Text 5"/>
          <p:cNvSpPr/>
          <p:nvPr/>
        </p:nvSpPr>
        <p:spPr>
          <a:xfrm>
            <a:off x="320040" y="11155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6"/>
          <p:cNvSpPr/>
          <p:nvPr/>
        </p:nvSpPr>
        <p:spPr>
          <a:xfrm>
            <a:off x="914400" y="1060704"/>
            <a:ext cx="2286000" cy="320040"/>
          </a:xfrm>
          <a:prstGeom prst="rect">
            <a:avLst/>
          </a:prstGeom>
          <a:noFill/>
          <a:ln/>
        </p:spPr>
        <p:txBody>
          <a:bodyPr wrap="square" lIns="0" tIns="0" rIns="0" bIns="0" rtlCol="0" anchor="ctr"/>
          <a:lstStyle/>
          <a:p>
            <a:pPr marL="0" indent="0">
              <a:buNone/>
            </a:pPr>
            <a:r>
              <a:rPr lang="en-US" sz="1300" b="1" dirty="0">
                <a:solidFill>
                  <a:srgbClr val="0A1628"/>
                </a:solidFill>
              </a:rPr>
              <a:t>Expanded Feature Sets:</a:t>
            </a:r>
            <a:endParaRPr lang="en-US" sz="1300" dirty="0"/>
          </a:p>
        </p:txBody>
      </p:sp>
      <p:sp>
        <p:nvSpPr>
          <p:cNvPr id="9" name="Text 7"/>
          <p:cNvSpPr/>
          <p:nvPr/>
        </p:nvSpPr>
        <p:spPr>
          <a:xfrm>
            <a:off x="3246120" y="1060704"/>
            <a:ext cx="5394960" cy="548640"/>
          </a:xfrm>
          <a:prstGeom prst="rect">
            <a:avLst/>
          </a:prstGeom>
          <a:noFill/>
          <a:ln/>
        </p:spPr>
        <p:txBody>
          <a:bodyPr wrap="square" lIns="0" tIns="0" rIns="0" bIns="0" rtlCol="0" anchor="ctr"/>
          <a:lstStyle/>
          <a:p>
            <a:pPr marL="0" indent="0">
              <a:buNone/>
            </a:pPr>
            <a:r>
              <a:rPr lang="en-US" sz="1150" dirty="0">
                <a:solidFill>
                  <a:srgbClr val="475569"/>
                </a:solidFill>
              </a:rPr>
              <a:t>Incorporate pan-genome content, insertion sequences, regulatory mutations, and promoter variants to capture full genomic context of resistance.</a:t>
            </a:r>
            <a:endParaRPr lang="en-US" sz="1150" dirty="0"/>
          </a:p>
        </p:txBody>
      </p:sp>
      <p:sp>
        <p:nvSpPr>
          <p:cNvPr id="10" name="Shape 8"/>
          <p:cNvSpPr/>
          <p:nvPr/>
        </p:nvSpPr>
        <p:spPr>
          <a:xfrm>
            <a:off x="274320" y="1801368"/>
            <a:ext cx="8595360" cy="685800"/>
          </a:xfrm>
          <a:prstGeom prst="rect">
            <a:avLst/>
          </a:prstGeom>
          <a:solidFill>
            <a:srgbClr val="FFFFFF"/>
          </a:solidFill>
          <a:ln w="12700">
            <a:solidFill>
              <a:srgbClr val="E2E8F0"/>
            </a:solidFill>
            <a:prstDash val="solid"/>
          </a:ln>
        </p:spPr>
      </p:sp>
      <p:sp>
        <p:nvSpPr>
          <p:cNvPr id="11" name="Shape 9"/>
          <p:cNvSpPr/>
          <p:nvPr/>
        </p:nvSpPr>
        <p:spPr>
          <a:xfrm>
            <a:off x="320040" y="1911096"/>
            <a:ext cx="457200" cy="457200"/>
          </a:xfrm>
          <a:prstGeom prst="ellipse">
            <a:avLst/>
          </a:prstGeom>
          <a:solidFill>
            <a:srgbClr val="0D9488"/>
          </a:solidFill>
          <a:ln w="12700">
            <a:solidFill>
              <a:srgbClr val="0D9488"/>
            </a:solidFill>
            <a:prstDash val="solid"/>
          </a:ln>
        </p:spPr>
      </p:sp>
      <p:sp>
        <p:nvSpPr>
          <p:cNvPr id="12" name="Text 10"/>
          <p:cNvSpPr/>
          <p:nvPr/>
        </p:nvSpPr>
        <p:spPr>
          <a:xfrm>
            <a:off x="320040" y="19110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3" name="Text 11"/>
          <p:cNvSpPr/>
          <p:nvPr/>
        </p:nvSpPr>
        <p:spPr>
          <a:xfrm>
            <a:off x="914400" y="1856232"/>
            <a:ext cx="2286000" cy="320040"/>
          </a:xfrm>
          <a:prstGeom prst="rect">
            <a:avLst/>
          </a:prstGeom>
          <a:noFill/>
          <a:ln/>
        </p:spPr>
        <p:txBody>
          <a:bodyPr wrap="square" lIns="0" tIns="0" rIns="0" bIns="0" rtlCol="0" anchor="ctr"/>
          <a:lstStyle/>
          <a:p>
            <a:pPr marL="0" indent="0">
              <a:buNone/>
            </a:pPr>
            <a:r>
              <a:rPr lang="en-US" sz="1300" b="1" dirty="0">
                <a:solidFill>
                  <a:srgbClr val="0A1628"/>
                </a:solidFill>
              </a:rPr>
              <a:t>Multi-Label Classification:</a:t>
            </a:r>
            <a:endParaRPr lang="en-US" sz="1300" dirty="0"/>
          </a:p>
        </p:txBody>
      </p:sp>
      <p:sp>
        <p:nvSpPr>
          <p:cNvPr id="14" name="Text 12"/>
          <p:cNvSpPr/>
          <p:nvPr/>
        </p:nvSpPr>
        <p:spPr>
          <a:xfrm>
            <a:off x="3246120" y="1856232"/>
            <a:ext cx="5394960" cy="548640"/>
          </a:xfrm>
          <a:prstGeom prst="rect">
            <a:avLst/>
          </a:prstGeom>
          <a:noFill/>
          <a:ln/>
        </p:spPr>
        <p:txBody>
          <a:bodyPr wrap="square" lIns="0" tIns="0" rIns="0" bIns="0" rtlCol="0" anchor="ctr"/>
          <a:lstStyle/>
          <a:p>
            <a:pPr marL="0" indent="0">
              <a:buNone/>
            </a:pPr>
            <a:r>
              <a:rPr lang="en-US" sz="1150" dirty="0">
                <a:solidFill>
                  <a:srgbClr val="475569"/>
                </a:solidFill>
              </a:rPr>
              <a:t>Simultaneously predict resistance to multiple antibiotic classes using multi-output classifiers, providing comprehensive antibiogram predictions.</a:t>
            </a:r>
            <a:endParaRPr lang="en-US" sz="1150" dirty="0"/>
          </a:p>
        </p:txBody>
      </p:sp>
      <p:sp>
        <p:nvSpPr>
          <p:cNvPr id="15" name="Shape 13"/>
          <p:cNvSpPr/>
          <p:nvPr/>
        </p:nvSpPr>
        <p:spPr>
          <a:xfrm>
            <a:off x="274320" y="2596896"/>
            <a:ext cx="8595360" cy="685800"/>
          </a:xfrm>
          <a:prstGeom prst="rect">
            <a:avLst/>
          </a:prstGeom>
          <a:solidFill>
            <a:srgbClr val="F0F9FF"/>
          </a:solidFill>
          <a:ln w="12700">
            <a:solidFill>
              <a:srgbClr val="E2E8F0"/>
            </a:solidFill>
            <a:prstDash val="solid"/>
          </a:ln>
        </p:spPr>
      </p:sp>
      <p:sp>
        <p:nvSpPr>
          <p:cNvPr id="16" name="Shape 14"/>
          <p:cNvSpPr/>
          <p:nvPr/>
        </p:nvSpPr>
        <p:spPr>
          <a:xfrm>
            <a:off x="320040" y="2706624"/>
            <a:ext cx="457200" cy="457200"/>
          </a:xfrm>
          <a:prstGeom prst="ellipse">
            <a:avLst/>
          </a:prstGeom>
          <a:solidFill>
            <a:srgbClr val="0D9488"/>
          </a:solidFill>
          <a:ln w="12700">
            <a:solidFill>
              <a:srgbClr val="0D9488"/>
            </a:solidFill>
            <a:prstDash val="solid"/>
          </a:ln>
        </p:spPr>
      </p:sp>
      <p:sp>
        <p:nvSpPr>
          <p:cNvPr id="17" name="Text 15"/>
          <p:cNvSpPr/>
          <p:nvPr/>
        </p:nvSpPr>
        <p:spPr>
          <a:xfrm>
            <a:off x="320040" y="270662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8" name="Text 16"/>
          <p:cNvSpPr/>
          <p:nvPr/>
        </p:nvSpPr>
        <p:spPr>
          <a:xfrm>
            <a:off x="914400" y="2651760"/>
            <a:ext cx="2286000" cy="320040"/>
          </a:xfrm>
          <a:prstGeom prst="rect">
            <a:avLst/>
          </a:prstGeom>
          <a:noFill/>
          <a:ln/>
        </p:spPr>
        <p:txBody>
          <a:bodyPr wrap="square" lIns="0" tIns="0" rIns="0" bIns="0" rtlCol="0" anchor="ctr"/>
          <a:lstStyle/>
          <a:p>
            <a:pPr marL="0" indent="0">
              <a:buNone/>
            </a:pPr>
            <a:r>
              <a:rPr lang="en-US" sz="1300" b="1" dirty="0">
                <a:solidFill>
                  <a:srgbClr val="0A1628"/>
                </a:solidFill>
              </a:rPr>
              <a:t>Explainable AI (XAI):</a:t>
            </a:r>
            <a:endParaRPr lang="en-US" sz="1300" dirty="0"/>
          </a:p>
        </p:txBody>
      </p:sp>
      <p:sp>
        <p:nvSpPr>
          <p:cNvPr id="19" name="Text 17"/>
          <p:cNvSpPr/>
          <p:nvPr/>
        </p:nvSpPr>
        <p:spPr>
          <a:xfrm>
            <a:off x="3246120" y="2651760"/>
            <a:ext cx="5394960" cy="548640"/>
          </a:xfrm>
          <a:prstGeom prst="rect">
            <a:avLst/>
          </a:prstGeom>
          <a:noFill/>
          <a:ln/>
        </p:spPr>
        <p:txBody>
          <a:bodyPr wrap="square" lIns="0" tIns="0" rIns="0" bIns="0" rtlCol="0" anchor="ctr"/>
          <a:lstStyle/>
          <a:p>
            <a:pPr marL="0" indent="0">
              <a:buNone/>
            </a:pPr>
            <a:r>
              <a:rPr lang="en-US" sz="1150" dirty="0">
                <a:solidFill>
                  <a:srgbClr val="475569"/>
                </a:solidFill>
              </a:rPr>
              <a:t>Apply SHAP and LIME techniques to generate instance-level explanations for individual patient isolates, enhancing clinical trust and adoption.</a:t>
            </a:r>
            <a:endParaRPr lang="en-US" sz="1150" dirty="0"/>
          </a:p>
        </p:txBody>
      </p:sp>
      <p:sp>
        <p:nvSpPr>
          <p:cNvPr id="20" name="Shape 18"/>
          <p:cNvSpPr/>
          <p:nvPr/>
        </p:nvSpPr>
        <p:spPr>
          <a:xfrm>
            <a:off x="274320" y="3392424"/>
            <a:ext cx="8595360" cy="685800"/>
          </a:xfrm>
          <a:prstGeom prst="rect">
            <a:avLst/>
          </a:prstGeom>
          <a:solidFill>
            <a:srgbClr val="FFFFFF"/>
          </a:solidFill>
          <a:ln w="12700">
            <a:solidFill>
              <a:srgbClr val="E2E8F0"/>
            </a:solidFill>
            <a:prstDash val="solid"/>
          </a:ln>
        </p:spPr>
      </p:sp>
      <p:sp>
        <p:nvSpPr>
          <p:cNvPr id="21" name="Shape 19"/>
          <p:cNvSpPr/>
          <p:nvPr/>
        </p:nvSpPr>
        <p:spPr>
          <a:xfrm>
            <a:off x="320040" y="3502152"/>
            <a:ext cx="457200" cy="457200"/>
          </a:xfrm>
          <a:prstGeom prst="ellipse">
            <a:avLst/>
          </a:prstGeom>
          <a:solidFill>
            <a:srgbClr val="0D9488"/>
          </a:solidFill>
          <a:ln w="12700">
            <a:solidFill>
              <a:srgbClr val="0D9488"/>
            </a:solidFill>
            <a:prstDash val="solid"/>
          </a:ln>
        </p:spPr>
      </p:sp>
      <p:sp>
        <p:nvSpPr>
          <p:cNvPr id="22" name="Text 20"/>
          <p:cNvSpPr/>
          <p:nvPr/>
        </p:nvSpPr>
        <p:spPr>
          <a:xfrm>
            <a:off x="320040" y="35021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3" name="Text 21"/>
          <p:cNvSpPr/>
          <p:nvPr/>
        </p:nvSpPr>
        <p:spPr>
          <a:xfrm>
            <a:off x="914400" y="3447288"/>
            <a:ext cx="2286000" cy="320040"/>
          </a:xfrm>
          <a:prstGeom prst="rect">
            <a:avLst/>
          </a:prstGeom>
          <a:noFill/>
          <a:ln/>
        </p:spPr>
        <p:txBody>
          <a:bodyPr wrap="square" lIns="0" tIns="0" rIns="0" bIns="0" rtlCol="0" anchor="ctr"/>
          <a:lstStyle/>
          <a:p>
            <a:pPr marL="0" indent="0">
              <a:buNone/>
            </a:pPr>
            <a:r>
              <a:rPr lang="en-US" sz="1300" b="1" dirty="0">
                <a:solidFill>
                  <a:srgbClr val="0A1628"/>
                </a:solidFill>
              </a:rPr>
              <a:t>Prospective Clinical Validation:</a:t>
            </a:r>
            <a:endParaRPr lang="en-US" sz="1300" dirty="0"/>
          </a:p>
        </p:txBody>
      </p:sp>
      <p:sp>
        <p:nvSpPr>
          <p:cNvPr id="24" name="Text 22"/>
          <p:cNvSpPr/>
          <p:nvPr/>
        </p:nvSpPr>
        <p:spPr>
          <a:xfrm>
            <a:off x="3246120" y="3447288"/>
            <a:ext cx="5394960" cy="548640"/>
          </a:xfrm>
          <a:prstGeom prst="rect">
            <a:avLst/>
          </a:prstGeom>
          <a:noFill/>
          <a:ln/>
        </p:spPr>
        <p:txBody>
          <a:bodyPr wrap="square" lIns="0" tIns="0" rIns="0" bIns="0" rtlCol="0" anchor="ctr"/>
          <a:lstStyle/>
          <a:p>
            <a:pPr marL="0" indent="0">
              <a:buNone/>
            </a:pPr>
            <a:r>
              <a:rPr lang="en-US" sz="1150" dirty="0">
                <a:solidFill>
                  <a:srgbClr val="475569"/>
                </a:solidFill>
              </a:rPr>
              <a:t>Validate on independently collected isolates from diverse geographic settings before deployment in clinical diagnostic pipelines.</a:t>
            </a:r>
            <a:endParaRPr lang="en-US" sz="1150" dirty="0"/>
          </a:p>
        </p:txBody>
      </p:sp>
      <p:sp>
        <p:nvSpPr>
          <p:cNvPr id="25" name="Shape 23"/>
          <p:cNvSpPr/>
          <p:nvPr/>
        </p:nvSpPr>
        <p:spPr>
          <a:xfrm>
            <a:off x="274320" y="4187952"/>
            <a:ext cx="8595360" cy="685800"/>
          </a:xfrm>
          <a:prstGeom prst="rect">
            <a:avLst/>
          </a:prstGeom>
          <a:solidFill>
            <a:srgbClr val="F0F9FF"/>
          </a:solidFill>
          <a:ln w="12700">
            <a:solidFill>
              <a:srgbClr val="E2E8F0"/>
            </a:solidFill>
            <a:prstDash val="solid"/>
          </a:ln>
        </p:spPr>
      </p:sp>
      <p:sp>
        <p:nvSpPr>
          <p:cNvPr id="26" name="Shape 24"/>
          <p:cNvSpPr/>
          <p:nvPr/>
        </p:nvSpPr>
        <p:spPr>
          <a:xfrm>
            <a:off x="320040" y="4297680"/>
            <a:ext cx="457200" cy="457200"/>
          </a:xfrm>
          <a:prstGeom prst="ellipse">
            <a:avLst/>
          </a:prstGeom>
          <a:solidFill>
            <a:srgbClr val="0D9488"/>
          </a:solidFill>
          <a:ln w="12700">
            <a:solidFill>
              <a:srgbClr val="0D9488"/>
            </a:solidFill>
            <a:prstDash val="solid"/>
          </a:ln>
        </p:spPr>
      </p:sp>
      <p:sp>
        <p:nvSpPr>
          <p:cNvPr id="27" name="Text 25"/>
          <p:cNvSpPr/>
          <p:nvPr/>
        </p:nvSpPr>
        <p:spPr>
          <a:xfrm>
            <a:off x="320040" y="42976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8" name="Text 26"/>
          <p:cNvSpPr/>
          <p:nvPr/>
        </p:nvSpPr>
        <p:spPr>
          <a:xfrm>
            <a:off x="914400" y="4242816"/>
            <a:ext cx="2286000" cy="320040"/>
          </a:xfrm>
          <a:prstGeom prst="rect">
            <a:avLst/>
          </a:prstGeom>
          <a:noFill/>
          <a:ln/>
        </p:spPr>
        <p:txBody>
          <a:bodyPr wrap="square" lIns="0" tIns="0" rIns="0" bIns="0" rtlCol="0" anchor="ctr"/>
          <a:lstStyle/>
          <a:p>
            <a:pPr marL="0" indent="0">
              <a:buNone/>
            </a:pPr>
            <a:r>
              <a:rPr lang="en-US" sz="1300" b="1" dirty="0">
                <a:solidFill>
                  <a:srgbClr val="0A1628"/>
                </a:solidFill>
              </a:rPr>
              <a:t>Long-Read Sequencing Integration:</a:t>
            </a:r>
            <a:endParaRPr lang="en-US" sz="1300" dirty="0"/>
          </a:p>
        </p:txBody>
      </p:sp>
      <p:sp>
        <p:nvSpPr>
          <p:cNvPr id="29" name="Text 27"/>
          <p:cNvSpPr/>
          <p:nvPr/>
        </p:nvSpPr>
        <p:spPr>
          <a:xfrm>
            <a:off x="3246120" y="4242816"/>
            <a:ext cx="5394960" cy="548640"/>
          </a:xfrm>
          <a:prstGeom prst="rect">
            <a:avLst/>
          </a:prstGeom>
          <a:noFill/>
          <a:ln/>
        </p:spPr>
        <p:txBody>
          <a:bodyPr wrap="square" lIns="0" tIns="0" rIns="0" bIns="0" rtlCol="0" anchor="ctr"/>
          <a:lstStyle/>
          <a:p>
            <a:pPr marL="0" indent="0">
              <a:buNone/>
            </a:pPr>
            <a:r>
              <a:rPr lang="en-US" sz="1150" dirty="0">
                <a:solidFill>
                  <a:srgbClr val="475569"/>
                </a:solidFill>
              </a:rPr>
              <a:t>Incorporate Oxford Nanopore/PacBio long-read data for complete plasmid assembly and detection of novel mobile genetic elements.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37160"/>
            <a:ext cx="8229600" cy="320040"/>
          </a:xfrm>
          <a:prstGeom prst="rect">
            <a:avLst/>
          </a:prstGeom>
          <a:noFill/>
          <a:ln/>
        </p:spPr>
        <p:txBody>
          <a:bodyPr wrap="square" rtlCol="0" anchor="ctr"/>
          <a:lstStyle/>
          <a:p>
            <a:pPr marL="0" indent="0">
              <a:buNone/>
            </a:pPr>
            <a:r>
              <a:rPr lang="en-US" sz="1100" b="1" kern="0" spc="200" dirty="0">
                <a:solidFill>
                  <a:srgbClr val="5EEAD4"/>
                </a:solidFill>
              </a:rPr>
              <a:t>Chapter 6  |  Conclusion</a:t>
            </a:r>
            <a:endParaRPr lang="en-US" sz="1100" dirty="0"/>
          </a:p>
        </p:txBody>
      </p:sp>
      <p:sp>
        <p:nvSpPr>
          <p:cNvPr id="4" name="Text 2"/>
          <p:cNvSpPr/>
          <p:nvPr/>
        </p:nvSpPr>
        <p:spPr>
          <a:xfrm>
            <a:off x="457200" y="457200"/>
            <a:ext cx="8229600" cy="457200"/>
          </a:xfrm>
          <a:prstGeom prst="rect">
            <a:avLst/>
          </a:prstGeom>
          <a:noFill/>
          <a:ln/>
        </p:spPr>
        <p:txBody>
          <a:bodyPr wrap="square" rtlCol="0" anchor="ctr"/>
          <a:lstStyle/>
          <a:p>
            <a:pPr marL="0" indent="0">
              <a:buNone/>
            </a:pPr>
            <a:r>
              <a:rPr lang="en-US" sz="3200" b="1" dirty="0">
                <a:solidFill>
                  <a:srgbClr val="FFFFFF"/>
                </a:solidFill>
              </a:rPr>
              <a:t>Conclusion</a:t>
            </a:r>
            <a:endParaRPr lang="en-US" sz="3200" dirty="0"/>
          </a:p>
        </p:txBody>
      </p:sp>
      <p:sp>
        <p:nvSpPr>
          <p:cNvPr id="5" name="Shape 3"/>
          <p:cNvSpPr/>
          <p:nvPr/>
        </p:nvSpPr>
        <p:spPr>
          <a:xfrm>
            <a:off x="365760" y="1024128"/>
            <a:ext cx="8412480" cy="667512"/>
          </a:xfrm>
          <a:prstGeom prst="rect">
            <a:avLst/>
          </a:prstGeom>
          <a:solidFill>
            <a:srgbClr val="0D1F35"/>
          </a:solidFill>
          <a:ln w="12700">
            <a:solidFill>
              <a:srgbClr val="1E3A5F"/>
            </a:solidFill>
            <a:prstDash val="solid"/>
          </a:ln>
        </p:spPr>
      </p:sp>
      <p:sp>
        <p:nvSpPr>
          <p:cNvPr id="6" name="Shape 4"/>
          <p:cNvSpPr/>
          <p:nvPr/>
        </p:nvSpPr>
        <p:spPr>
          <a:xfrm>
            <a:off x="365760" y="1024128"/>
            <a:ext cx="64008" cy="667512"/>
          </a:xfrm>
          <a:prstGeom prst="rect">
            <a:avLst/>
          </a:prstGeom>
          <a:solidFill>
            <a:srgbClr val="0D9488"/>
          </a:solidFill>
          <a:ln w="12700">
            <a:solidFill>
              <a:srgbClr val="0D9488"/>
            </a:solidFill>
            <a:prstDash val="solid"/>
          </a:ln>
        </p:spPr>
      </p:sp>
      <p:sp>
        <p:nvSpPr>
          <p:cNvPr id="7" name="Shape 5"/>
          <p:cNvSpPr/>
          <p:nvPr/>
        </p:nvSpPr>
        <p:spPr>
          <a:xfrm>
            <a:off x="548640" y="1188720"/>
            <a:ext cx="320040" cy="320040"/>
          </a:xfrm>
          <a:prstGeom prst="ellipse">
            <a:avLst/>
          </a:prstGeom>
          <a:solidFill>
            <a:srgbClr val="0D9488"/>
          </a:solidFill>
          <a:ln w="12700">
            <a:solidFill>
              <a:srgbClr val="0D9488"/>
            </a:solidFill>
            <a:prstDash val="solid"/>
          </a:ln>
        </p:spPr>
      </p:sp>
      <p:sp>
        <p:nvSpPr>
          <p:cNvPr id="8" name="Text 6"/>
          <p:cNvSpPr/>
          <p:nvPr/>
        </p:nvSpPr>
        <p:spPr>
          <a:xfrm>
            <a:off x="548640" y="1161288"/>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9" name="Text 7"/>
          <p:cNvSpPr/>
          <p:nvPr/>
        </p:nvSpPr>
        <p:spPr>
          <a:xfrm>
            <a:off x="1005840" y="1078992"/>
            <a:ext cx="7589520" cy="548640"/>
          </a:xfrm>
          <a:prstGeom prst="rect">
            <a:avLst/>
          </a:prstGeom>
          <a:noFill/>
          <a:ln/>
        </p:spPr>
        <p:txBody>
          <a:bodyPr wrap="square" lIns="0" tIns="0" rIns="0" bIns="0" rtlCol="0" anchor="ctr"/>
          <a:lstStyle/>
          <a:p>
            <a:pPr marL="0" indent="0">
              <a:buNone/>
            </a:pPr>
            <a:r>
              <a:rPr lang="en-US" sz="1200" dirty="0">
                <a:solidFill>
                  <a:srgbClr val="CBD5E1"/>
                </a:solidFill>
              </a:rPr>
              <a:t>Successfully trained four ML classifiers (RF, GB, SVM, LR) on 20 genomic features from 1,200 bacterial isolates for ciprofloxacin resistance prediction</a:t>
            </a:r>
            <a:endParaRPr lang="en-US" sz="1200" dirty="0"/>
          </a:p>
        </p:txBody>
      </p:sp>
      <p:sp>
        <p:nvSpPr>
          <p:cNvPr id="10" name="Shape 8"/>
          <p:cNvSpPr/>
          <p:nvPr/>
        </p:nvSpPr>
        <p:spPr>
          <a:xfrm>
            <a:off x="365760" y="1819656"/>
            <a:ext cx="8412480" cy="667512"/>
          </a:xfrm>
          <a:prstGeom prst="rect">
            <a:avLst/>
          </a:prstGeom>
          <a:solidFill>
            <a:srgbClr val="0D1F35"/>
          </a:solidFill>
          <a:ln w="12700">
            <a:solidFill>
              <a:srgbClr val="1E3A5F"/>
            </a:solidFill>
            <a:prstDash val="solid"/>
          </a:ln>
        </p:spPr>
      </p:sp>
      <p:sp>
        <p:nvSpPr>
          <p:cNvPr id="11" name="Shape 9"/>
          <p:cNvSpPr/>
          <p:nvPr/>
        </p:nvSpPr>
        <p:spPr>
          <a:xfrm>
            <a:off x="365760" y="1819656"/>
            <a:ext cx="64008" cy="667512"/>
          </a:xfrm>
          <a:prstGeom prst="rect">
            <a:avLst/>
          </a:prstGeom>
          <a:solidFill>
            <a:srgbClr val="0D9488"/>
          </a:solidFill>
          <a:ln w="12700">
            <a:solidFill>
              <a:srgbClr val="0D9488"/>
            </a:solidFill>
            <a:prstDash val="solid"/>
          </a:ln>
        </p:spPr>
      </p:sp>
      <p:sp>
        <p:nvSpPr>
          <p:cNvPr id="12" name="Shape 10"/>
          <p:cNvSpPr/>
          <p:nvPr/>
        </p:nvSpPr>
        <p:spPr>
          <a:xfrm>
            <a:off x="548640" y="1984248"/>
            <a:ext cx="320040" cy="320040"/>
          </a:xfrm>
          <a:prstGeom prst="ellipse">
            <a:avLst/>
          </a:prstGeom>
          <a:solidFill>
            <a:srgbClr val="0D9488"/>
          </a:solidFill>
          <a:ln w="12700">
            <a:solidFill>
              <a:srgbClr val="0D9488"/>
            </a:solidFill>
            <a:prstDash val="solid"/>
          </a:ln>
        </p:spPr>
      </p:sp>
      <p:sp>
        <p:nvSpPr>
          <p:cNvPr id="13" name="Text 11"/>
          <p:cNvSpPr/>
          <p:nvPr/>
        </p:nvSpPr>
        <p:spPr>
          <a:xfrm>
            <a:off x="548640" y="1956816"/>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4" name="Text 12"/>
          <p:cNvSpPr/>
          <p:nvPr/>
        </p:nvSpPr>
        <p:spPr>
          <a:xfrm>
            <a:off x="1005840" y="1874520"/>
            <a:ext cx="7589520" cy="548640"/>
          </a:xfrm>
          <a:prstGeom prst="rect">
            <a:avLst/>
          </a:prstGeom>
          <a:noFill/>
          <a:ln/>
        </p:spPr>
        <p:txBody>
          <a:bodyPr wrap="square" lIns="0" tIns="0" rIns="0" bIns="0" rtlCol="0" anchor="ctr"/>
          <a:lstStyle/>
          <a:p>
            <a:pPr marL="0" indent="0">
              <a:buNone/>
            </a:pPr>
            <a:r>
              <a:rPr lang="en-US" sz="1200" dirty="0">
                <a:solidFill>
                  <a:srgbClr val="CBD5E1"/>
                </a:solidFill>
              </a:rPr>
              <a:t>All models achieved AUC-ROC &gt; 0.94; Logistic Regression attained the highest test accuracy (0.95) and RF the highest AUC (0.9774)</a:t>
            </a:r>
            <a:endParaRPr lang="en-US" sz="1200" dirty="0"/>
          </a:p>
        </p:txBody>
      </p:sp>
      <p:sp>
        <p:nvSpPr>
          <p:cNvPr id="15" name="Shape 13"/>
          <p:cNvSpPr/>
          <p:nvPr/>
        </p:nvSpPr>
        <p:spPr>
          <a:xfrm>
            <a:off x="365760" y="2615184"/>
            <a:ext cx="8412480" cy="667512"/>
          </a:xfrm>
          <a:prstGeom prst="rect">
            <a:avLst/>
          </a:prstGeom>
          <a:solidFill>
            <a:srgbClr val="0D1F35"/>
          </a:solidFill>
          <a:ln w="12700">
            <a:solidFill>
              <a:srgbClr val="1E3A5F"/>
            </a:solidFill>
            <a:prstDash val="solid"/>
          </a:ln>
        </p:spPr>
      </p:sp>
      <p:sp>
        <p:nvSpPr>
          <p:cNvPr id="16" name="Shape 14"/>
          <p:cNvSpPr/>
          <p:nvPr/>
        </p:nvSpPr>
        <p:spPr>
          <a:xfrm>
            <a:off x="365760" y="2615184"/>
            <a:ext cx="64008" cy="667512"/>
          </a:xfrm>
          <a:prstGeom prst="rect">
            <a:avLst/>
          </a:prstGeom>
          <a:solidFill>
            <a:srgbClr val="0D9488"/>
          </a:solidFill>
          <a:ln w="12700">
            <a:solidFill>
              <a:srgbClr val="0D9488"/>
            </a:solidFill>
            <a:prstDash val="solid"/>
          </a:ln>
        </p:spPr>
      </p:sp>
      <p:sp>
        <p:nvSpPr>
          <p:cNvPr id="17" name="Shape 15"/>
          <p:cNvSpPr/>
          <p:nvPr/>
        </p:nvSpPr>
        <p:spPr>
          <a:xfrm>
            <a:off x="548640" y="2779776"/>
            <a:ext cx="320040" cy="320040"/>
          </a:xfrm>
          <a:prstGeom prst="ellipse">
            <a:avLst/>
          </a:prstGeom>
          <a:solidFill>
            <a:srgbClr val="0D9488"/>
          </a:solidFill>
          <a:ln w="12700">
            <a:solidFill>
              <a:srgbClr val="0D9488"/>
            </a:solidFill>
            <a:prstDash val="solid"/>
          </a:ln>
        </p:spPr>
      </p:sp>
      <p:sp>
        <p:nvSpPr>
          <p:cNvPr id="18" name="Text 16"/>
          <p:cNvSpPr/>
          <p:nvPr/>
        </p:nvSpPr>
        <p:spPr>
          <a:xfrm>
            <a:off x="548640" y="2752344"/>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9" name="Text 17"/>
          <p:cNvSpPr/>
          <p:nvPr/>
        </p:nvSpPr>
        <p:spPr>
          <a:xfrm>
            <a:off x="1005840" y="2670048"/>
            <a:ext cx="7589520" cy="548640"/>
          </a:xfrm>
          <a:prstGeom prst="rect">
            <a:avLst/>
          </a:prstGeom>
          <a:noFill/>
          <a:ln/>
        </p:spPr>
        <p:txBody>
          <a:bodyPr wrap="square" lIns="0" tIns="0" rIns="0" bIns="0" rtlCol="0" anchor="ctr"/>
          <a:lstStyle/>
          <a:p>
            <a:pPr marL="0" indent="0">
              <a:buNone/>
            </a:pPr>
            <a:r>
              <a:rPr lang="en-US" sz="1200" dirty="0">
                <a:solidFill>
                  <a:srgbClr val="CBD5E1"/>
                </a:solidFill>
              </a:rPr>
              <a:t>Efflux pump score, gyrA, and parC mutations emerged as the most predictive features — biologically coherent with known fluoroquinolone resistance mechanisms</a:t>
            </a:r>
            <a:endParaRPr lang="en-US" sz="1200" dirty="0"/>
          </a:p>
        </p:txBody>
      </p:sp>
      <p:sp>
        <p:nvSpPr>
          <p:cNvPr id="20" name="Shape 18"/>
          <p:cNvSpPr/>
          <p:nvPr/>
        </p:nvSpPr>
        <p:spPr>
          <a:xfrm>
            <a:off x="365760" y="3410712"/>
            <a:ext cx="8412480" cy="667512"/>
          </a:xfrm>
          <a:prstGeom prst="rect">
            <a:avLst/>
          </a:prstGeom>
          <a:solidFill>
            <a:srgbClr val="0D1F35"/>
          </a:solidFill>
          <a:ln w="12700">
            <a:solidFill>
              <a:srgbClr val="1E3A5F"/>
            </a:solidFill>
            <a:prstDash val="solid"/>
          </a:ln>
        </p:spPr>
      </p:sp>
      <p:sp>
        <p:nvSpPr>
          <p:cNvPr id="21" name="Shape 19"/>
          <p:cNvSpPr/>
          <p:nvPr/>
        </p:nvSpPr>
        <p:spPr>
          <a:xfrm>
            <a:off x="365760" y="3410712"/>
            <a:ext cx="64008" cy="667512"/>
          </a:xfrm>
          <a:prstGeom prst="rect">
            <a:avLst/>
          </a:prstGeom>
          <a:solidFill>
            <a:srgbClr val="0D9488"/>
          </a:solidFill>
          <a:ln w="12700">
            <a:solidFill>
              <a:srgbClr val="0D9488"/>
            </a:solidFill>
            <a:prstDash val="solid"/>
          </a:ln>
        </p:spPr>
      </p:sp>
      <p:sp>
        <p:nvSpPr>
          <p:cNvPr id="22" name="Shape 20"/>
          <p:cNvSpPr/>
          <p:nvPr/>
        </p:nvSpPr>
        <p:spPr>
          <a:xfrm>
            <a:off x="548640" y="3575304"/>
            <a:ext cx="320040" cy="320040"/>
          </a:xfrm>
          <a:prstGeom prst="ellipse">
            <a:avLst/>
          </a:prstGeom>
          <a:solidFill>
            <a:srgbClr val="0D9488"/>
          </a:solidFill>
          <a:ln w="12700">
            <a:solidFill>
              <a:srgbClr val="0D9488"/>
            </a:solidFill>
            <a:prstDash val="solid"/>
          </a:ln>
        </p:spPr>
      </p:sp>
      <p:sp>
        <p:nvSpPr>
          <p:cNvPr id="23" name="Text 21"/>
          <p:cNvSpPr/>
          <p:nvPr/>
        </p:nvSpPr>
        <p:spPr>
          <a:xfrm>
            <a:off x="548640" y="3547872"/>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4" name="Text 22"/>
          <p:cNvSpPr/>
          <p:nvPr/>
        </p:nvSpPr>
        <p:spPr>
          <a:xfrm>
            <a:off x="1005840" y="3465576"/>
            <a:ext cx="7589520" cy="548640"/>
          </a:xfrm>
          <a:prstGeom prst="rect">
            <a:avLst/>
          </a:prstGeom>
          <a:noFill/>
          <a:ln/>
        </p:spPr>
        <p:txBody>
          <a:bodyPr wrap="square" lIns="0" tIns="0" rIns="0" bIns="0" rtlCol="0" anchor="ctr"/>
          <a:lstStyle/>
          <a:p>
            <a:pPr marL="0" indent="0">
              <a:buNone/>
            </a:pPr>
            <a:r>
              <a:rPr lang="en-US" sz="1200" dirty="0">
                <a:solidFill>
                  <a:srgbClr val="CBD5E1"/>
                </a:solidFill>
              </a:rPr>
              <a:t>5-fold cross-validation confirmed model robustness and absence of overfitting across all four algorithms</a:t>
            </a:r>
            <a:endParaRPr lang="en-US" sz="1200" dirty="0"/>
          </a:p>
        </p:txBody>
      </p:sp>
      <p:sp>
        <p:nvSpPr>
          <p:cNvPr id="25" name="Shape 23"/>
          <p:cNvSpPr/>
          <p:nvPr/>
        </p:nvSpPr>
        <p:spPr>
          <a:xfrm>
            <a:off x="365760" y="4206240"/>
            <a:ext cx="8412480" cy="667512"/>
          </a:xfrm>
          <a:prstGeom prst="rect">
            <a:avLst/>
          </a:prstGeom>
          <a:solidFill>
            <a:srgbClr val="0D1F35"/>
          </a:solidFill>
          <a:ln w="12700">
            <a:solidFill>
              <a:srgbClr val="1E3A5F"/>
            </a:solidFill>
            <a:prstDash val="solid"/>
          </a:ln>
        </p:spPr>
      </p:sp>
      <p:sp>
        <p:nvSpPr>
          <p:cNvPr id="26" name="Shape 24"/>
          <p:cNvSpPr/>
          <p:nvPr/>
        </p:nvSpPr>
        <p:spPr>
          <a:xfrm>
            <a:off x="365760" y="4206240"/>
            <a:ext cx="64008" cy="667512"/>
          </a:xfrm>
          <a:prstGeom prst="rect">
            <a:avLst/>
          </a:prstGeom>
          <a:solidFill>
            <a:srgbClr val="0D9488"/>
          </a:solidFill>
          <a:ln w="12700">
            <a:solidFill>
              <a:srgbClr val="0D9488"/>
            </a:solidFill>
            <a:prstDash val="solid"/>
          </a:ln>
        </p:spPr>
      </p:sp>
      <p:sp>
        <p:nvSpPr>
          <p:cNvPr id="27" name="Shape 25"/>
          <p:cNvSpPr/>
          <p:nvPr/>
        </p:nvSpPr>
        <p:spPr>
          <a:xfrm>
            <a:off x="548640" y="4370832"/>
            <a:ext cx="320040" cy="320040"/>
          </a:xfrm>
          <a:prstGeom prst="ellipse">
            <a:avLst/>
          </a:prstGeom>
          <a:solidFill>
            <a:srgbClr val="0D9488"/>
          </a:solidFill>
          <a:ln w="12700">
            <a:solidFill>
              <a:srgbClr val="0D9488"/>
            </a:solidFill>
            <a:prstDash val="solid"/>
          </a:ln>
        </p:spPr>
      </p:sp>
      <p:sp>
        <p:nvSpPr>
          <p:cNvPr id="28" name="Text 26"/>
          <p:cNvSpPr/>
          <p:nvPr/>
        </p:nvSpPr>
        <p:spPr>
          <a:xfrm>
            <a:off x="548640" y="434340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29" name="Text 27"/>
          <p:cNvSpPr/>
          <p:nvPr/>
        </p:nvSpPr>
        <p:spPr>
          <a:xfrm>
            <a:off x="1005840" y="4261104"/>
            <a:ext cx="7589520" cy="548640"/>
          </a:xfrm>
          <a:prstGeom prst="rect">
            <a:avLst/>
          </a:prstGeom>
          <a:noFill/>
          <a:ln/>
        </p:spPr>
        <p:txBody>
          <a:bodyPr wrap="square" lIns="0" tIns="0" rIns="0" bIns="0" rtlCol="0" anchor="ctr"/>
          <a:lstStyle/>
          <a:p>
            <a:pPr marL="0" indent="0">
              <a:buNone/>
            </a:pPr>
            <a:r>
              <a:rPr lang="en-US" sz="1200" dirty="0">
                <a:solidFill>
                  <a:srgbClr val="CBD5E1"/>
                </a:solidFill>
              </a:rPr>
              <a:t>ML applied to genomic data represents a paradigm shift from 24–72h culture-based testing to rapid, accurate genomic resistance prediction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457200" y="320040"/>
            <a:ext cx="8229600" cy="502920"/>
          </a:xfrm>
          <a:prstGeom prst="rect">
            <a:avLst/>
          </a:prstGeom>
          <a:noFill/>
          <a:ln/>
        </p:spPr>
        <p:txBody>
          <a:bodyPr wrap="square" rtlCol="0" anchor="ctr"/>
          <a:lstStyle/>
          <a:p>
            <a:pPr marL="0" indent="0">
              <a:buNone/>
            </a:pPr>
            <a:r>
              <a:rPr lang="en-US" sz="3000" b="1" dirty="0">
                <a:solidFill>
                  <a:srgbClr val="FFFFFF"/>
                </a:solidFill>
              </a:rPr>
              <a:t>References</a:t>
            </a:r>
            <a:endParaRPr lang="en-US" sz="3000" dirty="0"/>
          </a:p>
        </p:txBody>
      </p:sp>
      <p:sp>
        <p:nvSpPr>
          <p:cNvPr id="4" name="Text 2"/>
          <p:cNvSpPr/>
          <p:nvPr/>
        </p:nvSpPr>
        <p:spPr>
          <a:xfrm>
            <a:off x="274320" y="1051560"/>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1.</a:t>
            </a:r>
            <a:endParaRPr lang="en-US" sz="1050" dirty="0"/>
          </a:p>
        </p:txBody>
      </p:sp>
      <p:sp>
        <p:nvSpPr>
          <p:cNvPr id="5" name="Text 3"/>
          <p:cNvSpPr/>
          <p:nvPr/>
        </p:nvSpPr>
        <p:spPr>
          <a:xfrm>
            <a:off x="594360" y="1051560"/>
            <a:ext cx="8229600" cy="347472"/>
          </a:xfrm>
          <a:prstGeom prst="rect">
            <a:avLst/>
          </a:prstGeom>
          <a:noFill/>
          <a:ln/>
        </p:spPr>
        <p:txBody>
          <a:bodyPr wrap="square" lIns="0" tIns="0" rIns="0" bIns="0" rtlCol="0" anchor="ctr"/>
          <a:lstStyle/>
          <a:p>
            <a:pPr marL="0" indent="0">
              <a:buNone/>
            </a:pPr>
            <a:r>
              <a:rPr lang="en-US" sz="1050" dirty="0">
                <a:solidFill>
                  <a:srgbClr val="475569"/>
                </a:solidFill>
              </a:rPr>
              <a:t>WHO. (2022). Global Antimicrobial Resistance and Use Surveillance System (GLASS) Report 2022.</a:t>
            </a:r>
            <a:endParaRPr lang="en-US" sz="1050" dirty="0"/>
          </a:p>
        </p:txBody>
      </p:sp>
      <p:sp>
        <p:nvSpPr>
          <p:cNvPr id="6" name="Text 4"/>
          <p:cNvSpPr/>
          <p:nvPr/>
        </p:nvSpPr>
        <p:spPr>
          <a:xfrm>
            <a:off x="274320" y="1435608"/>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2.</a:t>
            </a:r>
            <a:endParaRPr lang="en-US" sz="1050" dirty="0"/>
          </a:p>
        </p:txBody>
      </p:sp>
      <p:sp>
        <p:nvSpPr>
          <p:cNvPr id="7" name="Text 5"/>
          <p:cNvSpPr/>
          <p:nvPr/>
        </p:nvSpPr>
        <p:spPr>
          <a:xfrm>
            <a:off x="594360" y="1435608"/>
            <a:ext cx="8229600" cy="347472"/>
          </a:xfrm>
          <a:prstGeom prst="rect">
            <a:avLst/>
          </a:prstGeom>
          <a:noFill/>
          <a:ln/>
        </p:spPr>
        <p:txBody>
          <a:bodyPr wrap="square" lIns="0" tIns="0" rIns="0" bIns="0" rtlCol="0" anchor="ctr"/>
          <a:lstStyle/>
          <a:p>
            <a:pPr marL="0" indent="0">
              <a:buNone/>
            </a:pPr>
            <a:r>
              <a:rPr lang="en-US" sz="1050" dirty="0">
                <a:solidFill>
                  <a:srgbClr val="475569"/>
                </a:solidFill>
              </a:rPr>
              <a:t>Murray, C.J.L., et al. (2022). Global burden of bacterial AMR in 2019: A systematic analysis. The Lancet, 399, 629–655.</a:t>
            </a:r>
            <a:endParaRPr lang="en-US" sz="1050" dirty="0"/>
          </a:p>
        </p:txBody>
      </p:sp>
      <p:sp>
        <p:nvSpPr>
          <p:cNvPr id="8" name="Text 6"/>
          <p:cNvSpPr/>
          <p:nvPr/>
        </p:nvSpPr>
        <p:spPr>
          <a:xfrm>
            <a:off x="274320" y="1819656"/>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3.</a:t>
            </a:r>
            <a:endParaRPr lang="en-US" sz="1050" dirty="0"/>
          </a:p>
        </p:txBody>
      </p:sp>
      <p:sp>
        <p:nvSpPr>
          <p:cNvPr id="9" name="Text 7"/>
          <p:cNvSpPr/>
          <p:nvPr/>
        </p:nvSpPr>
        <p:spPr>
          <a:xfrm>
            <a:off x="594360" y="1819656"/>
            <a:ext cx="8229600" cy="347472"/>
          </a:xfrm>
          <a:prstGeom prst="rect">
            <a:avLst/>
          </a:prstGeom>
          <a:noFill/>
          <a:ln/>
        </p:spPr>
        <p:txBody>
          <a:bodyPr wrap="square" lIns="0" tIns="0" rIns="0" bIns="0" rtlCol="0" anchor="ctr"/>
          <a:lstStyle/>
          <a:p>
            <a:pPr marL="0" indent="0">
              <a:buNone/>
            </a:pPr>
            <a:r>
              <a:rPr lang="en-US" sz="1050" dirty="0">
                <a:solidFill>
                  <a:srgbClr val="475569"/>
                </a:solidFill>
              </a:rPr>
              <a:t>Drouin, M., et al. (2016). Informative feature extraction for antibiotic resistance prediction from WGS data. Bioinformatics.</a:t>
            </a:r>
            <a:endParaRPr lang="en-US" sz="1050" dirty="0"/>
          </a:p>
        </p:txBody>
      </p:sp>
      <p:sp>
        <p:nvSpPr>
          <p:cNvPr id="10" name="Text 8"/>
          <p:cNvSpPr/>
          <p:nvPr/>
        </p:nvSpPr>
        <p:spPr>
          <a:xfrm>
            <a:off x="274320" y="2203704"/>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4.</a:t>
            </a:r>
            <a:endParaRPr lang="en-US" sz="1050" dirty="0"/>
          </a:p>
        </p:txBody>
      </p:sp>
      <p:sp>
        <p:nvSpPr>
          <p:cNvPr id="11" name="Text 9"/>
          <p:cNvSpPr/>
          <p:nvPr/>
        </p:nvSpPr>
        <p:spPr>
          <a:xfrm>
            <a:off x="594360" y="2203704"/>
            <a:ext cx="8229600" cy="347472"/>
          </a:xfrm>
          <a:prstGeom prst="rect">
            <a:avLst/>
          </a:prstGeom>
          <a:noFill/>
          <a:ln/>
        </p:spPr>
        <p:txBody>
          <a:bodyPr wrap="square" lIns="0" tIns="0" rIns="0" bIns="0" rtlCol="0" anchor="ctr"/>
          <a:lstStyle/>
          <a:p>
            <a:pPr marL="0" indent="0">
              <a:buNone/>
            </a:pPr>
            <a:r>
              <a:rPr lang="en-US" sz="1050" dirty="0">
                <a:solidFill>
                  <a:srgbClr val="475569"/>
                </a:solidFill>
              </a:rPr>
              <a:t>Breiman, L. (2001). Random Forests. Machine Learning, 45(1), 5–32.</a:t>
            </a:r>
            <a:endParaRPr lang="en-US" sz="1050" dirty="0"/>
          </a:p>
        </p:txBody>
      </p:sp>
      <p:sp>
        <p:nvSpPr>
          <p:cNvPr id="12" name="Text 10"/>
          <p:cNvSpPr/>
          <p:nvPr/>
        </p:nvSpPr>
        <p:spPr>
          <a:xfrm>
            <a:off x="274320" y="2587752"/>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5.</a:t>
            </a:r>
            <a:endParaRPr lang="en-US" sz="1050" dirty="0"/>
          </a:p>
        </p:txBody>
      </p:sp>
      <p:sp>
        <p:nvSpPr>
          <p:cNvPr id="13" name="Text 11"/>
          <p:cNvSpPr/>
          <p:nvPr/>
        </p:nvSpPr>
        <p:spPr>
          <a:xfrm>
            <a:off x="594360" y="2587752"/>
            <a:ext cx="8229600" cy="347472"/>
          </a:xfrm>
          <a:prstGeom prst="rect">
            <a:avLst/>
          </a:prstGeom>
          <a:noFill/>
          <a:ln/>
        </p:spPr>
        <p:txBody>
          <a:bodyPr wrap="square" lIns="0" tIns="0" rIns="0" bIns="0" rtlCol="0" anchor="ctr"/>
          <a:lstStyle/>
          <a:p>
            <a:pPr marL="0" indent="0">
              <a:buNone/>
            </a:pPr>
            <a:r>
              <a:rPr lang="en-US" sz="1050" dirty="0">
                <a:solidFill>
                  <a:srgbClr val="475569"/>
                </a:solidFill>
              </a:rPr>
              <a:t>Moradigaravand, D., et al. (2018). Prediction of AMR in E. coli from large-scale pan-genome data. PLOS Comp. Biol.</a:t>
            </a:r>
            <a:endParaRPr lang="en-US" sz="1050" dirty="0"/>
          </a:p>
        </p:txBody>
      </p:sp>
      <p:sp>
        <p:nvSpPr>
          <p:cNvPr id="14" name="Text 12"/>
          <p:cNvSpPr/>
          <p:nvPr/>
        </p:nvSpPr>
        <p:spPr>
          <a:xfrm>
            <a:off x="274320" y="2971800"/>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6.</a:t>
            </a:r>
            <a:endParaRPr lang="en-US" sz="1050" dirty="0"/>
          </a:p>
        </p:txBody>
      </p:sp>
      <p:sp>
        <p:nvSpPr>
          <p:cNvPr id="15" name="Text 13"/>
          <p:cNvSpPr/>
          <p:nvPr/>
        </p:nvSpPr>
        <p:spPr>
          <a:xfrm>
            <a:off x="594360" y="2971800"/>
            <a:ext cx="8229600" cy="347472"/>
          </a:xfrm>
          <a:prstGeom prst="rect">
            <a:avLst/>
          </a:prstGeom>
          <a:noFill/>
          <a:ln/>
        </p:spPr>
        <p:txBody>
          <a:bodyPr wrap="square" lIns="0" tIns="0" rIns="0" bIns="0" rtlCol="0" anchor="ctr"/>
          <a:lstStyle/>
          <a:p>
            <a:pPr marL="0" indent="0">
              <a:buNone/>
            </a:pPr>
            <a:r>
              <a:rPr lang="en-US" sz="1050" dirty="0">
                <a:solidFill>
                  <a:srgbClr val="475569"/>
                </a:solidFill>
              </a:rPr>
              <a:t>McArthur, A.G., et al. (2013). The Comprehensive Antibiotic Resistance Database. Antimicrob. Agents Chemother., 57, 3348–3357.</a:t>
            </a:r>
            <a:endParaRPr lang="en-US" sz="1050" dirty="0"/>
          </a:p>
        </p:txBody>
      </p:sp>
      <p:sp>
        <p:nvSpPr>
          <p:cNvPr id="16" name="Text 14"/>
          <p:cNvSpPr/>
          <p:nvPr/>
        </p:nvSpPr>
        <p:spPr>
          <a:xfrm>
            <a:off x="274320" y="3355848"/>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7.</a:t>
            </a:r>
            <a:endParaRPr lang="en-US" sz="1050" dirty="0"/>
          </a:p>
        </p:txBody>
      </p:sp>
      <p:sp>
        <p:nvSpPr>
          <p:cNvPr id="17" name="Text 15"/>
          <p:cNvSpPr/>
          <p:nvPr/>
        </p:nvSpPr>
        <p:spPr>
          <a:xfrm>
            <a:off x="594360" y="3355848"/>
            <a:ext cx="8229600" cy="347472"/>
          </a:xfrm>
          <a:prstGeom prst="rect">
            <a:avLst/>
          </a:prstGeom>
          <a:noFill/>
          <a:ln/>
        </p:spPr>
        <p:txBody>
          <a:bodyPr wrap="square" lIns="0" tIns="0" rIns="0" bIns="0" rtlCol="0" anchor="ctr"/>
          <a:lstStyle/>
          <a:p>
            <a:pPr marL="0" indent="0">
              <a:buNone/>
            </a:pPr>
            <a:r>
              <a:rPr lang="en-US" sz="1050" dirty="0">
                <a:solidFill>
                  <a:srgbClr val="475569"/>
                </a:solidFill>
              </a:rPr>
              <a:t>Moran, R.A., et al. (2022). ML for prediction of AMR: Systematic review and meta-analysis. J. Infection, 84, 524–535.</a:t>
            </a:r>
            <a:endParaRPr lang="en-US" sz="1050" dirty="0"/>
          </a:p>
        </p:txBody>
      </p:sp>
      <p:sp>
        <p:nvSpPr>
          <p:cNvPr id="18" name="Text 16"/>
          <p:cNvSpPr/>
          <p:nvPr/>
        </p:nvSpPr>
        <p:spPr>
          <a:xfrm>
            <a:off x="274320" y="3739896"/>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8.</a:t>
            </a:r>
            <a:endParaRPr lang="en-US" sz="1050" dirty="0"/>
          </a:p>
        </p:txBody>
      </p:sp>
      <p:sp>
        <p:nvSpPr>
          <p:cNvPr id="19" name="Text 17"/>
          <p:cNvSpPr/>
          <p:nvPr/>
        </p:nvSpPr>
        <p:spPr>
          <a:xfrm>
            <a:off x="594360" y="3739896"/>
            <a:ext cx="8229600" cy="347472"/>
          </a:xfrm>
          <a:prstGeom prst="rect">
            <a:avLst/>
          </a:prstGeom>
          <a:noFill/>
          <a:ln/>
        </p:spPr>
        <p:txBody>
          <a:bodyPr wrap="square" lIns="0" tIns="0" rIns="0" bIns="0" rtlCol="0" anchor="ctr"/>
          <a:lstStyle/>
          <a:p>
            <a:pPr marL="0" indent="0">
              <a:buNone/>
            </a:pPr>
            <a:r>
              <a:rPr lang="en-US" sz="1050" dirty="0">
                <a:solidFill>
                  <a:srgbClr val="475569"/>
                </a:solidFill>
              </a:rPr>
              <a:t>Feldgarden, M., et al. (2021). AMRFinderPlus and the Reference Gene Catalog. Scientific Reports, 11, 16285.</a:t>
            </a:r>
            <a:endParaRPr lang="en-US" sz="1050" dirty="0"/>
          </a:p>
        </p:txBody>
      </p:sp>
      <p:sp>
        <p:nvSpPr>
          <p:cNvPr id="20" name="Text 18"/>
          <p:cNvSpPr/>
          <p:nvPr/>
        </p:nvSpPr>
        <p:spPr>
          <a:xfrm>
            <a:off x="274320" y="4123944"/>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9.</a:t>
            </a:r>
            <a:endParaRPr lang="en-US" sz="1050" dirty="0"/>
          </a:p>
        </p:txBody>
      </p:sp>
      <p:sp>
        <p:nvSpPr>
          <p:cNvPr id="21" name="Text 19"/>
          <p:cNvSpPr/>
          <p:nvPr/>
        </p:nvSpPr>
        <p:spPr>
          <a:xfrm>
            <a:off x="594360" y="4123944"/>
            <a:ext cx="8229600" cy="347472"/>
          </a:xfrm>
          <a:prstGeom prst="rect">
            <a:avLst/>
          </a:prstGeom>
          <a:noFill/>
          <a:ln/>
        </p:spPr>
        <p:txBody>
          <a:bodyPr wrap="square" lIns="0" tIns="0" rIns="0" bIns="0" rtlCol="0" anchor="ctr"/>
          <a:lstStyle/>
          <a:p>
            <a:pPr marL="0" indent="0">
              <a:buNone/>
            </a:pPr>
            <a:r>
              <a:rPr lang="en-US" sz="1050" dirty="0">
                <a:solidFill>
                  <a:srgbClr val="475569"/>
                </a:solidFill>
              </a:rPr>
              <a:t>Lundberg, S.M., &amp; Lee, S.I. (2017). A unified approach to interpreting model predictions. NeurIPS, 30.</a:t>
            </a:r>
            <a:endParaRPr lang="en-US" sz="1050" dirty="0"/>
          </a:p>
        </p:txBody>
      </p:sp>
      <p:sp>
        <p:nvSpPr>
          <p:cNvPr id="22" name="Text 20"/>
          <p:cNvSpPr/>
          <p:nvPr/>
        </p:nvSpPr>
        <p:spPr>
          <a:xfrm>
            <a:off x="274320" y="4507992"/>
            <a:ext cx="274320" cy="347472"/>
          </a:xfrm>
          <a:prstGeom prst="rect">
            <a:avLst/>
          </a:prstGeom>
          <a:noFill/>
          <a:ln/>
        </p:spPr>
        <p:txBody>
          <a:bodyPr wrap="square" lIns="0" tIns="0" rIns="0" bIns="0" rtlCol="0" anchor="ctr"/>
          <a:lstStyle/>
          <a:p>
            <a:pPr marL="0" indent="0">
              <a:buNone/>
            </a:pPr>
            <a:r>
              <a:rPr lang="en-US" sz="1050" b="1" dirty="0">
                <a:solidFill>
                  <a:srgbClr val="0D9488"/>
                </a:solidFill>
              </a:rPr>
              <a:t>10.</a:t>
            </a:r>
            <a:endParaRPr lang="en-US" sz="1050" dirty="0"/>
          </a:p>
        </p:txBody>
      </p:sp>
      <p:sp>
        <p:nvSpPr>
          <p:cNvPr id="23" name="Text 21"/>
          <p:cNvSpPr/>
          <p:nvPr/>
        </p:nvSpPr>
        <p:spPr>
          <a:xfrm>
            <a:off x="594360" y="4507992"/>
            <a:ext cx="8229600" cy="347472"/>
          </a:xfrm>
          <a:prstGeom prst="rect">
            <a:avLst/>
          </a:prstGeom>
          <a:noFill/>
          <a:ln/>
        </p:spPr>
        <p:txBody>
          <a:bodyPr wrap="square" lIns="0" tIns="0" rIns="0" bIns="0" rtlCol="0" anchor="ctr"/>
          <a:lstStyle/>
          <a:p>
            <a:pPr marL="0" indent="0">
              <a:buNone/>
            </a:pPr>
            <a:r>
              <a:rPr lang="en-US" sz="1050" dirty="0">
                <a:solidFill>
                  <a:srgbClr val="475569"/>
                </a:solidFill>
              </a:rPr>
              <a:t>O'Neill, J. (2016). Tackling drug-resistant infections globally: Final report. Review on Antimicrobial Resistance.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5070348"/>
            <a:ext cx="9144000" cy="73152"/>
          </a:xfrm>
          <a:prstGeom prst="rect">
            <a:avLst/>
          </a:prstGeom>
          <a:solidFill>
            <a:srgbClr val="0D9488"/>
          </a:solidFill>
          <a:ln w="12700">
            <a:solidFill>
              <a:srgbClr val="0D9488"/>
            </a:solidFill>
            <a:prstDash val="solid"/>
          </a:ln>
        </p:spPr>
      </p:sp>
      <p:sp>
        <p:nvSpPr>
          <p:cNvPr id="4" name="Shape 2"/>
          <p:cNvSpPr/>
          <p:nvPr/>
        </p:nvSpPr>
        <p:spPr>
          <a:xfrm>
            <a:off x="5486400" y="457200"/>
            <a:ext cx="2286000" cy="2286000"/>
          </a:xfrm>
          <a:prstGeom prst="ellipse">
            <a:avLst/>
          </a:prstGeom>
          <a:solidFill>
            <a:srgbClr val="0D9488">
              <a:alpha val="12000"/>
            </a:srgbClr>
          </a:solidFill>
          <a:ln w="12700">
            <a:solidFill>
              <a:srgbClr val="0D9488">
                <a:alpha val="30000"/>
              </a:srgbClr>
            </a:solidFill>
            <a:prstDash val="solid"/>
          </a:ln>
        </p:spPr>
      </p:sp>
      <p:sp>
        <p:nvSpPr>
          <p:cNvPr id="5" name="Shape 3"/>
          <p:cNvSpPr/>
          <p:nvPr/>
        </p:nvSpPr>
        <p:spPr>
          <a:xfrm>
            <a:off x="6217920" y="1097280"/>
            <a:ext cx="2286000" cy="2286000"/>
          </a:xfrm>
          <a:prstGeom prst="ellipse">
            <a:avLst/>
          </a:prstGeom>
          <a:solidFill>
            <a:srgbClr val="0D9488">
              <a:alpha val="12000"/>
            </a:srgbClr>
          </a:solidFill>
          <a:ln w="12700">
            <a:solidFill>
              <a:srgbClr val="0D9488">
                <a:alpha val="30000"/>
              </a:srgbClr>
            </a:solidFill>
            <a:prstDash val="solid"/>
          </a:ln>
        </p:spPr>
      </p:sp>
      <p:sp>
        <p:nvSpPr>
          <p:cNvPr id="6" name="Shape 4"/>
          <p:cNvSpPr/>
          <p:nvPr/>
        </p:nvSpPr>
        <p:spPr>
          <a:xfrm>
            <a:off x="6949440" y="1737360"/>
            <a:ext cx="2286000" cy="2286000"/>
          </a:xfrm>
          <a:prstGeom prst="ellipse">
            <a:avLst/>
          </a:prstGeom>
          <a:solidFill>
            <a:srgbClr val="0D9488">
              <a:alpha val="12000"/>
            </a:srgbClr>
          </a:solidFill>
          <a:ln w="12700">
            <a:solidFill>
              <a:srgbClr val="0D9488">
                <a:alpha val="30000"/>
              </a:srgbClr>
            </a:solidFill>
            <a:prstDash val="solid"/>
          </a:ln>
        </p:spPr>
      </p:sp>
      <p:sp>
        <p:nvSpPr>
          <p:cNvPr id="7" name="Shape 5"/>
          <p:cNvSpPr/>
          <p:nvPr/>
        </p:nvSpPr>
        <p:spPr>
          <a:xfrm>
            <a:off x="7680960" y="2377440"/>
            <a:ext cx="2286000" cy="2286000"/>
          </a:xfrm>
          <a:prstGeom prst="ellipse">
            <a:avLst/>
          </a:prstGeom>
          <a:solidFill>
            <a:srgbClr val="0D9488">
              <a:alpha val="12000"/>
            </a:srgbClr>
          </a:solidFill>
          <a:ln w="12700">
            <a:solidFill>
              <a:srgbClr val="0D9488">
                <a:alpha val="30000"/>
              </a:srgbClr>
            </a:solidFill>
            <a:prstDash val="solid"/>
          </a:ln>
        </p:spPr>
      </p:sp>
      <p:sp>
        <p:nvSpPr>
          <p:cNvPr id="8" name="Shape 6"/>
          <p:cNvSpPr/>
          <p:nvPr/>
        </p:nvSpPr>
        <p:spPr>
          <a:xfrm>
            <a:off x="8412480" y="3017520"/>
            <a:ext cx="2286000" cy="2286000"/>
          </a:xfrm>
          <a:prstGeom prst="ellipse">
            <a:avLst/>
          </a:prstGeom>
          <a:solidFill>
            <a:srgbClr val="0D9488">
              <a:alpha val="12000"/>
            </a:srgbClr>
          </a:solidFill>
          <a:ln w="12700">
            <a:solidFill>
              <a:srgbClr val="0D9488">
                <a:alpha val="30000"/>
              </a:srgbClr>
            </a:solidFill>
            <a:prstDash val="solid"/>
          </a:ln>
        </p:spPr>
      </p:sp>
      <p:sp>
        <p:nvSpPr>
          <p:cNvPr id="9" name="Text 7"/>
          <p:cNvSpPr/>
          <p:nvPr/>
        </p:nvSpPr>
        <p:spPr>
          <a:xfrm>
            <a:off x="457200" y="1097280"/>
            <a:ext cx="8229600" cy="1097280"/>
          </a:xfrm>
          <a:prstGeom prst="rect">
            <a:avLst/>
          </a:prstGeom>
          <a:noFill/>
          <a:ln/>
        </p:spPr>
        <p:txBody>
          <a:bodyPr wrap="square" rtlCol="0" anchor="ctr"/>
          <a:lstStyle/>
          <a:p>
            <a:pPr marL="0" indent="0" algn="l">
              <a:buNone/>
            </a:pPr>
            <a:r>
              <a:rPr lang="en-US" sz="6000" b="1" dirty="0">
                <a:solidFill>
                  <a:srgbClr val="FFFFFF"/>
                </a:solidFill>
              </a:rPr>
              <a:t>Thank You</a:t>
            </a:r>
            <a:endParaRPr lang="en-US" sz="6000" dirty="0"/>
          </a:p>
        </p:txBody>
      </p:sp>
      <p:sp>
        <p:nvSpPr>
          <p:cNvPr id="10" name="Shape 8"/>
          <p:cNvSpPr/>
          <p:nvPr/>
        </p:nvSpPr>
        <p:spPr>
          <a:xfrm>
            <a:off x="457200" y="2240280"/>
            <a:ext cx="2743200" cy="54864"/>
          </a:xfrm>
          <a:prstGeom prst="rect">
            <a:avLst/>
          </a:prstGeom>
          <a:solidFill>
            <a:srgbClr val="0D9488"/>
          </a:solidFill>
          <a:ln w="12700">
            <a:solidFill>
              <a:srgbClr val="0D9488"/>
            </a:solidFill>
            <a:prstDash val="solid"/>
          </a:ln>
        </p:spPr>
      </p:sp>
      <p:sp>
        <p:nvSpPr>
          <p:cNvPr id="11" name="Text 9"/>
          <p:cNvSpPr/>
          <p:nvPr/>
        </p:nvSpPr>
        <p:spPr>
          <a:xfrm>
            <a:off x="457200" y="2423160"/>
            <a:ext cx="7315200" cy="822960"/>
          </a:xfrm>
          <a:prstGeom prst="rect">
            <a:avLst/>
          </a:prstGeom>
          <a:noFill/>
          <a:ln/>
        </p:spPr>
        <p:txBody>
          <a:bodyPr wrap="square" rtlCol="0" anchor="ctr"/>
          <a:lstStyle/>
          <a:p>
            <a:pPr marL="0" indent="0" algn="l">
              <a:buNone/>
            </a:pPr>
            <a:r>
              <a:rPr lang="en-US" sz="1600" dirty="0">
                <a:solidFill>
                  <a:srgbClr val="5EEAD4"/>
                </a:solidFill>
              </a:rPr>
              <a:t>Prediction of Antimicrobial Resistance (AMR)</a:t>
            </a:r>
            <a:endParaRPr lang="en-US" sz="1600" dirty="0"/>
          </a:p>
          <a:p>
            <a:pPr marL="0" indent="0" algn="l">
              <a:buNone/>
            </a:pPr>
            <a:r>
              <a:rPr lang="en-US" sz="1600" dirty="0">
                <a:solidFill>
                  <a:srgbClr val="5EEAD4"/>
                </a:solidFill>
              </a:rPr>
              <a:t>in Bacterial Pathogens Using Machine Learning</a:t>
            </a:r>
            <a:endParaRPr lang="en-US" sz="1600" dirty="0"/>
          </a:p>
        </p:txBody>
      </p:sp>
      <p:sp>
        <p:nvSpPr>
          <p:cNvPr id="12" name="Text 10"/>
          <p:cNvSpPr/>
          <p:nvPr/>
        </p:nvSpPr>
        <p:spPr>
          <a:xfrm>
            <a:off x="457200" y="3383280"/>
            <a:ext cx="7315200" cy="731520"/>
          </a:xfrm>
          <a:prstGeom prst="rect">
            <a:avLst/>
          </a:prstGeom>
          <a:noFill/>
          <a:ln/>
        </p:spPr>
        <p:txBody>
          <a:bodyPr wrap="square" rtlCol="0" anchor="ctr"/>
          <a:lstStyle/>
          <a:p>
            <a:pPr marL="0" indent="0" algn="l">
              <a:buNone/>
            </a:pPr>
            <a:r>
              <a:rPr lang="en-US" sz="1300" dirty="0" smtClean="0">
                <a:solidFill>
                  <a:srgbClr val="94A3B8"/>
                </a:solidFill>
              </a:rPr>
              <a:t>Biotechnology </a:t>
            </a:r>
            <a:r>
              <a:rPr lang="en-US" sz="1300" dirty="0">
                <a:solidFill>
                  <a:srgbClr val="94A3B8"/>
                </a:solidFill>
              </a:rPr>
              <a:t>— 4th Year  |  Academic Year: 2025–2026
</a:t>
            </a:r>
            <a:r>
              <a:rPr lang="en-US" sz="1300" dirty="0">
                <a:solidFill>
                  <a:srgbClr val="64748B"/>
                </a:solidFill>
              </a:rPr>
              <a:t>Department of Biotechnology</a:t>
            </a:r>
            <a:endParaRPr lang="en-US" sz="1300" dirty="0"/>
          </a:p>
        </p:txBody>
      </p:sp>
      <p:sp>
        <p:nvSpPr>
          <p:cNvPr id="13" name="Text 11"/>
          <p:cNvSpPr/>
          <p:nvPr/>
        </p:nvSpPr>
        <p:spPr>
          <a:xfrm>
            <a:off x="457200" y="4251960"/>
            <a:ext cx="8229600" cy="502920"/>
          </a:xfrm>
          <a:prstGeom prst="rect">
            <a:avLst/>
          </a:prstGeom>
          <a:noFill/>
          <a:ln/>
        </p:spPr>
        <p:txBody>
          <a:bodyPr wrap="square" rtlCol="0" anchor="ctr"/>
          <a:lstStyle/>
          <a:p>
            <a:pPr marL="0" indent="0" algn="l">
              <a:buNone/>
            </a:pPr>
            <a:r>
              <a:rPr lang="en-US" sz="1800" b="1" i="1" dirty="0">
                <a:solidFill>
                  <a:srgbClr val="0D9488"/>
                </a:solidFill>
              </a:rPr>
              <a:t>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1707</Words>
  <Application>Microsoft Office PowerPoint</Application>
  <PresentationFormat>On-screen Show (16:9)</PresentationFormat>
  <Paragraphs>308</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AMR Prediction using Machine Learning</dc:title>
  <dc:subject>PptxGenJS Presentation</dc:subject>
  <dc:creator>PptxGenJS</dc:creator>
  <cp:lastModifiedBy>CyberTECH</cp:lastModifiedBy>
  <cp:revision>4</cp:revision>
  <dcterms:created xsi:type="dcterms:W3CDTF">2026-04-16T17:00:36Z</dcterms:created>
  <dcterms:modified xsi:type="dcterms:W3CDTF">2026-04-16T17:33:44Z</dcterms:modified>
</cp:coreProperties>
</file>